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EDB"/>
    <a:srgbClr val="ACEA9B"/>
    <a:srgbClr val="DEEFDB"/>
    <a:srgbClr val="F783A3"/>
    <a:srgbClr val="E5FCE4"/>
    <a:srgbClr val="005A82"/>
    <a:srgbClr val="239191"/>
    <a:srgbClr val="008AC6"/>
    <a:srgbClr val="EFEFEF"/>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55" autoAdjust="0"/>
    <p:restoredTop sz="84966" autoAdjust="0"/>
  </p:normalViewPr>
  <p:slideViewPr>
    <p:cSldViewPr snapToGrid="0" snapToObjects="1">
      <p:cViewPr varScale="1">
        <p:scale>
          <a:sx n="108" d="100"/>
          <a:sy n="108" d="100"/>
        </p:scale>
        <p:origin x="1392" y="184"/>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9.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7.emf"/><Relationship Id="rId5" Type="http://schemas.openxmlformats.org/officeDocument/2006/relationships/tags" Target="../tags/tag16.xml"/><Relationship Id="rId10" Type="http://schemas.openxmlformats.org/officeDocument/2006/relationships/oleObject" Target="../embeddings/oleObject4.bin"/><Relationship Id="rId4" Type="http://schemas.openxmlformats.org/officeDocument/2006/relationships/tags" Target="../tags/tag15.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5.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emf"/><Relationship Id="rId5" Type="http://schemas.openxmlformats.org/officeDocument/2006/relationships/oleObject" Target="../embeddings/oleObject8.bin"/><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slideLayout" Target="../slideLayouts/slideLayout1.xml"/><Relationship Id="rId21" Type="http://schemas.openxmlformats.org/officeDocument/2006/relationships/image" Target="../media/image26.png"/><Relationship Id="rId7" Type="http://schemas.openxmlformats.org/officeDocument/2006/relationships/image" Target="../media/image12.jpeg"/><Relationship Id="rId12" Type="http://schemas.openxmlformats.org/officeDocument/2006/relationships/image" Target="../media/image17.png"/><Relationship Id="rId17" Type="http://schemas.openxmlformats.org/officeDocument/2006/relationships/image" Target="../media/image22.jpeg"/><Relationship Id="rId25" Type="http://schemas.openxmlformats.org/officeDocument/2006/relationships/image" Target="../media/image30.png"/><Relationship Id="rId2" Type="http://schemas.openxmlformats.org/officeDocument/2006/relationships/tags" Target="../tags/tag27.xml"/><Relationship Id="rId16" Type="http://schemas.openxmlformats.org/officeDocument/2006/relationships/image" Target="../media/image21.jpeg"/><Relationship Id="rId20" Type="http://schemas.openxmlformats.org/officeDocument/2006/relationships/image" Target="../media/image25.png"/><Relationship Id="rId1" Type="http://schemas.openxmlformats.org/officeDocument/2006/relationships/tags" Target="../tags/tag26.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oleObject" Target="../embeddings/oleObject9.bin"/><Relationship Id="rId15" Type="http://schemas.openxmlformats.org/officeDocument/2006/relationships/image" Target="../media/image20.jpeg"/><Relationship Id="rId23" Type="http://schemas.openxmlformats.org/officeDocument/2006/relationships/image" Target="../media/image28.png"/><Relationship Id="rId28" Type="http://schemas.openxmlformats.org/officeDocument/2006/relationships/image" Target="../media/image33.jpe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notesSlide" Target="../notesSlides/notesSlide7.xml"/><Relationship Id="rId9" Type="http://schemas.openxmlformats.org/officeDocument/2006/relationships/image" Target="../media/image14.jpe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hyperlink" Target="https://www.linkedin.com/in/patrick-wendell/" TargetMode="External"/><Relationship Id="rId3" Type="http://schemas.openxmlformats.org/officeDocument/2006/relationships/slideLayout" Target="../slideLayouts/slideLayout1.xml"/><Relationship Id="rId7" Type="http://schemas.openxmlformats.org/officeDocument/2006/relationships/image" Target="../media/image34.png"/><Relationship Id="rId12" Type="http://schemas.openxmlformats.org/officeDocument/2006/relationships/hyperlink" Target="https://www.linkedin.com/in/peterxkim/" TargetMode="External"/><Relationship Id="rId17" Type="http://schemas.openxmlformats.org/officeDocument/2006/relationships/image" Target="../media/image37.png"/><Relationship Id="rId2" Type="http://schemas.openxmlformats.org/officeDocument/2006/relationships/tags" Target="../tags/tag29.xml"/><Relationship Id="rId16" Type="http://schemas.openxmlformats.org/officeDocument/2006/relationships/hyperlink" Target="https://www.linkedin.com/in/sidharthmalik/?originalSubdomain=in" TargetMode="External"/><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hyperlink" Target="https://www.linkedin.com/in/gkarunak/" TargetMode="External"/><Relationship Id="rId5" Type="http://schemas.openxmlformats.org/officeDocument/2006/relationships/oleObject" Target="../embeddings/oleObject10.bin"/><Relationship Id="rId15" Type="http://schemas.openxmlformats.org/officeDocument/2006/relationships/hyperlink" Target="https://www.linkedin.com/in/bmacaitis/" TargetMode="External"/><Relationship Id="rId10" Type="http://schemas.openxmlformats.org/officeDocument/2006/relationships/hyperlink" Target="https://www.linkedin.com/in/gmirchandani/" TargetMode="External"/><Relationship Id="rId4" Type="http://schemas.openxmlformats.org/officeDocument/2006/relationships/notesSlide" Target="../notesSlides/notesSlide8.xml"/><Relationship Id="rId9" Type="http://schemas.openxmlformats.org/officeDocument/2006/relationships/image" Target="../media/image36.png"/><Relationship Id="rId14" Type="http://schemas.openxmlformats.org/officeDocument/2006/relationships/hyperlink" Target="https://www.linkedin.com/in/manojapte/"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8.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emf"/><Relationship Id="rId5" Type="http://schemas.openxmlformats.org/officeDocument/2006/relationships/oleObject" Target="../embeddings/oleObject11.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4.emf"/><Relationship Id="rId5" Type="http://schemas.openxmlformats.org/officeDocument/2006/relationships/oleObject" Target="../embeddings/oleObject12.bin"/><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rPr dirty="0"/>
              <a:t>Unbound AI </a:t>
            </a:r>
            <a:r>
              <a:rPr lang="en-US" dirty="0"/>
              <a:t>and WB Capital</a:t>
            </a:r>
            <a:endParaRPr dirty="0"/>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r>
              <a:rPr dirty="0">
                <a:solidFill>
                  <a:srgbClr val="3D3D3D"/>
                </a:solidFill>
              </a:rPr>
              <a:t>About Time Someone Built Intelligence into Enterprise AI Security</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Unbound integrates with Cursor, Cline, and Roo to selectively route requests to models so not every request goes through the most expensive model</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Over 55% of all prompts contain some form of Personally Identifiable Information, pushing enterprises out of compliance with PCI, SOX and HIPAA regulations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Even in 2024, over 1 in 4 organizations have banned all AI apps, keeping them off-limits to employees despite productivity benefits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Top LLM providers have uptimes ranging from 74-96%, requiring automatic error handling and redundancy for enterprise reliability</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80% Cost Savings on Coding Agents</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55% of Prompts Contain PII</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25% of Organizations Ban AI</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74-96% LLM Provider Uptime</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Unbound's AI Gateway platform provides real-time visibility, control, and protection for organizations deploying generative AI tools, enabling secure AI adoption without compromising productivity.</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Unbound's AI-Native Security</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46135" y="2562919"/>
            <a:ext cx="212056" cy="212056"/>
          </a:xfrm>
          <a:prstGeom prst="rect">
            <a:avLst/>
          </a:prstGeom>
        </p:spPr>
      </p:pic>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10" name="ee4pHeader3">
            <a:extLst>
              <a:ext uri="{FF2B5EF4-FFF2-40B4-BE49-F238E27FC236}">
                <a16:creationId xmlns:a16="http://schemas.microsoft.com/office/drawing/2014/main" id="{C37282AF-AF3C-9768-DE55-985B8D9ECDCB}"/>
              </a:ext>
            </a:extLst>
          </p:cNvPr>
          <p:cNvSpPr txBox="1"/>
          <p:nvPr>
            <p:custDataLst>
              <p:tags r:id="rId2"/>
            </p:custDataLst>
          </p:nvPr>
        </p:nvSpPr>
        <p:spPr>
          <a:xfrm>
            <a:off x="385703" y="1207317"/>
            <a:ext cx="3852000" cy="1218891"/>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AI Security Approaches</a:t>
            </a:r>
          </a:p>
        </p:txBody>
      </p:sp>
      <p:pic>
        <p:nvPicPr>
          <p:cNvPr id="11" name="Graphic 10" descr="Add outline">
            <a:extLst>
              <a:ext uri="{FF2B5EF4-FFF2-40B4-BE49-F238E27FC236}">
                <a16:creationId xmlns:a16="http://schemas.microsoft.com/office/drawing/2014/main" id="{894CC647-1ED2-038D-7137-90B58AAEC22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46135" y="4247428"/>
            <a:ext cx="212056" cy="212056"/>
          </a:xfrm>
          <a:prstGeom prst="rect">
            <a:avLst/>
          </a:prstGeom>
        </p:spPr>
      </p:pic>
      <p:sp>
        <p:nvSpPr>
          <p:cNvPr id="12" name="ee4pHeader3">
            <a:extLst>
              <a:ext uri="{FF2B5EF4-FFF2-40B4-BE49-F238E27FC236}">
                <a16:creationId xmlns:a16="http://schemas.microsoft.com/office/drawing/2014/main" id="{0955947E-789F-EC75-E75E-61E8AD07EFF8}"/>
              </a:ext>
            </a:extLst>
          </p:cNvPr>
          <p:cNvSpPr txBox="1"/>
          <p:nvPr>
            <p:custDataLst>
              <p:tags r:id="rId3"/>
            </p:custDataLst>
          </p:nvPr>
        </p:nvSpPr>
        <p:spPr>
          <a:xfrm>
            <a:off x="385703" y="2904678"/>
            <a:ext cx="3852000" cy="1218891"/>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sp>
        <p:nvSpPr>
          <p:cNvPr id="14" name="ee4pHeader3">
            <a:extLst>
              <a:ext uri="{FF2B5EF4-FFF2-40B4-BE49-F238E27FC236}">
                <a16:creationId xmlns:a16="http://schemas.microsoft.com/office/drawing/2014/main" id="{2C0E44F3-B2F8-E01E-D393-EB995E70109C}"/>
              </a:ext>
            </a:extLst>
          </p:cNvPr>
          <p:cNvSpPr txBox="1"/>
          <p:nvPr>
            <p:custDataLst>
              <p:tags r:id="rId4"/>
            </p:custDataLst>
          </p:nvPr>
        </p:nvSpPr>
        <p:spPr>
          <a:xfrm>
            <a:off x="385703" y="4602039"/>
            <a:ext cx="3852000" cy="1218891"/>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pic>
        <p:nvPicPr>
          <p:cNvPr id="15" name="Graphic 14" descr="Add outline">
            <a:extLst>
              <a:ext uri="{FF2B5EF4-FFF2-40B4-BE49-F238E27FC236}">
                <a16:creationId xmlns:a16="http://schemas.microsoft.com/office/drawing/2014/main" id="{CD61B459-E2BD-40CE-5BEA-57FB3FCC5F8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66730" y="2562919"/>
            <a:ext cx="212056" cy="212056"/>
          </a:xfrm>
          <a:prstGeom prst="rect">
            <a:avLst/>
          </a:prstGeom>
        </p:spPr>
      </p:pic>
      <p:sp>
        <p:nvSpPr>
          <p:cNvPr id="16" name="ee4pHeader3">
            <a:extLst>
              <a:ext uri="{FF2B5EF4-FFF2-40B4-BE49-F238E27FC236}">
                <a16:creationId xmlns:a16="http://schemas.microsoft.com/office/drawing/2014/main" id="{E2B233D3-9351-6658-DE42-AD4745206B5B}"/>
              </a:ext>
            </a:extLst>
          </p:cNvPr>
          <p:cNvSpPr txBox="1"/>
          <p:nvPr>
            <p:custDataLst>
              <p:tags r:id="rId5"/>
            </p:custDataLst>
          </p:nvPr>
        </p:nvSpPr>
        <p:spPr>
          <a:xfrm>
            <a:off x="4906298" y="1207317"/>
            <a:ext cx="3852000" cy="1218891"/>
          </a:xfrm>
          <a:prstGeom prst="rect">
            <a:avLst/>
          </a:prstGeom>
          <a:solidFill>
            <a:srgbClr val="DFEE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pic>
        <p:nvPicPr>
          <p:cNvPr id="17" name="Graphic 16" descr="Add outline">
            <a:extLst>
              <a:ext uri="{FF2B5EF4-FFF2-40B4-BE49-F238E27FC236}">
                <a16:creationId xmlns:a16="http://schemas.microsoft.com/office/drawing/2014/main" id="{720BFB91-098A-BD97-C651-502FF5E5478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66730" y="4247428"/>
            <a:ext cx="212056" cy="212056"/>
          </a:xfrm>
          <a:prstGeom prst="rect">
            <a:avLst/>
          </a:prstGeom>
        </p:spPr>
      </p:pic>
      <p:sp>
        <p:nvSpPr>
          <p:cNvPr id="19" name="ee4pHeader3">
            <a:extLst>
              <a:ext uri="{FF2B5EF4-FFF2-40B4-BE49-F238E27FC236}">
                <a16:creationId xmlns:a16="http://schemas.microsoft.com/office/drawing/2014/main" id="{022BCD06-2A22-3AE0-EEED-FB485D3A7FC5}"/>
              </a:ext>
            </a:extLst>
          </p:cNvPr>
          <p:cNvSpPr txBox="1"/>
          <p:nvPr>
            <p:custDataLst>
              <p:tags r:id="rId6"/>
            </p:custDataLst>
          </p:nvPr>
        </p:nvSpPr>
        <p:spPr>
          <a:xfrm>
            <a:off x="4906298" y="2904678"/>
            <a:ext cx="3852000" cy="1218891"/>
          </a:xfrm>
          <a:prstGeom prst="rect">
            <a:avLst/>
          </a:prstGeom>
          <a:solidFill>
            <a:srgbClr val="DFEE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sp>
        <p:nvSpPr>
          <p:cNvPr id="20" name="ee4pHeader3">
            <a:extLst>
              <a:ext uri="{FF2B5EF4-FFF2-40B4-BE49-F238E27FC236}">
                <a16:creationId xmlns:a16="http://schemas.microsoft.com/office/drawing/2014/main" id="{FEDA5B9B-6DB0-CCDB-4C46-348C868E6E80}"/>
              </a:ext>
            </a:extLst>
          </p:cNvPr>
          <p:cNvSpPr txBox="1"/>
          <p:nvPr>
            <p:custDataLst>
              <p:tags r:id="rId7"/>
            </p:custDataLst>
          </p:nvPr>
        </p:nvSpPr>
        <p:spPr>
          <a:xfrm>
            <a:off x="4906298" y="4602039"/>
            <a:ext cx="3852000" cy="1218891"/>
          </a:xfrm>
          <a:prstGeom prst="rect">
            <a:avLst/>
          </a:prstGeom>
          <a:solidFill>
            <a:srgbClr val="DFEE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dirty="0">
                <a:solidFill>
                  <a:srgbClr val="3D3D3D"/>
                </a:solidFill>
              </a:rPr>
              <a:t>Post-deployment scanning</a:t>
            </a:r>
            <a:r>
              <a:rPr lang="en-US" sz="1400" dirty="0">
                <a:solidFill>
                  <a:srgbClr val="3D3D3D"/>
                </a:solidFill>
              </a:rPr>
              <a:t> </a:t>
            </a:r>
            <a:endParaRPr sz="1400" dirty="0">
              <a:solidFill>
                <a:srgbClr val="3D3D3D"/>
              </a:solidFill>
            </a:endParaRPr>
          </a:p>
        </p:txBody>
      </p:sp>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Some Key Observations about Market Structure</a:t>
            </a:r>
          </a:p>
        </p:txBody>
      </p:sp>
      <p:sp>
        <p:nvSpPr>
          <p:cNvPr id="2" name="Rectangle 1">
            <a:extLst>
              <a:ext uri="{FF2B5EF4-FFF2-40B4-BE49-F238E27FC236}">
                <a16:creationId xmlns:a16="http://schemas.microsoft.com/office/drawing/2014/main" id="{52CB8441-CF0C-6C3D-0472-702865B9DAA9}"/>
              </a:ext>
            </a:extLst>
          </p:cNvPr>
          <p:cNvSpPr/>
          <p:nvPr/>
        </p:nvSpPr>
        <p:spPr>
          <a:xfrm>
            <a:off x="672731" y="1246256"/>
            <a:ext cx="3805929"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Memory Is Still A Huge Bottleneck</a:t>
            </a:r>
          </a:p>
        </p:txBody>
      </p:sp>
      <p:sp>
        <p:nvSpPr>
          <p:cNvPr id="3" name="Rectangle 2">
            <a:extLst>
              <a:ext uri="{FF2B5EF4-FFF2-40B4-BE49-F238E27FC236}">
                <a16:creationId xmlns:a16="http://schemas.microsoft.com/office/drawing/2014/main" id="{02ED0902-0E32-E6DC-CC59-F88ADCC40414}"/>
              </a:ext>
            </a:extLst>
          </p:cNvPr>
          <p:cNvSpPr/>
          <p:nvPr/>
        </p:nvSpPr>
        <p:spPr>
          <a:xfrm>
            <a:off x="4813815" y="1246256"/>
            <a:ext cx="3805929"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Energy Consumption</a:t>
            </a:r>
          </a:p>
        </p:txBody>
      </p:sp>
      <p:sp>
        <p:nvSpPr>
          <p:cNvPr id="4" name="Rectangle 3">
            <a:extLst>
              <a:ext uri="{FF2B5EF4-FFF2-40B4-BE49-F238E27FC236}">
                <a16:creationId xmlns:a16="http://schemas.microsoft.com/office/drawing/2014/main" id="{1576221F-9B91-B45A-D0EE-764E2D486CA9}"/>
              </a:ext>
            </a:extLst>
          </p:cNvPr>
          <p:cNvSpPr/>
          <p:nvPr/>
        </p:nvSpPr>
        <p:spPr>
          <a:xfrm>
            <a:off x="663845" y="3374136"/>
            <a:ext cx="3805929"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Profitability</a:t>
            </a:r>
          </a:p>
        </p:txBody>
      </p:sp>
      <p:sp>
        <p:nvSpPr>
          <p:cNvPr id="5" name="Rectangle 4">
            <a:extLst>
              <a:ext uri="{FF2B5EF4-FFF2-40B4-BE49-F238E27FC236}">
                <a16:creationId xmlns:a16="http://schemas.microsoft.com/office/drawing/2014/main" id="{C9F419E8-F1A7-1CCA-0FCF-23E4EA2D8304}"/>
              </a:ext>
            </a:extLst>
          </p:cNvPr>
          <p:cNvSpPr/>
          <p:nvPr/>
        </p:nvSpPr>
        <p:spPr>
          <a:xfrm>
            <a:off x="4813815" y="3383280"/>
            <a:ext cx="3805929"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Separation of Training and Inference</a:t>
            </a:r>
          </a:p>
        </p:txBody>
      </p:sp>
      <p:sp>
        <p:nvSpPr>
          <p:cNvPr id="7" name="Freeform: Shape 10">
            <a:extLst>
              <a:ext uri="{FF2B5EF4-FFF2-40B4-BE49-F238E27FC236}">
                <a16:creationId xmlns:a16="http://schemas.microsoft.com/office/drawing/2014/main" id="{A07EFB99-602B-95CB-CDF2-A4993502F1CD}"/>
              </a:ext>
            </a:extLst>
          </p:cNvPr>
          <p:cNvSpPr/>
          <p:nvPr/>
        </p:nvSpPr>
        <p:spPr>
          <a:xfrm>
            <a:off x="672731" y="1652749"/>
            <a:ext cx="3805929" cy="1652318"/>
          </a:xfrm>
          <a:custGeom>
            <a:avLst/>
            <a:gdLst>
              <a:gd name="connsiteX0" fmla="*/ 0 w 7722867"/>
              <a:gd name="connsiteY0" fmla="*/ 0 h 478240"/>
              <a:gd name="connsiteX1" fmla="*/ 7722867 w 7722867"/>
              <a:gd name="connsiteY1" fmla="*/ 0 h 478240"/>
              <a:gd name="connsiteX2" fmla="*/ 7722867 w 7722867"/>
              <a:gd name="connsiteY2" fmla="*/ 478240 h 478240"/>
              <a:gd name="connsiteX3" fmla="*/ 0 w 7722867"/>
              <a:gd name="connsiteY3" fmla="*/ 478240 h 478240"/>
              <a:gd name="connsiteX4" fmla="*/ 0 w 7722867"/>
              <a:gd name="connsiteY4" fmla="*/ 0 h 478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2867" h="478240">
                <a:moveTo>
                  <a:pt x="0" y="0"/>
                </a:moveTo>
                <a:lnTo>
                  <a:pt x="7722867" y="0"/>
                </a:lnTo>
                <a:lnTo>
                  <a:pt x="7722867" y="478240"/>
                </a:lnTo>
                <a:lnTo>
                  <a:pt x="0" y="478240"/>
                </a:lnTo>
                <a:lnTo>
                  <a:pt x="0" y="0"/>
                </a:lnTo>
                <a:close/>
              </a:path>
            </a:pathLst>
          </a:custGeom>
          <a:solidFill>
            <a:srgbClr val="D9D9D9"/>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US" sz="1200" kern="1200" dirty="0"/>
          </a:p>
        </p:txBody>
      </p:sp>
      <p:sp>
        <p:nvSpPr>
          <p:cNvPr id="9" name="Freeform: Shape 11">
            <a:extLst>
              <a:ext uri="{FF2B5EF4-FFF2-40B4-BE49-F238E27FC236}">
                <a16:creationId xmlns:a16="http://schemas.microsoft.com/office/drawing/2014/main" id="{5755D981-3D90-B709-ED99-03D6D8340CAF}"/>
              </a:ext>
            </a:extLst>
          </p:cNvPr>
          <p:cNvSpPr/>
          <p:nvPr/>
        </p:nvSpPr>
        <p:spPr>
          <a:xfrm>
            <a:off x="4813814" y="1634461"/>
            <a:ext cx="3805929" cy="1652318"/>
          </a:xfrm>
          <a:custGeom>
            <a:avLst/>
            <a:gdLst>
              <a:gd name="connsiteX0" fmla="*/ 0 w 7722867"/>
              <a:gd name="connsiteY0" fmla="*/ 0 h 478240"/>
              <a:gd name="connsiteX1" fmla="*/ 7722867 w 7722867"/>
              <a:gd name="connsiteY1" fmla="*/ 0 h 478240"/>
              <a:gd name="connsiteX2" fmla="*/ 7722867 w 7722867"/>
              <a:gd name="connsiteY2" fmla="*/ 478240 h 478240"/>
              <a:gd name="connsiteX3" fmla="*/ 0 w 7722867"/>
              <a:gd name="connsiteY3" fmla="*/ 478240 h 478240"/>
              <a:gd name="connsiteX4" fmla="*/ 0 w 7722867"/>
              <a:gd name="connsiteY4" fmla="*/ 0 h 478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2867" h="478240">
                <a:moveTo>
                  <a:pt x="0" y="0"/>
                </a:moveTo>
                <a:lnTo>
                  <a:pt x="7722867" y="0"/>
                </a:lnTo>
                <a:lnTo>
                  <a:pt x="7722867" y="478240"/>
                </a:lnTo>
                <a:lnTo>
                  <a:pt x="0" y="478240"/>
                </a:lnTo>
                <a:lnTo>
                  <a:pt x="0" y="0"/>
                </a:lnTo>
                <a:close/>
              </a:path>
            </a:pathLst>
          </a:custGeom>
          <a:solidFill>
            <a:srgbClr val="D9D9D9"/>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US" sz="1200" kern="1200" dirty="0"/>
          </a:p>
        </p:txBody>
      </p:sp>
      <p:sp>
        <p:nvSpPr>
          <p:cNvPr id="10" name="Freeform: Shape 12">
            <a:extLst>
              <a:ext uri="{FF2B5EF4-FFF2-40B4-BE49-F238E27FC236}">
                <a16:creationId xmlns:a16="http://schemas.microsoft.com/office/drawing/2014/main" id="{32507DE5-7C12-CA37-29D0-791F7649EA37}"/>
              </a:ext>
            </a:extLst>
          </p:cNvPr>
          <p:cNvSpPr/>
          <p:nvPr/>
        </p:nvSpPr>
        <p:spPr>
          <a:xfrm>
            <a:off x="672731" y="3798917"/>
            <a:ext cx="3797043" cy="1652318"/>
          </a:xfrm>
          <a:custGeom>
            <a:avLst/>
            <a:gdLst>
              <a:gd name="connsiteX0" fmla="*/ 0 w 7722867"/>
              <a:gd name="connsiteY0" fmla="*/ 0 h 478240"/>
              <a:gd name="connsiteX1" fmla="*/ 7722867 w 7722867"/>
              <a:gd name="connsiteY1" fmla="*/ 0 h 478240"/>
              <a:gd name="connsiteX2" fmla="*/ 7722867 w 7722867"/>
              <a:gd name="connsiteY2" fmla="*/ 478240 h 478240"/>
              <a:gd name="connsiteX3" fmla="*/ 0 w 7722867"/>
              <a:gd name="connsiteY3" fmla="*/ 478240 h 478240"/>
              <a:gd name="connsiteX4" fmla="*/ 0 w 7722867"/>
              <a:gd name="connsiteY4" fmla="*/ 0 h 478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2867" h="478240">
                <a:moveTo>
                  <a:pt x="0" y="0"/>
                </a:moveTo>
                <a:lnTo>
                  <a:pt x="7722867" y="0"/>
                </a:lnTo>
                <a:lnTo>
                  <a:pt x="7722867" y="478240"/>
                </a:lnTo>
                <a:lnTo>
                  <a:pt x="0" y="478240"/>
                </a:lnTo>
                <a:lnTo>
                  <a:pt x="0" y="0"/>
                </a:lnTo>
                <a:close/>
              </a:path>
            </a:pathLst>
          </a:custGeom>
          <a:solidFill>
            <a:srgbClr val="D9D9D9"/>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US" sz="1200" kern="1200" dirty="0"/>
          </a:p>
        </p:txBody>
      </p:sp>
      <p:sp>
        <p:nvSpPr>
          <p:cNvPr id="11" name="Freeform: Shape 13">
            <a:extLst>
              <a:ext uri="{FF2B5EF4-FFF2-40B4-BE49-F238E27FC236}">
                <a16:creationId xmlns:a16="http://schemas.microsoft.com/office/drawing/2014/main" id="{3E401A95-C5C1-4FF7-0741-77A6FE84C120}"/>
              </a:ext>
            </a:extLst>
          </p:cNvPr>
          <p:cNvSpPr/>
          <p:nvPr/>
        </p:nvSpPr>
        <p:spPr>
          <a:xfrm>
            <a:off x="4813815" y="3798917"/>
            <a:ext cx="3805929" cy="1652318"/>
          </a:xfrm>
          <a:custGeom>
            <a:avLst/>
            <a:gdLst>
              <a:gd name="connsiteX0" fmla="*/ 0 w 7722867"/>
              <a:gd name="connsiteY0" fmla="*/ 0 h 478240"/>
              <a:gd name="connsiteX1" fmla="*/ 7722867 w 7722867"/>
              <a:gd name="connsiteY1" fmla="*/ 0 h 478240"/>
              <a:gd name="connsiteX2" fmla="*/ 7722867 w 7722867"/>
              <a:gd name="connsiteY2" fmla="*/ 478240 h 478240"/>
              <a:gd name="connsiteX3" fmla="*/ 0 w 7722867"/>
              <a:gd name="connsiteY3" fmla="*/ 478240 h 478240"/>
              <a:gd name="connsiteX4" fmla="*/ 0 w 7722867"/>
              <a:gd name="connsiteY4" fmla="*/ 0 h 478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2867" h="478240">
                <a:moveTo>
                  <a:pt x="0" y="0"/>
                </a:moveTo>
                <a:lnTo>
                  <a:pt x="7722867" y="0"/>
                </a:lnTo>
                <a:lnTo>
                  <a:pt x="7722867" y="478240"/>
                </a:lnTo>
                <a:lnTo>
                  <a:pt x="0" y="478240"/>
                </a:lnTo>
                <a:lnTo>
                  <a:pt x="0" y="0"/>
                </a:lnTo>
                <a:close/>
              </a:path>
            </a:pathLst>
          </a:custGeom>
          <a:solidFill>
            <a:srgbClr val="D9D9D9"/>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US" sz="1200" kern="1200" dirty="0"/>
          </a:p>
        </p:txBody>
      </p:sp>
      <p:sp>
        <p:nvSpPr>
          <p:cNvPr id="12" name="TextBox 11">
            <a:extLst>
              <a:ext uri="{FF2B5EF4-FFF2-40B4-BE49-F238E27FC236}">
                <a16:creationId xmlns:a16="http://schemas.microsoft.com/office/drawing/2014/main" id="{ACB1171A-6E8A-1924-B006-43FA13A3E656}"/>
              </a:ext>
            </a:extLst>
          </p:cNvPr>
          <p:cNvSpPr txBox="1"/>
          <p:nvPr/>
        </p:nvSpPr>
        <p:spPr>
          <a:xfrm>
            <a:off x="4896782" y="1670537"/>
            <a:ext cx="3639992" cy="1569660"/>
          </a:xfrm>
          <a:prstGeom prst="rect">
            <a:avLst/>
          </a:prstGeom>
          <a:noFill/>
        </p:spPr>
        <p:txBody>
          <a:bodyPr wrap="square">
            <a:spAutoFit/>
          </a:bodyPr>
          <a:lstStyle/>
          <a:p>
            <a:pPr marL="0" marR="0" rtl="0">
              <a:spcBef>
                <a:spcPts val="0"/>
              </a:spcBef>
              <a:spcAft>
                <a:spcPts val="0"/>
              </a:spcAft>
            </a:pPr>
            <a:r>
              <a:rPr lang="en-US" sz="1200" dirty="0">
                <a:ea typeface="Roboto Medium" panose="02000000000000000000" pitchFamily="2" charset="0"/>
                <a:cs typeface="Roboto Medium" panose="02000000000000000000" pitchFamily="2" charset="0"/>
              </a:rPr>
              <a:t>Megatron-LM language model (smaller than GPT-3) trained by Nvidia over nine days</a:t>
            </a:r>
          </a:p>
          <a:p>
            <a:pPr marL="0" marR="0" rtl="0">
              <a:spcBef>
                <a:spcPts val="0"/>
              </a:spcBef>
              <a:spcAft>
                <a:spcPts val="0"/>
              </a:spcAft>
            </a:pPr>
            <a:r>
              <a:rPr lang="en-US" sz="1200" b="1" dirty="0">
                <a:ea typeface="Roboto Black" panose="02000000000000000000" pitchFamily="2" charset="0"/>
                <a:cs typeface="Roboto Black" panose="02000000000000000000" pitchFamily="2" charset="0"/>
              </a:rPr>
              <a:t>consumed 2.6x the annual power consumption of avg. U.S. house.</a:t>
            </a:r>
            <a:endParaRPr lang="en-US" sz="1200" dirty="0">
              <a:ea typeface="Roboto Medium" panose="02000000000000000000" pitchFamily="2" charset="0"/>
              <a:cs typeface="Roboto Medium" panose="02000000000000000000" pitchFamily="2" charset="0"/>
            </a:endParaRPr>
          </a:p>
          <a:p>
            <a:pPr marL="0" marR="0" rtl="0">
              <a:spcBef>
                <a:spcPts val="0"/>
              </a:spcBef>
              <a:spcAft>
                <a:spcPts val="0"/>
              </a:spcAft>
            </a:pPr>
            <a:r>
              <a:rPr lang="en-US" sz="1200" dirty="0">
                <a:ea typeface="Roboto Medium" panose="02000000000000000000" pitchFamily="2" charset="0"/>
                <a:cs typeface="Roboto Medium" panose="02000000000000000000" pitchFamily="2" charset="0"/>
              </a:rPr>
              <a:t>Issues with cooling AI chips are leading to server meltdowns at some CSPs. Cooling</a:t>
            </a:r>
          </a:p>
          <a:p>
            <a:pPr marL="0" marR="0" rtl="0">
              <a:spcBef>
                <a:spcPts val="0"/>
              </a:spcBef>
              <a:spcAft>
                <a:spcPts val="0"/>
              </a:spcAft>
            </a:pPr>
            <a:r>
              <a:rPr lang="en-US" sz="1200" dirty="0">
                <a:ea typeface="Roboto Medium" panose="02000000000000000000" pitchFamily="2" charset="0"/>
                <a:cs typeface="Roboto Medium" panose="02000000000000000000" pitchFamily="2" charset="0"/>
              </a:rPr>
              <a:t>technology now in focus, data centers implementing various liquid cooling technology.</a:t>
            </a:r>
          </a:p>
        </p:txBody>
      </p:sp>
      <p:sp>
        <p:nvSpPr>
          <p:cNvPr id="13" name="TextBox 12">
            <a:extLst>
              <a:ext uri="{FF2B5EF4-FFF2-40B4-BE49-F238E27FC236}">
                <a16:creationId xmlns:a16="http://schemas.microsoft.com/office/drawing/2014/main" id="{5C500247-03B6-DCB0-1A6C-B30ABD812684}"/>
              </a:ext>
            </a:extLst>
          </p:cNvPr>
          <p:cNvSpPr txBox="1"/>
          <p:nvPr/>
        </p:nvSpPr>
        <p:spPr>
          <a:xfrm>
            <a:off x="746813" y="1717163"/>
            <a:ext cx="3639992" cy="1200329"/>
          </a:xfrm>
          <a:prstGeom prst="rect">
            <a:avLst/>
          </a:prstGeom>
          <a:noFill/>
        </p:spPr>
        <p:txBody>
          <a:bodyPr wrap="square">
            <a:spAutoFit/>
          </a:bodyPr>
          <a:lstStyle/>
          <a:p>
            <a:pPr marL="0" marR="0" rtl="0">
              <a:spcBef>
                <a:spcPts val="0"/>
              </a:spcBef>
              <a:spcAft>
                <a:spcPts val="0"/>
              </a:spcAft>
            </a:pPr>
            <a:r>
              <a:rPr lang="en-US" sz="1200" dirty="0">
                <a:ea typeface="Roboto Medium" panose="02000000000000000000" pitchFamily="2" charset="0"/>
                <a:cs typeface="Roboto Medium" panose="02000000000000000000" pitchFamily="2" charset="0"/>
              </a:rPr>
              <a:t>Over the last few years, compute power has scaled significantly faster than Memory and Bandwidth, leading to latency issues. As parameter size increases in ML models, the delay in data transfer between the GPU memory module to the tensor core which perform the matrix operations become significantly longer.</a:t>
            </a:r>
          </a:p>
        </p:txBody>
      </p:sp>
      <p:sp>
        <p:nvSpPr>
          <p:cNvPr id="14" name="TextBox 13">
            <a:extLst>
              <a:ext uri="{FF2B5EF4-FFF2-40B4-BE49-F238E27FC236}">
                <a16:creationId xmlns:a16="http://schemas.microsoft.com/office/drawing/2014/main" id="{648B7897-1653-2027-83A1-4945C0277B23}"/>
              </a:ext>
            </a:extLst>
          </p:cNvPr>
          <p:cNvSpPr txBox="1"/>
          <p:nvPr/>
        </p:nvSpPr>
        <p:spPr>
          <a:xfrm>
            <a:off x="755699" y="3839218"/>
            <a:ext cx="3639992" cy="1569660"/>
          </a:xfrm>
          <a:prstGeom prst="rect">
            <a:avLst/>
          </a:prstGeom>
          <a:noFill/>
        </p:spPr>
        <p:txBody>
          <a:bodyPr wrap="square">
            <a:spAutoFit/>
          </a:bodyPr>
          <a:lstStyle/>
          <a:p>
            <a:pPr marL="0" marR="0" rtl="0">
              <a:spcBef>
                <a:spcPts val="0"/>
              </a:spcBef>
              <a:spcAft>
                <a:spcPts val="0"/>
              </a:spcAft>
            </a:pPr>
            <a:r>
              <a:rPr lang="en-US" sz="1200" dirty="0">
                <a:ea typeface="Roboto Medium" panose="02000000000000000000" pitchFamily="2" charset="0"/>
                <a:cs typeface="Roboto Medium" panose="02000000000000000000" pitchFamily="2" charset="0"/>
              </a:rPr>
              <a:t>AI compute demand scales linearly with developer headcount (i.e. when training models).</a:t>
            </a:r>
          </a:p>
          <a:p>
            <a:pPr marL="0" marR="0" rtl="0">
              <a:spcBef>
                <a:spcPts val="0"/>
              </a:spcBef>
              <a:spcAft>
                <a:spcPts val="0"/>
              </a:spcAft>
            </a:pPr>
            <a:endParaRPr lang="en-US" sz="1200" dirty="0">
              <a:ea typeface="Roboto Medium" panose="02000000000000000000" pitchFamily="2" charset="0"/>
              <a:cs typeface="Roboto Medium" panose="02000000000000000000" pitchFamily="2" charset="0"/>
            </a:endParaRPr>
          </a:p>
          <a:p>
            <a:pPr marL="0" marR="0" rtl="0">
              <a:spcBef>
                <a:spcPts val="0"/>
              </a:spcBef>
              <a:spcAft>
                <a:spcPts val="0"/>
              </a:spcAft>
            </a:pPr>
            <a:r>
              <a:rPr lang="en-US" sz="1200" dirty="0">
                <a:ea typeface="Roboto Medium" panose="02000000000000000000" pitchFamily="2" charset="0"/>
                <a:cs typeface="Roboto Medium" panose="02000000000000000000" pitchFamily="2" charset="0"/>
              </a:rPr>
              <a:t>At scale, </a:t>
            </a:r>
            <a:r>
              <a:rPr lang="en-US" sz="1200" dirty="0" err="1">
                <a:ea typeface="Roboto Medium" panose="02000000000000000000" pitchFamily="2" charset="0"/>
                <a:cs typeface="Roboto Medium" panose="02000000000000000000" pitchFamily="2" charset="0"/>
              </a:rPr>
              <a:t>GenAI</a:t>
            </a:r>
            <a:r>
              <a:rPr lang="en-US" sz="1200" dirty="0">
                <a:ea typeface="Roboto Medium" panose="02000000000000000000" pitchFamily="2" charset="0"/>
                <a:cs typeface="Roboto Medium" panose="02000000000000000000" pitchFamily="2" charset="0"/>
              </a:rPr>
              <a:t> companies could still </a:t>
            </a:r>
            <a:r>
              <a:rPr lang="en-US" sz="1200" b="1" dirty="0">
                <a:ea typeface="Roboto Black" panose="02000000000000000000" pitchFamily="2" charset="0"/>
                <a:cs typeface="Roboto Black" panose="02000000000000000000" pitchFamily="2" charset="0"/>
              </a:rPr>
              <a:t>face meaningful compute costs and fail to reach SaaS</a:t>
            </a:r>
          </a:p>
          <a:p>
            <a:pPr marL="0" marR="0" rtl="0">
              <a:spcBef>
                <a:spcPts val="0"/>
              </a:spcBef>
              <a:spcAft>
                <a:spcPts val="0"/>
              </a:spcAft>
            </a:pPr>
            <a:r>
              <a:rPr lang="en-US" sz="1200" b="1" dirty="0">
                <a:ea typeface="Roboto Black" panose="02000000000000000000" pitchFamily="2" charset="0"/>
                <a:cs typeface="Roboto Black" panose="02000000000000000000" pitchFamily="2" charset="0"/>
              </a:rPr>
              <a:t>profitability levels. </a:t>
            </a:r>
            <a:r>
              <a:rPr lang="en-US" sz="1200" dirty="0">
                <a:ea typeface="Roboto Medium" panose="02000000000000000000" pitchFamily="2" charset="0"/>
                <a:cs typeface="Roboto Medium" panose="02000000000000000000" pitchFamily="2" charset="0"/>
              </a:rPr>
              <a:t>For example, when OpenAI was starting up in 2019-2020, they spent over 120M+ for GCP services.</a:t>
            </a:r>
            <a:endParaRPr lang="en-US" sz="1200" b="1" dirty="0">
              <a:ea typeface="Roboto Black" panose="02000000000000000000" pitchFamily="2" charset="0"/>
              <a:cs typeface="Roboto Black" panose="02000000000000000000" pitchFamily="2" charset="0"/>
            </a:endParaRPr>
          </a:p>
        </p:txBody>
      </p:sp>
      <p:sp>
        <p:nvSpPr>
          <p:cNvPr id="15" name="TextBox 14">
            <a:extLst>
              <a:ext uri="{FF2B5EF4-FFF2-40B4-BE49-F238E27FC236}">
                <a16:creationId xmlns:a16="http://schemas.microsoft.com/office/drawing/2014/main" id="{2FD83B75-24AB-E607-707B-1C3E55918164}"/>
              </a:ext>
            </a:extLst>
          </p:cNvPr>
          <p:cNvSpPr txBox="1"/>
          <p:nvPr/>
        </p:nvSpPr>
        <p:spPr>
          <a:xfrm>
            <a:off x="4896782" y="3853706"/>
            <a:ext cx="3639992" cy="1200329"/>
          </a:xfrm>
          <a:prstGeom prst="rect">
            <a:avLst/>
          </a:prstGeom>
          <a:noFill/>
        </p:spPr>
        <p:txBody>
          <a:bodyPr wrap="square">
            <a:spAutoFit/>
          </a:bodyPr>
          <a:lstStyle/>
          <a:p>
            <a:pPr marL="0" marR="0" rtl="0">
              <a:spcBef>
                <a:spcPts val="0"/>
              </a:spcBef>
              <a:spcAft>
                <a:spcPts val="0"/>
              </a:spcAft>
            </a:pPr>
            <a:r>
              <a:rPr lang="en-US" sz="1200" dirty="0">
                <a:ea typeface="Roboto Medium" panose="02000000000000000000" pitchFamily="2" charset="0"/>
                <a:cs typeface="Roboto Medium" panose="02000000000000000000" pitchFamily="2" charset="0"/>
              </a:rPr>
              <a:t>One way of addressing profitability issues is to </a:t>
            </a:r>
            <a:r>
              <a:rPr lang="en-US" sz="1200" b="1" dirty="0">
                <a:ea typeface="Roboto Black" panose="02000000000000000000" pitchFamily="2" charset="0"/>
                <a:cs typeface="Roboto Black" panose="02000000000000000000" pitchFamily="2" charset="0"/>
              </a:rPr>
              <a:t>separate inference from more intensives training workload and energy-hungry chips</a:t>
            </a:r>
            <a:r>
              <a:rPr lang="en-US" sz="1200" dirty="0">
                <a:ea typeface="Roboto Medium" panose="02000000000000000000" pitchFamily="2" charset="0"/>
                <a:cs typeface="Roboto Medium" panose="02000000000000000000" pitchFamily="2" charset="0"/>
              </a:rPr>
              <a:t>, as it requires significantly less compute. Whole slew of startups working to address the issues (</a:t>
            </a:r>
            <a:r>
              <a:rPr lang="en-US" sz="1200" dirty="0" err="1">
                <a:ea typeface="Roboto Medium" panose="02000000000000000000" pitchFamily="2" charset="0"/>
                <a:cs typeface="Roboto Medium" panose="02000000000000000000" pitchFamily="2" charset="0"/>
              </a:rPr>
              <a:t>ie</a:t>
            </a:r>
            <a:r>
              <a:rPr lang="en-US" sz="1200" dirty="0">
                <a:ea typeface="Roboto Medium" panose="02000000000000000000" pitchFamily="2" charset="0"/>
                <a:cs typeface="Roboto Medium" panose="02000000000000000000" pitchFamily="2" charset="0"/>
              </a:rPr>
              <a:t>. </a:t>
            </a:r>
            <a:r>
              <a:rPr lang="en-US" sz="1200" dirty="0" err="1">
                <a:ea typeface="Roboto Medium" panose="02000000000000000000" pitchFamily="2" charset="0"/>
                <a:cs typeface="Roboto Medium" panose="02000000000000000000" pitchFamily="2" charset="0"/>
              </a:rPr>
              <a:t>Groq</a:t>
            </a:r>
            <a:r>
              <a:rPr lang="en-US" sz="1200" dirty="0">
                <a:ea typeface="Roboto Medium" panose="02000000000000000000" pitchFamily="2" charset="0"/>
                <a:cs typeface="Roboto Medium" panose="02000000000000000000" pitchFamily="2" charset="0"/>
              </a:rPr>
              <a:t>, d-Matrix, </a:t>
            </a:r>
            <a:r>
              <a:rPr lang="en-US" sz="1200" dirty="0" err="1">
                <a:ea typeface="Roboto Medium" panose="02000000000000000000" pitchFamily="2" charset="0"/>
                <a:cs typeface="Roboto Medium" panose="02000000000000000000" pitchFamily="2" charset="0"/>
              </a:rPr>
              <a:t>FuriosaAI</a:t>
            </a:r>
            <a:r>
              <a:rPr lang="en-US" sz="1200" dirty="0">
                <a:ea typeface="Roboto Medium" panose="02000000000000000000" pitchFamily="2" charset="0"/>
                <a:cs typeface="Roboto Medium" panose="02000000000000000000" pitchFamily="2" charset="0"/>
              </a:rPr>
              <a:t>, </a:t>
            </a:r>
            <a:r>
              <a:rPr lang="en-US" sz="1200" dirty="0" err="1">
                <a:ea typeface="Roboto Medium" panose="02000000000000000000" pitchFamily="2" charset="0"/>
                <a:cs typeface="Roboto Medium" panose="02000000000000000000" pitchFamily="2" charset="0"/>
              </a:rPr>
              <a:t>NeuReality</a:t>
            </a:r>
            <a:r>
              <a:rPr lang="en-US" sz="1200" dirty="0">
                <a:ea typeface="Roboto Medium" panose="02000000000000000000" pitchFamily="2" charset="0"/>
                <a:cs typeface="Roboto Medium" panose="02000000000000000000" pitchFamily="2" charset="0"/>
              </a:rPr>
              <a:t>, </a:t>
            </a:r>
            <a:r>
              <a:rPr lang="en-US" sz="1200" dirty="0" err="1">
                <a:ea typeface="Roboto Medium" panose="02000000000000000000" pitchFamily="2" charset="0"/>
                <a:cs typeface="Roboto Medium" panose="02000000000000000000" pitchFamily="2" charset="0"/>
              </a:rPr>
              <a:t>SambaNova</a:t>
            </a:r>
            <a:r>
              <a:rPr lang="en-US" sz="1200" dirty="0">
                <a:ea typeface="Roboto Medium" panose="02000000000000000000" pitchFamily="2" charset="0"/>
                <a:cs typeface="Roboto Medium" panose="02000000000000000000" pitchFamily="2" charset="0"/>
              </a:rPr>
              <a:t>, and more)</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Enterprise AI Security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623477"/>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AI Gateway Solutions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policy enforcement, VPN-based access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Unbound, Lakera, Robust Intelligence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Data Loss Prevention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Traditional DLP tools, static scanning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Real-time AI prompt redaction, dynamic filtering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Model Management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Single vendor lock-in, manual routing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Multi-model orchestration, intelligent routing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Compliance Monitoring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Periodic audits, manual reporting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Continuous compliance, automated documentation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Cost Optimization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Fixed licensing, over-provisioning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Usage-based routing, cost-aware model selection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pic>
        <p:nvPicPr>
          <p:cNvPr id="2" name="Picture 1">
            <a:extLst>
              <a:ext uri="{FF2B5EF4-FFF2-40B4-BE49-F238E27FC236}">
                <a16:creationId xmlns:a16="http://schemas.microsoft.com/office/drawing/2014/main" id="{3ED9AB03-AC5C-C3FC-2E20-6B1480981FBD}"/>
              </a:ext>
            </a:extLst>
          </p:cNvPr>
          <p:cNvPicPr>
            <a:picLocks noChangeAspect="1"/>
          </p:cNvPicPr>
          <p:nvPr/>
        </p:nvPicPr>
        <p:blipFill>
          <a:blip r:embed="rId17"/>
          <a:stretch>
            <a:fillRect/>
          </a:stretch>
        </p:blipFill>
        <p:spPr>
          <a:xfrm>
            <a:off x="724977" y="1082251"/>
            <a:ext cx="7772400" cy="1760466"/>
          </a:xfrm>
          <a:prstGeom prst="rect">
            <a:avLst/>
          </a:prstGeom>
        </p:spPr>
      </p:pic>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Props1.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customXml/itemProps2.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4.xml><?xml version="1.0" encoding="utf-8"?>
<ds:datastoreItem xmlns:ds="http://schemas.openxmlformats.org/officeDocument/2006/customXml" ds:itemID="{0F9F96BE-18A8-49A2-94BB-7FE139601F9F}">
  <ds:schemaRefs>
    <ds:schemaRef ds:uri="http://schemas.bloomberg.com/settings/1.0"/>
    <ds:schemaRef ds:uri=""/>
  </ds:schemaRefs>
</ds:datastoreItem>
</file>

<file path=docProps/app.xml><?xml version="1.0" encoding="utf-8"?>
<Properties xmlns="http://schemas.openxmlformats.org/officeDocument/2006/extended-properties" xmlns:vt="http://schemas.openxmlformats.org/officeDocument/2006/docPropsVTypes">
  <Template>Custom Design</Template>
  <TotalTime>1011</TotalTime>
  <Words>1489</Words>
  <Application>Microsoft Macintosh PowerPoint</Application>
  <PresentationFormat>On-screen Show (4:3)</PresentationFormat>
  <Paragraphs>157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Unbound AI and WB Capital</vt:lpstr>
      <vt:lpstr>About Time Someone Built Intelligence into Enterprise AI Security</vt:lpstr>
      <vt:lpstr>Unbound's AI-Native Security</vt:lpstr>
      <vt:lpstr>Some Key Observations about Market Structure</vt:lpstr>
      <vt:lpstr>Competitive Landscape - Enterprise AI Security Market</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24</cp:revision>
  <cp:lastPrinted>2020-03-06T17:51:46Z</cp:lastPrinted>
  <dcterms:created xsi:type="dcterms:W3CDTF">2025-06-25T18:39:46Z</dcterms:created>
  <dcterms:modified xsi:type="dcterms:W3CDTF">2025-07-30T17:23:58Z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