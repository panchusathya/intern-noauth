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84966" autoAdjust="0"/>
  </p:normalViewPr>
  <p:slideViewPr>
    <p:cSldViewPr snapToGrid="0" snapToObjects="1">
      <p:cViewPr varScale="1">
        <p:scale>
          <a:sx n="108" d="100"/>
          <a:sy n="108" d="100"/>
        </p:scale>
        <p:origin x="1608" y="672"/>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tags" Target="../tags/tag2.xml"/><Relationship Id="rId12" Type="http://schemas.openxmlformats.org/officeDocument/2006/relationships/tags" Target="../tags/tag3.xml"/><Relationship Id="rId13" Type="http://schemas.openxmlformats.org/officeDocument/2006/relationships/oleObject" Target="../embeddings/oleObject1.bin"/><Relationship Id="rId14" Type="http://schemas.openxmlformats.org/officeDocument/2006/relationships/image" Target="../media/image1.emf"/><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Layout" Target="../slideLayouts/slideLayout2.xml"/><Relationship Id="rId8" Type="http://schemas.openxmlformats.org/officeDocument/2006/relationships/oleObject" Target="../embeddings/oleObject3.bin"/><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1.xml"/><Relationship Id="rId9" Type="http://schemas.openxmlformats.org/officeDocument/2006/relationships/notesSlide" Target="../notesSlides/notesSlide2.xml"/><Relationship Id="rId10" Type="http://schemas.openxmlformats.org/officeDocument/2006/relationships/oleObject" Target="../embeddings/oleObject4.bin"/><Relationship Id="rId11" Type="http://schemas.openxmlformats.org/officeDocument/2006/relationships/image" Target="../media/image7.emf"/><Relationship Id="rId12" Type="http://schemas.openxmlformats.org/officeDocument/2006/relationships/image" Target="../media/image8.png"/><Relationship Id="rId13"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4.bin"/><Relationship Id="rId5" Type="http://schemas.openxmlformats.org/officeDocument/2006/relationships/image" Target="../media/image7.emf"/></Relationships>
</file>

<file path=ppt/slides/_rels/slide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5.bin"/><Relationship Id="rId5"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9.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oleObject" Target="../embeddings/oleObject7.bin"/><Relationship Id="rId6"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oleObject" Target="../embeddings/oleObject8.bin"/><Relationship Id="rId6"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oleObject" Target="../embeddings/oleObject9.bin"/><Relationship Id="rId6" Type="http://schemas.openxmlformats.org/officeDocument/2006/relationships/image" Target="../media/image11.emf"/><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image" Target="../media/image21.jpeg"/><Relationship Id="rId17" Type="http://schemas.openxmlformats.org/officeDocument/2006/relationships/image" Target="../media/image22.jpe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jpeg"/><Relationship Id="rId28"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oleObject" Target="../embeddings/oleObject10.bin"/><Relationship Id="rId6" Type="http://schemas.openxmlformats.org/officeDocument/2006/relationships/image" Target="../media/image1.emf"/><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hyperlink" Target="https://www.linkedin.com/in/gmirchandani/" TargetMode="External"/><Relationship Id="rId11" Type="http://schemas.openxmlformats.org/officeDocument/2006/relationships/hyperlink" Target="https://www.linkedin.com/in/gkarunak/" TargetMode="External"/><Relationship Id="rId12" Type="http://schemas.openxmlformats.org/officeDocument/2006/relationships/hyperlink" Target="https://www.linkedin.com/in/peterxkim/" TargetMode="External"/><Relationship Id="rId13" Type="http://schemas.openxmlformats.org/officeDocument/2006/relationships/hyperlink" Target="https://www.linkedin.com/in/patrick-wendell/" TargetMode="External"/><Relationship Id="rId14" Type="http://schemas.openxmlformats.org/officeDocument/2006/relationships/hyperlink" Target="https://www.linkedin.com/in/manojapte/" TargetMode="External"/><Relationship Id="rId15" Type="http://schemas.openxmlformats.org/officeDocument/2006/relationships/hyperlink" Target="https://www.linkedin.com/in/bmacaitis/" TargetMode="External"/><Relationship Id="rId16" Type="http://schemas.openxmlformats.org/officeDocument/2006/relationships/hyperlink" Target="https://www.linkedin.com/in/sidharthmalik/?originalSubdomain=in" TargetMode="External"/></Relationships>
</file>

<file path=ppt/slides/_rels/slide1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oleObject" Target="../embeddings/oleObject11.bin"/><Relationship Id="rId6" Type="http://schemas.openxmlformats.org/officeDocument/2006/relationships/image" Target="../media/image4.emf"/><Relationship Id="rId7" Type="http://schemas.openxmlformats.org/officeDocument/2006/relationships/image" Target="../media/image37.jpeg"/></Relationships>
</file>

<file path=ppt/slides/_rels/slide1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oleObject" Target="../embeddings/oleObject12.bin"/><Relationship Id="rId6"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t>Mitsogo and Westbridge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pPr algn="l"/>
            <a:r>
              <a:rPr>
                <a:solidFill>
                  <a:srgbClr val="3D3D3D"/>
                </a:solidFill>
              </a:rPr>
              <a:t>About Time Someone Built Intelligence into Endpoint Security</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The average cost of a data breach reached an all-time high of $4.88 million in 2024, representing a 10% increase from 2023, with endpoint security failures being a primary contributor to these costly incidents.</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82% of organizations currently use BYOD policies, with 90% of employees using a mix of personal and company devices, creating massive endpoint management complexity across diverse device ecosystems.</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Security teams take an average of 277 days to identify and contain a data breach, with breaches involving lost or stolen credentials taking 328 days - highlighting the critical need for proactive endpoint management.</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The global Unified Endpoint Management market is projected to reach $111.6 billion by 2029, growing at a 58% CAGR as organizations desperately seek unified solutions to manage their expanding device ecosystems.</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$4.88M Average Data Breach Cost</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82% of Organizations Use BYOD</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277 Days to Identify Breaches</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$111.6B UEM Market by 2029</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Mitsogo's Hexnode UEM delivers 360-degree digital security for enterprises of all sizes, protecting internet-enabled work devices from malpractices and data loss while improving work quality through intelligent automation and centralized management.</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l">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Mitsogo's Hexnode UEM Intelligence</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Fragmented point solutions requiring separate tools for mobile device management, endpoint protection, and access management across different platforms</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Reactive security approach with lengthy breach detection times averaging 277 days and manual incident response procedures</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Complex device provisioning and configuration processes that require significant IT resources and technical expertise to manage diverse endpoints</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Unified platform delivering comprehensive endpoint management from mobile devices to IoT, providing single-pane-of-glass visibility and control</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Proactive threat detection and automated security enforcement with real-time policy compliance across all managed endpoints</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Zero-touch device provisioning and intelligent automation reducing IT workload while ensuring consistent security configurations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Traditional Endpoint Management</a:t>
            </a:r>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a:lnSpc>
                <a:spcPct val="150000"/>
              </a:lnSpc>
            </a:pPr>
            <a:r>
              <a:rPr sz="1600">
                <a:solidFill>
                  <a:srgbClr val="3D3D3D"/>
                </a:solidFill>
              </a:rPr>
              <a:t>1. UEM market experiencing explosive 58% CAGR growth as organizations struggle with endpoint complexity - from $4.49B in 2024 to projected $111.6B by 2029</a:t>
            </a:r>
          </a:p>
          <a:p>
            <a:pPr>
              <a:lnSpc>
                <a:spcPct val="150000"/>
              </a:lnSpc>
            </a:pPr>
            <a:r>
              <a:rPr sz="1600">
                <a:solidFill>
                  <a:srgbClr val="3D3D3D"/>
                </a:solidFill>
              </a:rPr>
              <a:t>2. 82% of organizations already using BYOD with 90% of employees mixing personal and company devices, creating unprecedented endpoint management challenges</a:t>
            </a:r>
          </a:p>
          <a:p>
            <a:pPr>
              <a:lnSpc>
                <a:spcPct val="150000"/>
              </a:lnSpc>
            </a:pPr>
            <a:r>
              <a:rPr sz="1600">
                <a:solidFill>
                  <a:srgbClr val="3D3D3D"/>
                </a:solidFill>
              </a:rPr>
              <a:t>3. Healthcare and finance sectors face highest breach costs at $9.77M and $5.9M respectively, driving urgent need for specialized endpoint security solutions</a:t>
            </a:r>
          </a:p>
          <a:p>
            <a:pPr>
              <a:lnSpc>
                <a:spcPct val="150000"/>
              </a:lnSpc>
            </a:pPr>
            <a:r>
              <a:rPr sz="1600">
                <a:solidFill>
                  <a:srgbClr val="3D3D3D"/>
                </a:solidFill>
              </a:rPr>
              <a:t>4. SMEs driving 64.5% of UEM market adoption as smaller organizations seek cost-effective solutions to manage distributed workforces</a:t>
            </a:r>
          </a:p>
          <a:p>
            <a:pPr>
              <a:lnSpc>
                <a:spcPct val="150000"/>
              </a:lnSpc>
            </a:pPr>
            <a:r>
              <a:rPr sz="1600">
                <a:solidFill>
                  <a:srgbClr val="3D3D3D"/>
                </a:solidFill>
              </a:rPr>
              <a:t>5. Cloud deployment commanding 60.9% market share with 26.1% CAGR as organizations prioritize scalable, remotely-manageable endpoint solutions</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Some Key Observations about Market Structure</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Unified Endpoint Management Market</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Mobile Device Management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MobileIron, AirWatch, Good Technology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Hexnode, Microsoft Intune, Jamf</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Enterprise Mobility Management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BlackBerry Enterprise Server, Citrix XenMobile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VMware Workspace ONE, IBM MaaS360</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IoT &amp; Kiosk Management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configuration, custom scripts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Hexnode Kiosk, 42Gears SureMDM</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BYOD Security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VPN-based access, perimeter security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Zero-trust architecture, identity-based access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Healthcare Compliance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Point solutions, manual audit trails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Integrated HIPAA compliance, automated reporting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996</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21</cp:revision>
  <cp:lastPrinted>2020-03-06T17:51:46Z</cp:lastPrinted>
  <dcterms:created xsi:type="dcterms:W3CDTF">2025-06-25T18:39:46Z</dcterms:created>
  <dcterms:modified xsi:type="dcterms:W3CDTF">2025-07-10T21:16:20Z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