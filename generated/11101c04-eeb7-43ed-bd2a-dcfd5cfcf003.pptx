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ommentAuthors.xml" ContentType="application/vnd.openxmlformats-officedocument.presentationml.commentAuthors+xml"/>
  <Override PartName="/ppt/embeddings/oleObject1.bin" ContentType="application/vnd.openxmlformats-officedocument.oleObject"/>
  <Override PartName="/ppt/embeddings/oleObject10.bin" ContentType="application/vnd.openxmlformats-officedocument.oleObject"/>
  <Override PartName="/ppt/embeddings/oleObject11.bin" ContentType="application/vnd.openxmlformats-officedocument.oleObject"/>
  <Override PartName="/ppt/embeddings/oleObject12.bin" ContentType="application/vnd.openxmlformats-officedocument.oleObject"/>
  <Override PartName="/ppt/embeddings/oleObject2.bin" ContentType="application/vnd.openxmlformats-officedocument.oleObject"/>
  <Override PartName="/ppt/embeddings/oleObject3.bin" ContentType="application/vnd.openxmlformats-officedocument.oleObject"/>
  <Override PartName="/ppt/embeddings/oleObject4.bin" ContentType="application/vnd.openxmlformats-officedocument.oleObject"/>
  <Override PartName="/ppt/embeddings/oleObject5.bin" ContentType="application/vnd.openxmlformats-officedocument.oleObject"/>
  <Override PartName="/ppt/embeddings/oleObject6.bin" ContentType="application/vnd.openxmlformats-officedocument.oleObject"/>
  <Override PartName="/ppt/embeddings/oleObject7.bin" ContentType="application/vnd.openxmlformats-officedocument.oleObject"/>
  <Override PartName="/ppt/embeddings/oleObject8.bin" ContentType="application/vnd.openxmlformats-officedocument.oleObject"/>
  <Override PartName="/ppt/embeddings/oleObject9.bin" ContentType="application/vnd.openxmlformats-officedocument.oleObject"/>
  <Override PartName="/ppt/handoutMasters/handoutMaster1.xml" ContentType="application/vnd.openxmlformats-officedocument.presentationml.handoutMaster+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2" r:id="rId5"/>
  </p:sldMasterIdLst>
  <p:notesMasterIdLst>
    <p:notesMasterId r:id="rId18"/>
  </p:notesMasterIdLst>
  <p:handoutMasterIdLst>
    <p:handoutMasterId r:id="rId19"/>
  </p:handoutMasterIdLst>
  <p:sldIdLst>
    <p:sldId id="392" r:id="rId6"/>
    <p:sldId id="2147478958" r:id="rId7"/>
    <p:sldId id="2147478970" r:id="rId8"/>
    <p:sldId id="2147478957" r:id="rId9"/>
    <p:sldId id="2147478960" r:id="rId10"/>
    <p:sldId id="2147476835" r:id="rId11"/>
    <p:sldId id="7278" r:id="rId12"/>
    <p:sldId id="2147478954" r:id="rId13"/>
    <p:sldId id="2147478955" r:id="rId14"/>
    <p:sldId id="5592" r:id="rId15"/>
    <p:sldId id="7438" r:id="rId16"/>
    <p:sldId id="5569" r:id="rId17"/>
  </p:sldIdLst>
  <p:sldSz cx="9144000" cy="6858000" type="screen4x3"/>
  <p:notesSz cx="7010400" cy="9296400"/>
  <p:custDataLst>
    <p:tags r:id="rId2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orient="horz" pos="2999" userDrawn="1">
          <p15:clr>
            <a:srgbClr val="A4A3A4"/>
          </p15:clr>
        </p15:guide>
        <p15:guide id="3" orient="horz" pos="142" userDrawn="1">
          <p15:clr>
            <a:srgbClr val="A4A3A4"/>
          </p15:clr>
        </p15:guide>
        <p15:guide id="8" pos="3447" userDrawn="1">
          <p15:clr>
            <a:srgbClr val="A4A3A4"/>
          </p15:clr>
        </p15:guide>
      </p15:sldGuideLst>
    </p:ext>
    <p:ext uri="{2D200454-40CA-4A62-9FC3-DE9A4176ACB9}">
      <p15:notesGuideLst xmlns:p15="http://schemas.microsoft.com/office/powerpoint/2012/main">
        <p15:guide id="1" orient="horz" pos="2928" userDrawn="1">
          <p15:clr>
            <a:srgbClr val="A4A3A4"/>
          </p15:clr>
        </p15:guide>
        <p15:guide id="2" pos="2209"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6067211-8BF8-00AF-0F1D-8D86840DC979}" name="Ananya Indwar" initials="" userId="S::ananya.indwar@westbridgecap.com::6a015bc6-ba20-4f9c-8df4-91712caba0d7" providerId="AD"/>
  <p188:author id="{6C24BDE1-E2CB-3645-C6AF-FB2B90DD899F}" name="Kamal Singh" initials="KS" userId="S::Kamal.Singh@westbridgecap.com::761e907a-d22e-4bf7-9ef3-e167f48fea17"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Dhruv" initials="D" lastIdx="1" clrIdx="0">
    <p:extLst>
      <p:ext uri="{19B8F6BF-5375-455C-9EA6-DF929625EA0E}">
        <p15:presenceInfo xmlns:p15="http://schemas.microsoft.com/office/powerpoint/2012/main" userId="Dhruv" providerId="None"/>
      </p:ext>
    </p:extLst>
  </p:cmAuthor>
  <p:cmAuthor id="2" name="Dhruv Chandhok" initials="DC" lastIdx="14" clrIdx="1">
    <p:extLst>
      <p:ext uri="{19B8F6BF-5375-455C-9EA6-DF929625EA0E}">
        <p15:presenceInfo xmlns:p15="http://schemas.microsoft.com/office/powerpoint/2012/main" userId="S::dhruv.chandhok@westbridgecap.com::32a2e8fb-577a-4f39-a262-30040c611a06" providerId="AD"/>
      </p:ext>
    </p:extLst>
  </p:cmAuthor>
  <p:cmAuthor id="3" name="murali" initials="m" lastIdx="2" clrIdx="2">
    <p:extLst>
      <p:ext uri="{19B8F6BF-5375-455C-9EA6-DF929625EA0E}">
        <p15:presenceInfo xmlns:p15="http://schemas.microsoft.com/office/powerpoint/2012/main" userId="murali"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EEFDB"/>
    <a:srgbClr val="ACEA9B"/>
    <a:srgbClr val="F783A3"/>
    <a:srgbClr val="E5FCE4"/>
    <a:srgbClr val="005A82"/>
    <a:srgbClr val="239191"/>
    <a:srgbClr val="008AC6"/>
    <a:srgbClr val="EFEFEF"/>
    <a:srgbClr val="002060"/>
    <a:srgbClr val="82D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966" autoAdjust="0"/>
    <p:restoredTop sz="84966" autoAdjust="0"/>
  </p:normalViewPr>
  <p:slideViewPr>
    <p:cSldViewPr snapToGrid="0" snapToObjects="1">
      <p:cViewPr varScale="1">
        <p:scale>
          <a:sx n="108" d="100"/>
          <a:sy n="108" d="100"/>
        </p:scale>
        <p:origin x="1608" y="672"/>
      </p:cViewPr>
      <p:guideLst>
        <p:guide orient="horz" pos="2999"/>
        <p:guide orient="horz" pos="142"/>
        <p:guide pos="3447"/>
      </p:guideLst>
    </p:cSldViewPr>
  </p:slideViewPr>
  <p:outlineViewPr>
    <p:cViewPr>
      <p:scale>
        <a:sx n="33" d="100"/>
        <a:sy n="33" d="100"/>
      </p:scale>
      <p:origin x="0" y="-5006"/>
    </p:cViewPr>
  </p:outlineViewPr>
  <p:notesTextViewPr>
    <p:cViewPr>
      <p:scale>
        <a:sx n="3" d="2"/>
        <a:sy n="3" d="2"/>
      </p:scale>
      <p:origin x="0" y="0"/>
    </p:cViewPr>
  </p:notesTextViewPr>
  <p:sorterViewPr>
    <p:cViewPr>
      <p:scale>
        <a:sx n="100" d="100"/>
        <a:sy n="100" d="100"/>
      </p:scale>
      <p:origin x="0" y="-3612"/>
    </p:cViewPr>
  </p:sorterViewPr>
  <p:notesViewPr>
    <p:cSldViewPr snapToGrid="0" snapToObjects="1">
      <p:cViewPr>
        <p:scale>
          <a:sx n="100" d="100"/>
          <a:sy n="100" d="100"/>
        </p:scale>
        <p:origin x="2652" y="-564"/>
      </p:cViewPr>
      <p:guideLst>
        <p:guide orient="horz" pos="2928"/>
        <p:guide pos="2209"/>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customXml" Target="../customXml/item4.xml"/><Relationship Id="rId5" Type="http://schemas.openxmlformats.org/officeDocument/2006/relationships/slideMaster" Target="slideMasters/slide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notesMaster" Target="notesMasters/notesMaster1.xml"/><Relationship Id="rId19" Type="http://schemas.openxmlformats.org/officeDocument/2006/relationships/handoutMaster" Target="handoutMasters/handoutMaster1.xml"/><Relationship Id="rId20" Type="http://schemas.openxmlformats.org/officeDocument/2006/relationships/tags" Target="tags/tag1.xml"/><Relationship Id="rId21" Type="http://schemas.openxmlformats.org/officeDocument/2006/relationships/commentAuthors" Target="commentAuthors.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 Id="rId26"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 name="TextBox 10"/>
          <p:cNvSpPr txBox="1"/>
          <p:nvPr/>
        </p:nvSpPr>
        <p:spPr>
          <a:xfrm>
            <a:off x="467372" y="9123550"/>
            <a:ext cx="1465145" cy="107722"/>
          </a:xfrm>
          <a:prstGeom prst="rect">
            <a:avLst/>
          </a:prstGeom>
          <a:noFill/>
        </p:spPr>
        <p:txBody>
          <a:bodyPr wrap="none" lIns="0" tIns="0" rIns="0" bIns="0" rtlCol="0">
            <a:spAutoFit/>
          </a:bodyPr>
          <a:lstStyle/>
          <a:p>
            <a:r>
              <a:rPr lang="en-US" sz="700" dirty="0">
                <a:solidFill>
                  <a:schemeClr val="bg1">
                    <a:lumMod val="75000"/>
                  </a:schemeClr>
                </a:solidFill>
                <a:latin typeface="+mj-lt"/>
              </a:rPr>
              <a:t>Copyright 2013 Duarte Inc. Confidential.</a:t>
            </a:r>
          </a:p>
        </p:txBody>
      </p:sp>
      <p:sp>
        <p:nvSpPr>
          <p:cNvPr id="12" name="TextBox 11"/>
          <p:cNvSpPr txBox="1"/>
          <p:nvPr/>
        </p:nvSpPr>
        <p:spPr>
          <a:xfrm>
            <a:off x="6440086" y="9123550"/>
            <a:ext cx="105798" cy="107722"/>
          </a:xfrm>
          <a:prstGeom prst="rect">
            <a:avLst/>
          </a:prstGeom>
          <a:noFill/>
        </p:spPr>
        <p:txBody>
          <a:bodyPr wrap="none" lIns="0" tIns="0" rIns="0" bIns="0" rtlCol="0">
            <a:spAutoFit/>
          </a:bodyPr>
          <a:lstStyle/>
          <a:p>
            <a:pPr algn="r"/>
            <a:fld id="{342FB9F6-3526-4818-B864-6624DDD159B3}" type="slidenum">
              <a:rPr lang="en-US" sz="700">
                <a:solidFill>
                  <a:schemeClr val="bg1">
                    <a:lumMod val="75000"/>
                  </a:schemeClr>
                </a:solidFill>
                <a:latin typeface="+mj-lt"/>
              </a:rPr>
              <a:t>‹#›</a:t>
            </a:fld>
            <a:endParaRPr lang="en-US" sz="700" dirty="0">
              <a:solidFill>
                <a:schemeClr val="bg1">
                  <a:lumMod val="75000"/>
                </a:schemeClr>
              </a:solidFill>
              <a:latin typeface="+mj-lt"/>
            </a:endParaRPr>
          </a:p>
        </p:txBody>
      </p:sp>
    </p:spTree>
    <p:extLst>
      <p:ext uri="{BB962C8B-B14F-4D97-AF65-F5344CB8AC3E}">
        <p14:creationId xmlns:p14="http://schemas.microsoft.com/office/powerpoint/2010/main" val="218165060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1181100" y="1093788"/>
            <a:ext cx="4648200" cy="3486150"/>
          </a:xfrm>
          <a:prstGeom prst="rect">
            <a:avLst/>
          </a:prstGeom>
          <a:noFill/>
          <a:ln w="12700">
            <a:solidFill>
              <a:prstClr val="black"/>
            </a:solidFill>
          </a:ln>
        </p:spPr>
        <p:txBody>
          <a:bodyPr vert="horz" lIns="89718" tIns="44858" rIns="89718" bIns="44858" rtlCol="0" anchor="ctr"/>
          <a:lstStyle/>
          <a:p>
            <a:endParaRPr lang="en-US" dirty="0"/>
          </a:p>
        </p:txBody>
      </p:sp>
      <p:sp>
        <p:nvSpPr>
          <p:cNvPr id="5" name="Notes Placeholder 4"/>
          <p:cNvSpPr>
            <a:spLocks noGrp="1"/>
          </p:cNvSpPr>
          <p:nvPr>
            <p:ph type="body" sz="quarter" idx="3"/>
          </p:nvPr>
        </p:nvSpPr>
        <p:spPr>
          <a:xfrm>
            <a:off x="391095" y="4929034"/>
            <a:ext cx="6228224" cy="3670141"/>
          </a:xfrm>
          <a:prstGeom prst="rect">
            <a:avLst/>
          </a:prstGeom>
        </p:spPr>
        <p:txBody>
          <a:bodyPr vert="horz" lIns="89718" tIns="44858" rIns="89718" bIns="44858"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Box 12"/>
          <p:cNvSpPr txBox="1"/>
          <p:nvPr/>
        </p:nvSpPr>
        <p:spPr>
          <a:xfrm>
            <a:off x="467363" y="9123555"/>
            <a:ext cx="1308050" cy="92333"/>
          </a:xfrm>
          <a:prstGeom prst="rect">
            <a:avLst/>
          </a:prstGeom>
          <a:noFill/>
        </p:spPr>
        <p:txBody>
          <a:bodyPr wrap="none" lIns="0" tIns="0" rIns="0" bIns="0" rtlCol="0">
            <a:spAutoFit/>
          </a:bodyPr>
          <a:lstStyle/>
          <a:p>
            <a:r>
              <a:rPr lang="en-US" sz="600" dirty="0">
                <a:solidFill>
                  <a:schemeClr val="bg1">
                    <a:lumMod val="75000"/>
                  </a:schemeClr>
                </a:solidFill>
                <a:latin typeface="+mj-lt"/>
              </a:rPr>
              <a:t>Copyright 2013 Duarte Inc. Confidential.</a:t>
            </a:r>
          </a:p>
        </p:txBody>
      </p:sp>
      <p:sp>
        <p:nvSpPr>
          <p:cNvPr id="14" name="TextBox 13"/>
          <p:cNvSpPr txBox="1"/>
          <p:nvPr/>
        </p:nvSpPr>
        <p:spPr>
          <a:xfrm>
            <a:off x="6449464" y="9123555"/>
            <a:ext cx="76944" cy="92333"/>
          </a:xfrm>
          <a:prstGeom prst="rect">
            <a:avLst/>
          </a:prstGeom>
          <a:noFill/>
        </p:spPr>
        <p:txBody>
          <a:bodyPr wrap="none" lIns="0" tIns="0" rIns="0" bIns="0" rtlCol="0">
            <a:spAutoFit/>
          </a:bodyPr>
          <a:lstStyle/>
          <a:p>
            <a:pPr algn="r"/>
            <a:fld id="{342FB9F6-3526-4818-B864-6624DDD159B3}" type="slidenum">
              <a:rPr lang="en-US" sz="600" smtClean="0">
                <a:solidFill>
                  <a:schemeClr val="bg1">
                    <a:lumMod val="75000"/>
                  </a:schemeClr>
                </a:solidFill>
                <a:latin typeface="+mj-lt"/>
              </a:rPr>
              <a:t>‹#›</a:t>
            </a:fld>
            <a:endParaRPr lang="en-US" sz="600" dirty="0">
              <a:solidFill>
                <a:schemeClr val="bg1">
                  <a:lumMod val="75000"/>
                </a:schemeClr>
              </a:solidFill>
              <a:latin typeface="+mj-lt"/>
            </a:endParaRPr>
          </a:p>
        </p:txBody>
      </p:sp>
    </p:spTree>
    <p:extLst>
      <p:ext uri="{BB962C8B-B14F-4D97-AF65-F5344CB8AC3E}">
        <p14:creationId xmlns:p14="http://schemas.microsoft.com/office/powerpoint/2010/main" val="2381874313"/>
      </p:ext>
    </p:extLst>
  </p:cSld>
  <p:clrMap bg1="lt1" tx1="dk1" bg2="lt2" tx2="dk2" accent1="accent1" accent2="accent2" accent3="accent3" accent4="accent4" accent5="accent5" accent6="accent6" hlink="hlink" folHlink="folHlink"/>
  <p:notesStyle>
    <a:lvl1pPr marL="114300" indent="-114300" algn="l" defTabSz="914400" rtl="0" eaLnBrk="1" latinLnBrk="0" hangingPunct="1">
      <a:lnSpc>
        <a:spcPct val="85000"/>
      </a:lnSpc>
      <a:spcBef>
        <a:spcPts val="800"/>
      </a:spcBef>
      <a:spcAft>
        <a:spcPts val="200"/>
      </a:spcAft>
      <a:buFont typeface="Arial" pitchFamily="34" charset="0"/>
      <a:buChar char="•"/>
      <a:defRPr sz="1200" kern="1200">
        <a:solidFill>
          <a:schemeClr val="bg1">
            <a:lumMod val="50000"/>
          </a:schemeClr>
        </a:solidFill>
        <a:latin typeface="+mj-lt"/>
        <a:ea typeface="+mn-ea"/>
        <a:cs typeface="+mn-cs"/>
      </a:defRPr>
    </a:lvl1pPr>
    <a:lvl2pPr marL="228600" indent="-114300" algn="l" defTabSz="914400" rtl="0" eaLnBrk="1" latinLnBrk="0" hangingPunct="1">
      <a:lnSpc>
        <a:spcPct val="85000"/>
      </a:lnSpc>
      <a:spcAft>
        <a:spcPts val="200"/>
      </a:spcAft>
      <a:buFont typeface="Arial" pitchFamily="34" charset="0"/>
      <a:buChar char="•"/>
      <a:defRPr sz="1100" kern="1200">
        <a:solidFill>
          <a:schemeClr val="bg1">
            <a:lumMod val="50000"/>
          </a:schemeClr>
        </a:solidFill>
        <a:latin typeface="Franklin Gothic Book" pitchFamily="34" charset="0"/>
        <a:ea typeface="+mn-ea"/>
        <a:cs typeface="+mn-cs"/>
      </a:defRPr>
    </a:lvl2pPr>
    <a:lvl3pPr marL="342900" indent="-114300" algn="l" defTabSz="914400" rtl="0" eaLnBrk="1" latinLnBrk="0" hangingPunct="1">
      <a:lnSpc>
        <a:spcPct val="85000"/>
      </a:lnSpc>
      <a:spcAft>
        <a:spcPts val="200"/>
      </a:spcAft>
      <a:buFont typeface="Arial" pitchFamily="34" charset="0"/>
      <a:buChar char="•"/>
      <a:defRPr sz="1050" kern="1200">
        <a:solidFill>
          <a:schemeClr val="bg1">
            <a:lumMod val="50000"/>
          </a:schemeClr>
        </a:solidFill>
        <a:latin typeface="Franklin Gothic Book" pitchFamily="34" charset="0"/>
        <a:ea typeface="+mn-ea"/>
        <a:cs typeface="+mn-cs"/>
      </a:defRPr>
    </a:lvl3pPr>
    <a:lvl4pPr marL="457200" indent="-114300" algn="l" defTabSz="914400" rtl="0" eaLnBrk="1" latinLnBrk="0" hangingPunct="1">
      <a:lnSpc>
        <a:spcPct val="85000"/>
      </a:lnSpc>
      <a:spcAft>
        <a:spcPts val="200"/>
      </a:spcAft>
      <a:buFont typeface="Arial" pitchFamily="34" charset="0"/>
      <a:buChar char="•"/>
      <a:defRPr sz="1000" kern="1200">
        <a:solidFill>
          <a:schemeClr val="bg1">
            <a:lumMod val="50000"/>
          </a:schemeClr>
        </a:solidFill>
        <a:latin typeface="Franklin Gothic Book" pitchFamily="34" charset="0"/>
        <a:ea typeface="+mn-ea"/>
        <a:cs typeface="+mn-cs"/>
      </a:defRPr>
    </a:lvl4pPr>
    <a:lvl5pPr marL="571500" indent="-114300" algn="l" defTabSz="914400" rtl="0" eaLnBrk="1" latinLnBrk="0" hangingPunct="1">
      <a:lnSpc>
        <a:spcPct val="85000"/>
      </a:lnSpc>
      <a:spcAft>
        <a:spcPts val="200"/>
      </a:spcAft>
      <a:buFont typeface="Arial" pitchFamily="34" charset="0"/>
      <a:buChar char="•"/>
      <a:defRPr sz="900" kern="1200">
        <a:solidFill>
          <a:schemeClr val="bg1">
            <a:lumMod val="50000"/>
          </a:schemeClr>
        </a:solidFill>
        <a:latin typeface="Franklin Gothic Book"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Tree>
    <p:extLst>
      <p:ext uri="{BB962C8B-B14F-4D97-AF65-F5344CB8AC3E}">
        <p14:creationId xmlns:p14="http://schemas.microsoft.com/office/powerpoint/2010/main" val="38365461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ECAA11-15B1-0D4F-F2D5-2F94603FEF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1A1407-57CC-1F86-39C2-4461B395F3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1286BC-C9BE-2B34-60E1-8759064C7A0B}"/>
              </a:ext>
            </a:extLst>
          </p:cNvPr>
          <p:cNvSpPr>
            <a:spLocks noGrp="1"/>
          </p:cNvSpPr>
          <p:nvPr>
            <p:ph type="body" idx="1"/>
          </p:nvPr>
        </p:nvSpPr>
        <p:spPr/>
        <p:txBody>
          <a:bodyPr/>
          <a:lstStyle/>
          <a:p>
            <a:pPr marL="0" indent="0">
              <a:buNone/>
            </a:pPr>
            <a:endParaRPr lang="en-US" dirty="0"/>
          </a:p>
        </p:txBody>
      </p:sp>
    </p:spTree>
    <p:extLst>
      <p:ext uri="{BB962C8B-B14F-4D97-AF65-F5344CB8AC3E}">
        <p14:creationId xmlns:p14="http://schemas.microsoft.com/office/powerpoint/2010/main" val="6426010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511AAD-67E0-1C14-382D-74D6294709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42FEB9-DA4F-0259-C772-C2FCB74083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D1D345-FF4A-E815-0713-34BA3A2BBE7A}"/>
              </a:ext>
            </a:extLst>
          </p:cNvPr>
          <p:cNvSpPr>
            <a:spLocks noGrp="1"/>
          </p:cNvSpPr>
          <p:nvPr>
            <p:ph type="body" idx="1"/>
          </p:nvPr>
        </p:nvSpPr>
        <p:spPr/>
        <p:txBody>
          <a:bodyPr/>
          <a:lstStyle/>
          <a:p>
            <a:pPr marL="0" indent="0">
              <a:buNone/>
            </a:pPr>
            <a:endParaRPr lang="en-US" dirty="0"/>
          </a:p>
        </p:txBody>
      </p:sp>
    </p:spTree>
    <p:extLst>
      <p:ext uri="{BB962C8B-B14F-4D97-AF65-F5344CB8AC3E}">
        <p14:creationId xmlns:p14="http://schemas.microsoft.com/office/powerpoint/2010/main" val="41682880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2821E3-2D00-18B2-C87F-C2DA86C3E0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3918F6-899A-1B80-1698-BE2F8201EE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55F28C-921E-89B0-44FD-2EE3F7D3344F}"/>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0549422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3740919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8838212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9596CF-225D-3AAA-A375-744A5496DF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978B7F-2394-1F26-0269-4CA33E3B79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2CECF5-507B-960D-BF38-0325A3AADDA0}"/>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41881711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Tree>
    <p:extLst>
      <p:ext uri="{BB962C8B-B14F-4D97-AF65-F5344CB8AC3E}">
        <p14:creationId xmlns:p14="http://schemas.microsoft.com/office/powerpoint/2010/main" val="15500136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6078498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809790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5" name="Content Placeholder 2"/>
          <p:cNvSpPr>
            <a:spLocks noGrp="1"/>
          </p:cNvSpPr>
          <p:nvPr>
            <p:ph idx="1"/>
          </p:nvPr>
        </p:nvSpPr>
        <p:spPr>
          <a:xfrm>
            <a:off x="667206" y="1563624"/>
            <a:ext cx="7886700" cy="4351338"/>
          </a:xfrm>
        </p:spPr>
        <p:txBody>
          <a:bodyPr lIns="90000" tIns="46800" rIns="90000" bIns="46800"/>
          <a:lstStyle>
            <a:lvl1pPr marL="0" indent="0">
              <a:defRPr/>
            </a:lvl1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cxnSp>
        <p:nvCxnSpPr>
          <p:cNvPr id="6" name="Straight Connector 5"/>
          <p:cNvCxnSpPr/>
          <p:nvPr userDrawn="1"/>
        </p:nvCxnSpPr>
        <p:spPr>
          <a:xfrm>
            <a:off x="667206" y="6028201"/>
            <a:ext cx="7886700"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2E1D602-E6D3-287F-BDF1-1590533F5E98}"/>
              </a:ext>
            </a:extLst>
          </p:cNvPr>
          <p:cNvSpPr>
            <a:spLocks noGrp="1"/>
          </p:cNvSpPr>
          <p:nvPr>
            <p:ph type="title"/>
          </p:nvPr>
        </p:nvSpPr>
        <p:spPr/>
        <p:txBody>
          <a:bodyPr lIns="90000" tIns="46800" rIns="90000" bIns="46800"/>
          <a:lstStyle/>
          <a:p>
            <a:r>
              <a:rPr lang="en-GB"/>
              <a:t>Click to edit Master title style</a:t>
            </a:r>
            <a:endParaRPr lang="en-AU"/>
          </a:p>
        </p:txBody>
      </p:sp>
    </p:spTree>
    <p:extLst>
      <p:ext uri="{BB962C8B-B14F-4D97-AF65-F5344CB8AC3E}">
        <p14:creationId xmlns:p14="http://schemas.microsoft.com/office/powerpoint/2010/main" val="3871056751"/>
      </p:ext>
    </p:extLst>
  </p:cSld>
  <p:clrMapOvr>
    <a:masterClrMapping/>
  </p:clrMapOvr>
  <p:transition>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w/ subtitle">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43346" y="1131780"/>
            <a:ext cx="4078681" cy="339580"/>
          </a:xfrm>
          <a:noFill/>
          <a:extLst>
            <a:ext uri="{909E8E84-426E-40DD-AFC4-6F175D3DCCD1}">
              <a14:hiddenFill xmlns:a14="http://schemas.microsoft.com/office/drawing/2010/main">
                <a:solidFill>
                  <a:schemeClr val="tx1"/>
                </a:solidFill>
              </a14:hiddenFill>
            </a:ext>
          </a:extLst>
        </p:spPr>
        <p:txBody>
          <a:bodyPr wrap="none" lIns="91440" tIns="54864" rIns="91440" bIns="27432" anchor="ctr" anchorCtr="0">
            <a:spAutoFit/>
          </a:bodyPr>
          <a:lstStyle>
            <a:lvl1pPr marL="0" indent="30163">
              <a:buNone/>
              <a:defRPr sz="2000" b="0" cap="all" baseline="0">
                <a:solidFill>
                  <a:schemeClr val="tx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 name="Title 1">
            <a:extLst>
              <a:ext uri="{FF2B5EF4-FFF2-40B4-BE49-F238E27FC236}">
                <a16:creationId xmlns:a16="http://schemas.microsoft.com/office/drawing/2014/main" id="{B56F78BF-35A4-3081-DFF5-E5AB19F56946}"/>
              </a:ext>
            </a:extLst>
          </p:cNvPr>
          <p:cNvSpPr>
            <a:spLocks noGrp="1"/>
          </p:cNvSpPr>
          <p:nvPr>
            <p:ph type="title"/>
          </p:nvPr>
        </p:nvSpPr>
        <p:spPr/>
        <p:txBody>
          <a:bodyPr lIns="90000" tIns="46800" rIns="90000" bIns="46800"/>
          <a:lstStyle/>
          <a:p>
            <a:r>
              <a:rPr lang="en-GB"/>
              <a:t>Click to edit Master title style</a:t>
            </a:r>
            <a:endParaRPr lang="en-AU"/>
          </a:p>
        </p:txBody>
      </p:sp>
      <p:sp>
        <p:nvSpPr>
          <p:cNvPr id="5" name="Content Placeholder 4">
            <a:extLst>
              <a:ext uri="{FF2B5EF4-FFF2-40B4-BE49-F238E27FC236}">
                <a16:creationId xmlns:a16="http://schemas.microsoft.com/office/drawing/2014/main" id="{19A6FDB0-6825-28E1-A8DF-7915452569C8}"/>
              </a:ext>
            </a:extLst>
          </p:cNvPr>
          <p:cNvSpPr>
            <a:spLocks noGrp="1"/>
          </p:cNvSpPr>
          <p:nvPr>
            <p:ph sz="quarter" idx="10"/>
          </p:nvPr>
        </p:nvSpPr>
        <p:spPr>
          <a:xfrm>
            <a:off x="667206" y="1563624"/>
            <a:ext cx="7886700" cy="4351338"/>
          </a:xfrm>
        </p:spPr>
        <p:txBody>
          <a:bodyPr lIns="90000" tIns="46800" rIns="90000" bIns="4680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Tree>
    <p:extLst>
      <p:ext uri="{BB962C8B-B14F-4D97-AF65-F5344CB8AC3E}">
        <p14:creationId xmlns:p14="http://schemas.microsoft.com/office/powerpoint/2010/main" val="257601623"/>
      </p:ext>
    </p:extLst>
  </p:cSld>
  <p:clrMapOvr>
    <a:masterClrMapping/>
  </p:clrMapOvr>
  <p:transition>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w/ subtitle / No content">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43346" y="1131780"/>
            <a:ext cx="4078681" cy="339580"/>
          </a:xfrm>
          <a:noFill/>
          <a:extLst>
            <a:ext uri="{909E8E84-426E-40DD-AFC4-6F175D3DCCD1}">
              <a14:hiddenFill xmlns:a14="http://schemas.microsoft.com/office/drawing/2010/main">
                <a:solidFill>
                  <a:schemeClr val="tx1"/>
                </a:solidFill>
              </a14:hiddenFill>
            </a:ext>
          </a:extLst>
        </p:spPr>
        <p:txBody>
          <a:bodyPr wrap="none" lIns="91440" tIns="54864" rIns="91440" bIns="27432" anchor="ctr" anchorCtr="0">
            <a:spAutoFit/>
          </a:bodyPr>
          <a:lstStyle>
            <a:lvl1pPr marL="0" indent="30163">
              <a:buNone/>
              <a:defRPr sz="2000" b="0" cap="all" baseline="0">
                <a:solidFill>
                  <a:schemeClr val="tx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 name="Title 1">
            <a:extLst>
              <a:ext uri="{FF2B5EF4-FFF2-40B4-BE49-F238E27FC236}">
                <a16:creationId xmlns:a16="http://schemas.microsoft.com/office/drawing/2014/main" id="{141BF334-483B-6FE4-0F38-83A536CA8221}"/>
              </a:ext>
            </a:extLst>
          </p:cNvPr>
          <p:cNvSpPr>
            <a:spLocks noGrp="1"/>
          </p:cNvSpPr>
          <p:nvPr>
            <p:ph type="title"/>
          </p:nvPr>
        </p:nvSpPr>
        <p:spPr/>
        <p:txBody>
          <a:bodyPr lIns="90000" tIns="46800" rIns="90000" bIns="46800"/>
          <a:lstStyle/>
          <a:p>
            <a:r>
              <a:rPr lang="en-GB"/>
              <a:t>Click to edit Master title style</a:t>
            </a:r>
            <a:endParaRPr lang="en-AU"/>
          </a:p>
        </p:txBody>
      </p:sp>
    </p:spTree>
    <p:extLst>
      <p:ext uri="{BB962C8B-B14F-4D97-AF65-F5344CB8AC3E}">
        <p14:creationId xmlns:p14="http://schemas.microsoft.com/office/powerpoint/2010/main" val="1856869871"/>
      </p:ext>
    </p:extLst>
  </p:cSld>
  <p:clrMapOvr>
    <a:masterClrMapping/>
  </p:clrMapOvr>
  <p:transition>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9D621-28AC-08F3-3820-2A4652A1A214}"/>
              </a:ext>
            </a:extLst>
          </p:cNvPr>
          <p:cNvSpPr>
            <a:spLocks noGrp="1"/>
          </p:cNvSpPr>
          <p:nvPr>
            <p:ph type="title"/>
          </p:nvPr>
        </p:nvSpPr>
        <p:spPr/>
        <p:txBody>
          <a:bodyPr lIns="90000" tIns="46800" rIns="90000" bIns="46800"/>
          <a:lstStyle/>
          <a:p>
            <a:r>
              <a:rPr lang="en-GB"/>
              <a:t>Click to edit Master title style</a:t>
            </a:r>
            <a:endParaRPr lang="en-AU"/>
          </a:p>
        </p:txBody>
      </p:sp>
    </p:spTree>
    <p:extLst>
      <p:ext uri="{BB962C8B-B14F-4D97-AF65-F5344CB8AC3E}">
        <p14:creationId xmlns:p14="http://schemas.microsoft.com/office/powerpoint/2010/main" val="426708106"/>
      </p:ext>
    </p:extLst>
  </p:cSld>
  <p:clrMapOvr>
    <a:masterClrMapping/>
  </p:clrMapOvr>
  <p:transition>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208957467"/>
      </p:ext>
    </p:extLst>
  </p:cSld>
  <p:clrMapOvr>
    <a:masterClrMapping/>
  </p:clrMapOvr>
  <p:transition>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in progress">
    <p:spTree>
      <p:nvGrpSpPr>
        <p:cNvPr id="1" name=""/>
        <p:cNvGrpSpPr/>
        <p:nvPr/>
      </p:nvGrpSpPr>
      <p:grpSpPr>
        <a:xfrm>
          <a:off x="0" y="0"/>
          <a:ext cx="0" cy="0"/>
          <a:chOff x="0" y="0"/>
          <a:chExt cx="0" cy="0"/>
        </a:xfrm>
      </p:grpSpPr>
      <p:sp>
        <p:nvSpPr>
          <p:cNvPr id="2" name="Rectangle 1"/>
          <p:cNvSpPr/>
          <p:nvPr userDrawn="1"/>
        </p:nvSpPr>
        <p:spPr>
          <a:xfrm>
            <a:off x="0" y="0"/>
            <a:ext cx="9144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39880042"/>
      </p:ext>
    </p:extLst>
  </p:cSld>
  <p:clrMapOvr>
    <a:masterClrMapping/>
  </p:clrMapOvr>
  <p:transition>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gue Slide">
    <p:spTree>
      <p:nvGrpSpPr>
        <p:cNvPr id="1" name=""/>
        <p:cNvGrpSpPr/>
        <p:nvPr/>
      </p:nvGrpSpPr>
      <p:grpSpPr>
        <a:xfrm>
          <a:off x="0" y="0"/>
          <a:ext cx="0" cy="0"/>
          <a:chOff x="0" y="0"/>
          <a:chExt cx="0" cy="0"/>
        </a:xfrm>
      </p:grpSpPr>
      <p:sp>
        <p:nvSpPr>
          <p:cNvPr id="4" name="Title Placeholder 1"/>
          <p:cNvSpPr>
            <a:spLocks noGrp="1"/>
          </p:cNvSpPr>
          <p:nvPr>
            <p:ph type="title" hasCustomPrompt="1"/>
          </p:nvPr>
        </p:nvSpPr>
        <p:spPr>
          <a:xfrm>
            <a:off x="644814" y="4294202"/>
            <a:ext cx="7886700" cy="507062"/>
          </a:xfrm>
          <a:prstGeom prst="rect">
            <a:avLst/>
          </a:prstGeom>
        </p:spPr>
        <p:txBody>
          <a:bodyPr vert="horz" lIns="90000" tIns="46800" rIns="90000" bIns="46800" rtlCol="0" anchor="t" anchorCtr="0">
            <a:noAutofit/>
          </a:bodyPr>
          <a:lstStyle>
            <a:lvl1pPr>
              <a:defRPr sz="3600">
                <a:solidFill>
                  <a:schemeClr val="accent1"/>
                </a:solidFill>
              </a:defRPr>
            </a:lvl1pPr>
          </a:lstStyle>
          <a:p>
            <a:pPr marL="0" lvl="0" indent="0" algn="l" defTabSz="914400" rtl="0" eaLnBrk="1" latinLnBrk="0" hangingPunct="1">
              <a:lnSpc>
                <a:spcPct val="95000"/>
              </a:lnSpc>
              <a:spcBef>
                <a:spcPts val="0"/>
              </a:spcBef>
              <a:spcAft>
                <a:spcPts val="0"/>
              </a:spcAft>
              <a:buFont typeface="Franklin Gothic Book" pitchFamily="34" charset="0"/>
              <a:buNone/>
            </a:pPr>
            <a:r>
              <a:rPr lang="en-US" dirty="0"/>
              <a:t>Click to edit segue slide</a:t>
            </a:r>
          </a:p>
        </p:txBody>
      </p:sp>
    </p:spTree>
    <p:extLst>
      <p:ext uri="{BB962C8B-B14F-4D97-AF65-F5344CB8AC3E}">
        <p14:creationId xmlns:p14="http://schemas.microsoft.com/office/powerpoint/2010/main" val="1812724873"/>
      </p:ext>
    </p:extLst>
  </p:cSld>
  <p:clrMapOvr>
    <a:masterClrMapping/>
  </p:clrMapOvr>
  <p:transition>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Title Placeholder 1"/>
          <p:cNvSpPr>
            <a:spLocks noGrp="1"/>
          </p:cNvSpPr>
          <p:nvPr>
            <p:ph type="title" hasCustomPrompt="1"/>
          </p:nvPr>
        </p:nvSpPr>
        <p:spPr>
          <a:xfrm>
            <a:off x="644814" y="4294202"/>
            <a:ext cx="7886700" cy="507062"/>
          </a:xfrm>
          <a:prstGeom prst="rect">
            <a:avLst/>
          </a:prstGeom>
        </p:spPr>
        <p:txBody>
          <a:bodyPr vert="horz" wrap="none" lIns="91440" tIns="45720" rIns="91440" bIns="45720" rtlCol="0" anchor="t" anchorCtr="0">
            <a:noAutofit/>
          </a:bodyPr>
          <a:lstStyle>
            <a:lvl1pPr>
              <a:defRPr sz="3600">
                <a:solidFill>
                  <a:schemeClr val="accent1"/>
                </a:solidFill>
              </a:defRPr>
            </a:lvl1pPr>
          </a:lstStyle>
          <a:p>
            <a:pPr marL="0" lvl="0" indent="0" algn="l" defTabSz="914400" rtl="0" eaLnBrk="1" latinLnBrk="0" hangingPunct="1">
              <a:lnSpc>
                <a:spcPct val="95000"/>
              </a:lnSpc>
              <a:spcBef>
                <a:spcPts val="0"/>
              </a:spcBef>
              <a:spcAft>
                <a:spcPts val="0"/>
              </a:spcAft>
              <a:buFont typeface="Franklin Gothic Book" pitchFamily="34" charset="0"/>
              <a:buNone/>
            </a:pPr>
            <a:r>
              <a:rPr lang="en-US" dirty="0"/>
              <a:t>Click to edit title</a:t>
            </a:r>
          </a:p>
        </p:txBody>
      </p:sp>
      <p:pic>
        <p:nvPicPr>
          <p:cNvPr id="6" name="Picture 5"/>
          <p:cNvPicPr>
            <a:picLocks noChangeAspect="1"/>
          </p:cNvPicPr>
          <p:nvPr userDrawn="1"/>
        </p:nvPicPr>
        <p:blipFill rotWithShape="1">
          <a:blip r:embed="rId2">
            <a:extLst>
              <a:ext uri="{28A0092B-C50C-407E-A947-70E740481C1C}">
                <a14:useLocalDpi xmlns:a14="http://schemas.microsoft.com/office/drawing/2010/main" val="0"/>
              </a:ext>
            </a:extLst>
          </a:blip>
          <a:srcRect b="41382"/>
          <a:stretch/>
        </p:blipFill>
        <p:spPr>
          <a:xfrm>
            <a:off x="0" y="0"/>
            <a:ext cx="9144000" cy="4020065"/>
          </a:xfrm>
          <a:prstGeom prst="rect">
            <a:avLst/>
          </a:prstGeom>
        </p:spPr>
      </p:pic>
      <p:sp>
        <p:nvSpPr>
          <p:cNvPr id="11" name="Text Placeholder 2"/>
          <p:cNvSpPr>
            <a:spLocks noGrp="1"/>
          </p:cNvSpPr>
          <p:nvPr>
            <p:ph type="body" idx="10" hasCustomPrompt="1"/>
          </p:nvPr>
        </p:nvSpPr>
        <p:spPr>
          <a:xfrm>
            <a:off x="643346" y="4797196"/>
            <a:ext cx="1206099" cy="360099"/>
          </a:xfrm>
          <a:noFill/>
        </p:spPr>
        <p:txBody>
          <a:bodyPr wrap="none" lIns="91440" tIns="54864" rIns="91440" bIns="27432" anchor="ctr" anchorCtr="0">
            <a:spAutoFit/>
          </a:bodyPr>
          <a:lstStyle>
            <a:lvl1pPr marL="0" indent="30163">
              <a:buNone/>
              <a:defRPr lang="en-US" sz="2000" kern="1200" cap="all" baseline="0" dirty="0" smtClean="0">
                <a:solidFill>
                  <a:schemeClr val="accent1"/>
                </a:solidFill>
                <a:latin typeface="Roboto Condensed" panose="02000000000000000000" pitchFamily="2" charset="0"/>
                <a:ea typeface="Roboto Condensed" panose="02000000000000000000" pitchFamily="2" charset="0"/>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12" name="Text Placeholder 2"/>
          <p:cNvSpPr>
            <a:spLocks noGrp="1"/>
          </p:cNvSpPr>
          <p:nvPr>
            <p:ph type="body" idx="11" hasCustomPrompt="1"/>
          </p:nvPr>
        </p:nvSpPr>
        <p:spPr>
          <a:xfrm>
            <a:off x="643346" y="5369651"/>
            <a:ext cx="2121415" cy="360099"/>
          </a:xfrm>
          <a:solidFill>
            <a:schemeClr val="tx1"/>
          </a:solidFill>
        </p:spPr>
        <p:txBody>
          <a:bodyPr wrap="none" lIns="91440" tIns="54864" rIns="91440" bIns="27432" anchor="ctr" anchorCtr="0">
            <a:spAutoFit/>
          </a:bodyPr>
          <a:lstStyle>
            <a:lvl1pPr marL="0" indent="30163">
              <a:buNone/>
              <a:defRPr sz="2000" b="0" cap="all" baseline="0">
                <a:solidFill>
                  <a:schemeClr val="bg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Presenter name</a:t>
            </a:r>
          </a:p>
        </p:txBody>
      </p:sp>
      <p:sp>
        <p:nvSpPr>
          <p:cNvPr id="2" name="Rectangle 1"/>
          <p:cNvSpPr/>
          <p:nvPr userDrawn="1"/>
        </p:nvSpPr>
        <p:spPr>
          <a:xfrm>
            <a:off x="215590" y="6504878"/>
            <a:ext cx="215590" cy="215590"/>
          </a:xfrm>
          <a:prstGeom prst="rect">
            <a:avLst/>
          </a:prstGeom>
          <a:solidFill>
            <a:srgbClr val="EFE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p:cNvSpPr/>
          <p:nvPr userDrawn="1"/>
        </p:nvSpPr>
        <p:spPr>
          <a:xfrm>
            <a:off x="6753225" y="6162675"/>
            <a:ext cx="2390775" cy="695325"/>
          </a:xfrm>
          <a:prstGeom prst="rect">
            <a:avLst/>
          </a:prstGeom>
          <a:solidFill>
            <a:srgbClr val="EFE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87922317"/>
      </p:ext>
    </p:extLst>
  </p:cSld>
  <p:clrMapOvr>
    <a:masterClrMapping/>
  </p:clrMapOvr>
  <p:transition>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Title Placeholder 1"/>
          <p:cNvSpPr>
            <a:spLocks noGrp="1"/>
          </p:cNvSpPr>
          <p:nvPr>
            <p:ph type="title" hasCustomPrompt="1"/>
          </p:nvPr>
        </p:nvSpPr>
        <p:spPr>
          <a:xfrm>
            <a:off x="644814" y="4294202"/>
            <a:ext cx="7886700" cy="507062"/>
          </a:xfrm>
          <a:prstGeom prst="rect">
            <a:avLst/>
          </a:prstGeom>
        </p:spPr>
        <p:txBody>
          <a:bodyPr vert="horz" lIns="91440" tIns="45720" rIns="91440" bIns="45720" rtlCol="0" anchor="t" anchorCtr="0">
            <a:noAutofit/>
          </a:bodyPr>
          <a:lstStyle>
            <a:lvl1pPr>
              <a:defRPr sz="3600">
                <a:solidFill>
                  <a:schemeClr val="accent1"/>
                </a:solidFill>
              </a:defRPr>
            </a:lvl1pPr>
          </a:lstStyle>
          <a:p>
            <a:pPr marL="0" lvl="0" indent="0" algn="l" defTabSz="914400" rtl="0" eaLnBrk="1" latinLnBrk="0" hangingPunct="1">
              <a:lnSpc>
                <a:spcPct val="95000"/>
              </a:lnSpc>
              <a:spcBef>
                <a:spcPts val="0"/>
              </a:spcBef>
              <a:spcAft>
                <a:spcPts val="0"/>
              </a:spcAft>
              <a:buFont typeface="Franklin Gothic Book" pitchFamily="34" charset="0"/>
              <a:buNone/>
            </a:pPr>
            <a:r>
              <a:rPr lang="en-US"/>
              <a:t>Click to edit title</a:t>
            </a:r>
          </a:p>
        </p:txBody>
      </p:sp>
      <p:sp>
        <p:nvSpPr>
          <p:cNvPr id="11" name="Text Placeholder 2"/>
          <p:cNvSpPr>
            <a:spLocks noGrp="1"/>
          </p:cNvSpPr>
          <p:nvPr>
            <p:ph type="body" idx="10" hasCustomPrompt="1"/>
          </p:nvPr>
        </p:nvSpPr>
        <p:spPr>
          <a:xfrm>
            <a:off x="643346" y="4797196"/>
            <a:ext cx="1206099" cy="360099"/>
          </a:xfrm>
          <a:noFill/>
        </p:spPr>
        <p:txBody>
          <a:bodyPr wrap="none" lIns="91440" tIns="54864" rIns="91440" bIns="27432" anchor="ctr" anchorCtr="0">
            <a:spAutoFit/>
          </a:bodyPr>
          <a:lstStyle>
            <a:lvl1pPr marL="0" indent="30163">
              <a:buNone/>
              <a:defRPr lang="en-US" sz="2000" kern="1200" cap="all" baseline="0" dirty="0" smtClean="0">
                <a:solidFill>
                  <a:schemeClr val="accent1"/>
                </a:solidFill>
                <a:latin typeface="Roboto Condensed" panose="02000000000000000000" pitchFamily="2" charset="0"/>
                <a:ea typeface="Roboto Condensed" panose="02000000000000000000" pitchFamily="2" charset="0"/>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subtitle</a:t>
            </a:r>
          </a:p>
        </p:txBody>
      </p:sp>
      <p:sp>
        <p:nvSpPr>
          <p:cNvPr id="2" name="Rectangle 1"/>
          <p:cNvSpPr/>
          <p:nvPr userDrawn="1"/>
        </p:nvSpPr>
        <p:spPr>
          <a:xfrm>
            <a:off x="215590" y="6504878"/>
            <a:ext cx="215590" cy="215590"/>
          </a:xfrm>
          <a:prstGeom prst="rect">
            <a:avLst/>
          </a:prstGeom>
          <a:solidFill>
            <a:srgbClr val="EFE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p:cNvSpPr/>
          <p:nvPr userDrawn="1"/>
        </p:nvSpPr>
        <p:spPr>
          <a:xfrm>
            <a:off x="6753225" y="6162675"/>
            <a:ext cx="2390775" cy="695325"/>
          </a:xfrm>
          <a:prstGeom prst="rect">
            <a:avLst/>
          </a:prstGeom>
          <a:solidFill>
            <a:srgbClr val="EFE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userDrawn="1"/>
        </p:nvSpPr>
        <p:spPr>
          <a:xfrm>
            <a:off x="643346" y="5962650"/>
            <a:ext cx="8119654" cy="200025"/>
          </a:xfrm>
          <a:prstGeom prst="rect">
            <a:avLst/>
          </a:prstGeom>
          <a:solidFill>
            <a:srgbClr val="EFE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43485811"/>
      </p:ext>
    </p:extLst>
  </p:cSld>
  <p:clrMapOvr>
    <a:masterClrMapping/>
  </p:clrMapOvr>
  <p:transition>
    <p:wipe dir="r"/>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 Id="rId11" Type="http://schemas.openxmlformats.org/officeDocument/2006/relationships/tags" Target="../tags/tag2.xml"/><Relationship Id="rId12" Type="http://schemas.openxmlformats.org/officeDocument/2006/relationships/tags" Target="../tags/tag3.xml"/><Relationship Id="rId13" Type="http://schemas.openxmlformats.org/officeDocument/2006/relationships/oleObject" Target="../embeddings/oleObject1.bin"/><Relationship Id="rId14" Type="http://schemas.openxmlformats.org/officeDocument/2006/relationships/image" Target="../media/image1.emf"/><Relationship Id="rId15"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EFEFEF"/>
        </a:solidFill>
        <a:effectLst/>
      </p:bgPr>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A81606ED-AF49-4B05-ACE5-47BA3BD8A06B}"/>
              </a:ext>
            </a:extLst>
          </p:cNvPr>
          <p:cNvGraphicFramePr>
            <a:graphicFrameLocks noChangeAspect="1"/>
          </p:cNvGraphicFramePr>
          <p:nvPr userDrawn="1">
            <p:custDataLst>
              <p:tags r:id="rId11"/>
            </p:custDataLst>
            <p:extLst>
              <p:ext uri="{D42A27DB-BD31-4B8C-83A1-F6EECF244321}">
                <p14:modId xmlns:p14="http://schemas.microsoft.com/office/powerpoint/2010/main" val="386000289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3" imgW="395" imgH="396" progId="TCLayout.ActiveDocument.1">
                  <p:embed/>
                </p:oleObj>
              </mc:Choice>
              <mc:Fallback>
                <p:oleObj name="think-cell Slide" r:id="rId13" imgW="395" imgH="396" progId="TCLayout.ActiveDocument.1">
                  <p:embed/>
                  <p:pic>
                    <p:nvPicPr>
                      <p:cNvPr id="6" name="Object 5" hidden="1">
                        <a:extLst>
                          <a:ext uri="{FF2B5EF4-FFF2-40B4-BE49-F238E27FC236}">
                            <a16:creationId xmlns:a16="http://schemas.microsoft.com/office/drawing/2014/main" id="{A81606ED-AF49-4B05-ACE5-47BA3BD8A06B}"/>
                          </a:ext>
                        </a:extLst>
                      </p:cNvPr>
                      <p:cNvPicPr/>
                      <p:nvPr/>
                    </p:nvPicPr>
                    <p:blipFill>
                      <a:blip r:embed="rId14"/>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1839BEB3-C7FB-4672-8581-204CE981796F}"/>
              </a:ext>
            </a:extLst>
          </p:cNvPr>
          <p:cNvSpPr/>
          <p:nvPr userDrawn="1">
            <p:custDataLst>
              <p:tags r:id="rId12"/>
            </p:custDataLst>
          </p:nvPr>
        </p:nvSpPr>
        <p:spPr>
          <a:xfrm>
            <a:off x="0" y="0"/>
            <a:ext cx="158750" cy="1587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n-US" sz="2800" b="0" i="0" baseline="0" dirty="0">
              <a:latin typeface="Roboto Condensed" panose="02000000000000000000"/>
              <a:cs typeface="+mn-cs"/>
              <a:sym typeface="Roboto Condensed" panose="02000000000000000000"/>
            </a:endParaRPr>
          </a:p>
        </p:txBody>
      </p:sp>
      <p:sp>
        <p:nvSpPr>
          <p:cNvPr id="2" name="Title Placeholder 1"/>
          <p:cNvSpPr>
            <a:spLocks noGrp="1"/>
          </p:cNvSpPr>
          <p:nvPr>
            <p:ph type="title"/>
          </p:nvPr>
        </p:nvSpPr>
        <p:spPr>
          <a:xfrm>
            <a:off x="667206" y="539564"/>
            <a:ext cx="7886700" cy="507062"/>
          </a:xfrm>
          <a:prstGeom prst="rect">
            <a:avLst/>
          </a:prstGeom>
        </p:spPr>
        <p:txBody>
          <a:bodyPr vert="horz" wrap="square" lIns="90000" tIns="46800" rIns="90000" bIns="46800" rtlCol="0" anchor="b" anchorCtr="0">
            <a:noAutofit/>
          </a:bodyPr>
          <a:lstStyle/>
          <a:p>
            <a:pPr marL="0" lvl="0" indent="0" algn="l" defTabSz="914400" rtl="0" eaLnBrk="1" latinLnBrk="0" hangingPunct="1">
              <a:lnSpc>
                <a:spcPct val="95000"/>
              </a:lnSpc>
              <a:spcBef>
                <a:spcPts val="0"/>
              </a:spcBef>
              <a:spcAft>
                <a:spcPts val="0"/>
              </a:spcAft>
              <a:buFont typeface="Franklin Gothic Book" pitchFamily="34" charset="0"/>
              <a:buNone/>
            </a:pPr>
            <a:r>
              <a:rPr lang="en-GB"/>
              <a:t>Click to edit Master title style</a:t>
            </a:r>
            <a:endParaRPr lang="en-US" dirty="0"/>
          </a:p>
        </p:txBody>
      </p:sp>
      <p:sp>
        <p:nvSpPr>
          <p:cNvPr id="3" name="Text Placeholder 2"/>
          <p:cNvSpPr>
            <a:spLocks noGrp="1"/>
          </p:cNvSpPr>
          <p:nvPr>
            <p:ph type="body" idx="1"/>
          </p:nvPr>
        </p:nvSpPr>
        <p:spPr>
          <a:xfrm>
            <a:off x="667206" y="1563624"/>
            <a:ext cx="7886700" cy="4351338"/>
          </a:xfrm>
          <a:prstGeom prst="rect">
            <a:avLst/>
          </a:prstGeom>
        </p:spPr>
        <p:txBody>
          <a:bodyPr vert="horz" lIns="90000" tIns="46800" rIns="90000" bIns="4680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grpSp>
        <p:nvGrpSpPr>
          <p:cNvPr id="11" name="Group 10"/>
          <p:cNvGrpSpPr/>
          <p:nvPr userDrawn="1"/>
        </p:nvGrpSpPr>
        <p:grpSpPr>
          <a:xfrm>
            <a:off x="644085" y="-781729"/>
            <a:ext cx="0" cy="8421458"/>
            <a:chOff x="644085" y="-803492"/>
            <a:chExt cx="0" cy="8421458"/>
          </a:xfrm>
        </p:grpSpPr>
        <p:cxnSp>
          <p:nvCxnSpPr>
            <p:cNvPr id="12" name="Straight Connector 11"/>
            <p:cNvCxnSpPr/>
            <p:nvPr userDrawn="1"/>
          </p:nvCxnSpPr>
          <p:spPr>
            <a:xfrm>
              <a:off x="644085" y="-803492"/>
              <a:ext cx="0" cy="681837"/>
            </a:xfrm>
            <a:prstGeom prst="line">
              <a:avLst/>
            </a:prstGeom>
            <a:ln w="6350">
              <a:solidFill>
                <a:schemeClr val="accent6"/>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userDrawn="1"/>
          </p:nvCxnSpPr>
          <p:spPr>
            <a:xfrm>
              <a:off x="644085" y="6934200"/>
              <a:ext cx="0" cy="683766"/>
            </a:xfrm>
            <a:prstGeom prst="line">
              <a:avLst/>
            </a:prstGeom>
            <a:ln w="6350">
              <a:solidFill>
                <a:schemeClr val="accent6"/>
              </a:solidFill>
              <a:prstDash val="sysDot"/>
            </a:ln>
          </p:spPr>
          <p:style>
            <a:lnRef idx="1">
              <a:schemeClr val="accent1"/>
            </a:lnRef>
            <a:fillRef idx="0">
              <a:schemeClr val="accent1"/>
            </a:fillRef>
            <a:effectRef idx="0">
              <a:schemeClr val="accent1"/>
            </a:effectRef>
            <a:fontRef idx="minor">
              <a:schemeClr val="tx1"/>
            </a:fontRef>
          </p:style>
        </p:cxnSp>
      </p:grpSp>
      <p:grpSp>
        <p:nvGrpSpPr>
          <p:cNvPr id="14" name="Group 13"/>
          <p:cNvGrpSpPr/>
          <p:nvPr userDrawn="1"/>
        </p:nvGrpSpPr>
        <p:grpSpPr>
          <a:xfrm>
            <a:off x="772628" y="-781729"/>
            <a:ext cx="0" cy="8421458"/>
            <a:chOff x="644085" y="-803492"/>
            <a:chExt cx="0" cy="8421458"/>
          </a:xfrm>
        </p:grpSpPr>
        <p:cxnSp>
          <p:nvCxnSpPr>
            <p:cNvPr id="15" name="Straight Connector 14"/>
            <p:cNvCxnSpPr/>
            <p:nvPr userDrawn="1"/>
          </p:nvCxnSpPr>
          <p:spPr>
            <a:xfrm>
              <a:off x="644085" y="-803492"/>
              <a:ext cx="0" cy="681837"/>
            </a:xfrm>
            <a:prstGeom prst="line">
              <a:avLst/>
            </a:prstGeom>
            <a:ln w="6350">
              <a:solidFill>
                <a:schemeClr val="accent6"/>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userDrawn="1"/>
          </p:nvCxnSpPr>
          <p:spPr>
            <a:xfrm>
              <a:off x="644085" y="6934200"/>
              <a:ext cx="0" cy="683766"/>
            </a:xfrm>
            <a:prstGeom prst="line">
              <a:avLst/>
            </a:prstGeom>
            <a:ln w="6350">
              <a:solidFill>
                <a:schemeClr val="accent6"/>
              </a:solidFill>
              <a:prstDash val="sysDot"/>
            </a:ln>
          </p:spPr>
          <p:style>
            <a:lnRef idx="1">
              <a:schemeClr val="accent1"/>
            </a:lnRef>
            <a:fillRef idx="0">
              <a:schemeClr val="accent1"/>
            </a:fillRef>
            <a:effectRef idx="0">
              <a:schemeClr val="accent1"/>
            </a:effectRef>
            <a:fontRef idx="minor">
              <a:schemeClr val="tx1"/>
            </a:fontRef>
          </p:style>
        </p:cxnSp>
      </p:grpSp>
      <p:sp>
        <p:nvSpPr>
          <p:cNvPr id="26" name="Rectangle 25"/>
          <p:cNvSpPr/>
          <p:nvPr userDrawn="1"/>
        </p:nvSpPr>
        <p:spPr>
          <a:xfrm>
            <a:off x="644085" y="0"/>
            <a:ext cx="8499915" cy="125729"/>
          </a:xfrm>
          <a:prstGeom prst="rect">
            <a:avLst/>
          </a:prstGeom>
          <a:solidFill>
            <a:srgbClr val="DCDCDC"/>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95000"/>
              </a:lnSpc>
            </a:pPr>
            <a:endParaRPr lang="en-US" sz="2000" dirty="0">
              <a:latin typeface="+mj-lt"/>
            </a:endParaRPr>
          </a:p>
        </p:txBody>
      </p:sp>
      <p:cxnSp>
        <p:nvCxnSpPr>
          <p:cNvPr id="5" name="Straight Connector 4"/>
          <p:cNvCxnSpPr/>
          <p:nvPr userDrawn="1"/>
        </p:nvCxnSpPr>
        <p:spPr>
          <a:xfrm flipH="1">
            <a:off x="-2012640" y="653143"/>
            <a:ext cx="1856845" cy="0"/>
          </a:xfrm>
          <a:prstGeom prst="line">
            <a:avLst/>
          </a:prstGeom>
          <a:ln w="6350">
            <a:solidFill>
              <a:schemeClr val="accent6"/>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userDrawn="1"/>
        </p:nvCxnSpPr>
        <p:spPr>
          <a:xfrm flipH="1">
            <a:off x="-2012640" y="1291338"/>
            <a:ext cx="1856845" cy="0"/>
          </a:xfrm>
          <a:prstGeom prst="line">
            <a:avLst/>
          </a:prstGeom>
          <a:ln w="6350">
            <a:solidFill>
              <a:schemeClr val="accent6"/>
            </a:solidFill>
            <a:prstDash val="sysDot"/>
          </a:ln>
        </p:spPr>
        <p:style>
          <a:lnRef idx="1">
            <a:schemeClr val="accent1"/>
          </a:lnRef>
          <a:fillRef idx="0">
            <a:schemeClr val="accent1"/>
          </a:fillRef>
          <a:effectRef idx="0">
            <a:schemeClr val="accent1"/>
          </a:effectRef>
          <a:fontRef idx="minor">
            <a:schemeClr val="tx1"/>
          </a:fontRef>
        </p:style>
      </p:cxnSp>
      <p:sp>
        <p:nvSpPr>
          <p:cNvPr id="19" name="TextBox 18"/>
          <p:cNvSpPr txBox="1"/>
          <p:nvPr userDrawn="1"/>
        </p:nvSpPr>
        <p:spPr>
          <a:xfrm>
            <a:off x="7250664" y="6542565"/>
            <a:ext cx="1282402" cy="92333"/>
          </a:xfrm>
          <a:prstGeom prst="rect">
            <a:avLst/>
          </a:prstGeom>
          <a:noFill/>
        </p:spPr>
        <p:txBody>
          <a:bodyPr wrap="none" lIns="0" tIns="0" rIns="0" bIns="0" rtlCol="0">
            <a:spAutoFit/>
          </a:bodyPr>
          <a:lstStyle/>
          <a:p>
            <a:r>
              <a:rPr lang="en-US" sz="600" b="0" i="0" kern="1200" dirty="0">
                <a:solidFill>
                  <a:schemeClr val="accent6"/>
                </a:solidFill>
                <a:effectLst/>
                <a:latin typeface="Roboto Medium" panose="02000000000000000000" pitchFamily="2" charset="0"/>
                <a:ea typeface="Roboto Medium" panose="02000000000000000000" pitchFamily="2" charset="0"/>
                <a:cs typeface="+mn-cs"/>
              </a:rPr>
              <a:t>2019 WestBridge Capital</a:t>
            </a:r>
            <a:r>
              <a:rPr lang="en-US" sz="600" b="0" i="0" kern="1200" baseline="0" dirty="0">
                <a:solidFill>
                  <a:schemeClr val="accent6"/>
                </a:solidFill>
                <a:effectLst/>
                <a:latin typeface="Roboto Medium" panose="02000000000000000000" pitchFamily="2" charset="0"/>
                <a:ea typeface="Roboto Medium" panose="02000000000000000000" pitchFamily="2" charset="0"/>
                <a:cs typeface="+mn-cs"/>
              </a:rPr>
              <a:t> </a:t>
            </a:r>
            <a:r>
              <a:rPr lang="en-US" sz="600" b="0" i="0" kern="1200" dirty="0">
                <a:solidFill>
                  <a:schemeClr val="accent6"/>
                </a:solidFill>
                <a:effectLst/>
                <a:latin typeface="Roboto Medium" panose="02000000000000000000" pitchFamily="2" charset="0"/>
                <a:ea typeface="Roboto Medium" panose="02000000000000000000" pitchFamily="2" charset="0"/>
                <a:cs typeface="+mn-cs"/>
              </a:rPr>
              <a:t>Confidential</a:t>
            </a:r>
            <a:endParaRPr lang="en-US" sz="100" i="0" dirty="0">
              <a:solidFill>
                <a:schemeClr val="accent6"/>
              </a:solidFill>
              <a:latin typeface="Roboto Medium" panose="02000000000000000000" pitchFamily="2" charset="0"/>
              <a:ea typeface="Roboto Medium" panose="02000000000000000000" pitchFamily="2" charset="0"/>
            </a:endParaRPr>
          </a:p>
        </p:txBody>
      </p:sp>
      <p:sp>
        <p:nvSpPr>
          <p:cNvPr id="17" name="TextBox 16"/>
          <p:cNvSpPr txBox="1"/>
          <p:nvPr userDrawn="1"/>
        </p:nvSpPr>
        <p:spPr>
          <a:xfrm>
            <a:off x="8778944" y="6542565"/>
            <a:ext cx="92975" cy="92333"/>
          </a:xfrm>
          <a:prstGeom prst="rect">
            <a:avLst/>
          </a:prstGeom>
          <a:noFill/>
        </p:spPr>
        <p:txBody>
          <a:bodyPr wrap="none" lIns="0" tIns="0" rIns="0" bIns="0" rtlCol="0">
            <a:spAutoFit/>
          </a:bodyPr>
          <a:lstStyle/>
          <a:p>
            <a:pPr algn="ctr"/>
            <a:fld id="{342FB9F6-3526-4818-B864-6624DDD159B3}" type="slidenum">
              <a:rPr lang="en-US" sz="600" b="0" i="0" kern="1200" smtClean="0">
                <a:solidFill>
                  <a:schemeClr val="accent6"/>
                </a:solidFill>
                <a:effectLst/>
                <a:latin typeface="Roboto Medium" panose="02000000000000000000" pitchFamily="2" charset="0"/>
                <a:ea typeface="Roboto Medium" panose="02000000000000000000" pitchFamily="2" charset="0"/>
                <a:cs typeface="+mn-cs"/>
              </a:rPr>
              <a:pPr algn="ctr"/>
              <a:t>‹#›</a:t>
            </a:fld>
            <a:endParaRPr lang="en-US" sz="600" b="0" i="0" kern="1200" dirty="0">
              <a:solidFill>
                <a:schemeClr val="accent6"/>
              </a:solidFill>
              <a:effectLst/>
              <a:latin typeface="Roboto Medium" panose="02000000000000000000" pitchFamily="2" charset="0"/>
              <a:ea typeface="Roboto Medium" panose="02000000000000000000" pitchFamily="2" charset="0"/>
              <a:cs typeface="+mn-cs"/>
            </a:endParaRPr>
          </a:p>
        </p:txBody>
      </p:sp>
      <p:cxnSp>
        <p:nvCxnSpPr>
          <p:cNvPr id="18" name="Straight Connector 17"/>
          <p:cNvCxnSpPr/>
          <p:nvPr userDrawn="1"/>
        </p:nvCxnSpPr>
        <p:spPr>
          <a:xfrm>
            <a:off x="667206" y="1065676"/>
            <a:ext cx="7886700"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userDrawn="1"/>
        </p:nvCxnSpPr>
        <p:spPr>
          <a:xfrm>
            <a:off x="667206" y="6028201"/>
            <a:ext cx="7886700"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21" name="Picture 20"/>
          <p:cNvPicPr>
            <a:picLocks noChangeAspect="1"/>
          </p:cNvPicPr>
          <p:nvPr userDrawn="1"/>
        </p:nvPicPr>
        <p:blipFill>
          <a:blip r:embed="rId15" cstate="print">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7170381" y="6229350"/>
            <a:ext cx="1383525" cy="152695"/>
          </a:xfrm>
          <a:prstGeom prst="rect">
            <a:avLst/>
          </a:prstGeom>
        </p:spPr>
      </p:pic>
    </p:spTree>
    <p:extLst>
      <p:ext uri="{BB962C8B-B14F-4D97-AF65-F5344CB8AC3E}">
        <p14:creationId xmlns:p14="http://schemas.microsoft.com/office/powerpoint/2010/main" val="1108018756"/>
      </p:ext>
    </p:extLst>
  </p:cSld>
  <p:clrMap bg1="lt1" tx1="dk1" bg2="lt2" tx2="dk2" accent1="accent1" accent2="accent2" accent3="accent3" accent4="accent4" accent5="accent5" accent6="accent6" hlink="hlink" folHlink="folHlink"/>
  <p:sldLayoutIdLst>
    <p:sldLayoutId id="2147483694" r:id="rId1"/>
    <p:sldLayoutId id="2147483697" r:id="rId2"/>
    <p:sldLayoutId id="2147483703" r:id="rId3"/>
    <p:sldLayoutId id="2147483698" r:id="rId4"/>
    <p:sldLayoutId id="2147483699" r:id="rId5"/>
    <p:sldLayoutId id="2147483700" r:id="rId6"/>
    <p:sldLayoutId id="2147483701" r:id="rId7"/>
    <p:sldLayoutId id="2147483702" r:id="rId8"/>
    <p:sldLayoutId id="2147483704" r:id="rId9"/>
  </p:sldLayoutIdLst>
  <p:transition>
    <p:wipe dir="r"/>
  </p:transition>
  <p:hf hdr="0" ftr="0" dt="0"/>
  <p:txStyles>
    <p:titleStyle>
      <a:lvl1pPr algn="l" defTabSz="914400" rtl="0" eaLnBrk="1" latinLnBrk="0" hangingPunct="1">
        <a:lnSpc>
          <a:spcPct val="90000"/>
        </a:lnSpc>
        <a:spcBef>
          <a:spcPct val="0"/>
        </a:spcBef>
        <a:buNone/>
        <a:defRPr lang="en-US" sz="3200" kern="1200" cap="none" baseline="0" dirty="0">
          <a:solidFill>
            <a:srgbClr val="005A82"/>
          </a:solidFill>
          <a:latin typeface="Roboto Condensed" panose="02000000000000000000" pitchFamily="2" charset="0"/>
          <a:ea typeface="Roboto Condensed" panose="02000000000000000000" pitchFamily="2" charset="0"/>
          <a:cs typeface="+mn-cs"/>
        </a:defRPr>
      </a:lvl1pPr>
    </p:titleStyle>
    <p:bodyStyle>
      <a:lvl1pPr marL="0" indent="0" algn="l" defTabSz="914400" rtl="0" eaLnBrk="1" latinLnBrk="0" hangingPunct="1">
        <a:lnSpc>
          <a:spcPts val="2000"/>
        </a:lnSpc>
        <a:spcBef>
          <a:spcPts val="500"/>
        </a:spcBef>
        <a:spcAft>
          <a:spcPts val="500"/>
        </a:spcAft>
        <a:buSzPct val="100000"/>
        <a:buFontTx/>
        <a:buNone/>
        <a:defRPr sz="1800" b="1" kern="1200">
          <a:solidFill>
            <a:schemeClr val="tx1"/>
          </a:solidFill>
          <a:latin typeface="+mn-lt"/>
          <a:ea typeface="Roboto Condensed" panose="02000000000000000000" pitchFamily="2" charset="0"/>
          <a:cs typeface="+mn-cs"/>
        </a:defRPr>
      </a:lvl1pPr>
      <a:lvl2pPr marL="284400" indent="-284400" algn="l" defTabSz="914400" rtl="0" eaLnBrk="1" latinLnBrk="0" hangingPunct="1">
        <a:lnSpc>
          <a:spcPts val="2000"/>
        </a:lnSpc>
        <a:spcBef>
          <a:spcPts val="500"/>
        </a:spcBef>
        <a:spcAft>
          <a:spcPts val="500"/>
        </a:spcAft>
        <a:buClrTx/>
        <a:buSzPct val="100000"/>
        <a:buFontTx/>
        <a:buChar char="•"/>
        <a:defRPr sz="1800" kern="1200">
          <a:solidFill>
            <a:schemeClr val="accent5"/>
          </a:solidFill>
          <a:latin typeface="+mn-lt"/>
          <a:ea typeface="Roboto Condensed" panose="02000000000000000000" pitchFamily="2" charset="0"/>
          <a:cs typeface="+mn-cs"/>
        </a:defRPr>
      </a:lvl2pPr>
      <a:lvl3pPr marL="741600" indent="-284400" algn="l" defTabSz="914400" rtl="0" eaLnBrk="1" latinLnBrk="0" hangingPunct="1">
        <a:lnSpc>
          <a:spcPts val="2000"/>
        </a:lnSpc>
        <a:spcBef>
          <a:spcPts val="500"/>
        </a:spcBef>
        <a:spcAft>
          <a:spcPts val="500"/>
        </a:spcAft>
        <a:buClrTx/>
        <a:buSzPct val="100000"/>
        <a:buFontTx/>
        <a:buChar char="•"/>
        <a:defRPr sz="1800" kern="1200">
          <a:solidFill>
            <a:schemeClr val="accent5"/>
          </a:solidFill>
          <a:latin typeface="+mn-lt"/>
          <a:ea typeface="Roboto Condensed" panose="02000000000000000000" pitchFamily="2" charset="0"/>
          <a:cs typeface="+mn-cs"/>
        </a:defRPr>
      </a:lvl3pPr>
      <a:lvl4pPr marL="1198800" indent="-284400" algn="l" defTabSz="914400" rtl="0" eaLnBrk="1" latinLnBrk="0" hangingPunct="1">
        <a:lnSpc>
          <a:spcPts val="2000"/>
        </a:lnSpc>
        <a:spcBef>
          <a:spcPts val="500"/>
        </a:spcBef>
        <a:spcAft>
          <a:spcPts val="500"/>
        </a:spcAft>
        <a:buClrTx/>
        <a:buSzPct val="100000"/>
        <a:buFontTx/>
        <a:buChar char="•"/>
        <a:defRPr sz="1800" kern="1200">
          <a:solidFill>
            <a:schemeClr val="accent5"/>
          </a:solidFill>
          <a:latin typeface="+mn-lt"/>
          <a:ea typeface="Roboto Condensed" panose="02000000000000000000" pitchFamily="2" charset="0"/>
          <a:cs typeface="+mn-cs"/>
        </a:defRPr>
      </a:lvl4pPr>
      <a:lvl5pPr marL="1656000" indent="-284400" algn="l" defTabSz="914400" rtl="0" eaLnBrk="1" latinLnBrk="0" hangingPunct="1">
        <a:lnSpc>
          <a:spcPts val="2000"/>
        </a:lnSpc>
        <a:spcBef>
          <a:spcPts val="500"/>
        </a:spcBef>
        <a:spcAft>
          <a:spcPts val="500"/>
        </a:spcAft>
        <a:buClrTx/>
        <a:buSzPct val="100000"/>
        <a:buFontTx/>
        <a:buChar char="•"/>
        <a:defRPr sz="1800" kern="1200">
          <a:solidFill>
            <a:schemeClr val="accent5"/>
          </a:solidFill>
          <a:latin typeface="+mn-lt"/>
          <a:ea typeface="Roboto Condensed"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tags" Target="../tags/tag5.xml"/><Relationship Id="rId3" Type="http://schemas.openxmlformats.org/officeDocument/2006/relationships/slideLayout" Target="../slideLayouts/slideLayout8.xml"/><Relationship Id="rId4" Type="http://schemas.openxmlformats.org/officeDocument/2006/relationships/notesSlide" Target="../notesSlides/notesSlide1.xml"/><Relationship Id="rId5" Type="http://schemas.openxmlformats.org/officeDocument/2006/relationships/oleObject" Target="../embeddings/oleObject2.bin"/><Relationship Id="rId6" Type="http://schemas.openxmlformats.org/officeDocument/2006/relationships/image" Target="../media/image4.emf"/><Relationship Id="rId7"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tags" Target="../tags/tag7.xml"/><Relationship Id="rId3" Type="http://schemas.openxmlformats.org/officeDocument/2006/relationships/tags" Target="../tags/tag8.xml"/><Relationship Id="rId4" Type="http://schemas.openxmlformats.org/officeDocument/2006/relationships/tags" Target="../tags/tag9.xml"/><Relationship Id="rId5" Type="http://schemas.openxmlformats.org/officeDocument/2006/relationships/tags" Target="../tags/tag10.xml"/><Relationship Id="rId6" Type="http://schemas.openxmlformats.org/officeDocument/2006/relationships/tags" Target="../tags/tag11.xml"/><Relationship Id="rId7" Type="http://schemas.openxmlformats.org/officeDocument/2006/relationships/slideLayout" Target="../slideLayouts/slideLayout2.xml"/><Relationship Id="rId8" Type="http://schemas.openxmlformats.org/officeDocument/2006/relationships/oleObject" Target="../embeddings/oleObject3.bin"/><Relationship Id="rId9" Type="http://schemas.openxmlformats.org/officeDocument/2006/relationships/image" Target="../media/image6.emf"/></Relationships>
</file>

<file path=ppt/slides/_rels/slide3.xml.rels><?xml version='1.0' encoding='UTF-8' standalone='yes'?>
<Relationships xmlns="http://schemas.openxmlformats.org/package/2006/relationships"><Relationship Id="rId1" Type="http://schemas.openxmlformats.org/officeDocument/2006/relationships/tags" Target="../tags/tag12.xml"/><Relationship Id="rId2" Type="http://schemas.openxmlformats.org/officeDocument/2006/relationships/tags" Target="../tags/tag13.xml"/><Relationship Id="rId3" Type="http://schemas.openxmlformats.org/officeDocument/2006/relationships/tags" Target="../tags/tag14.xml"/><Relationship Id="rId4" Type="http://schemas.openxmlformats.org/officeDocument/2006/relationships/tags" Target="../tags/tag15.xml"/><Relationship Id="rId5" Type="http://schemas.openxmlformats.org/officeDocument/2006/relationships/tags" Target="../tags/tag16.xml"/><Relationship Id="rId6" Type="http://schemas.openxmlformats.org/officeDocument/2006/relationships/tags" Target="../tags/tag17.xml"/><Relationship Id="rId7" Type="http://schemas.openxmlformats.org/officeDocument/2006/relationships/tags" Target="../tags/tag18.xml"/><Relationship Id="rId8" Type="http://schemas.openxmlformats.org/officeDocument/2006/relationships/slideLayout" Target="../slideLayouts/slideLayout1.xml"/><Relationship Id="rId9" Type="http://schemas.openxmlformats.org/officeDocument/2006/relationships/notesSlide" Target="../notesSlides/notesSlide2.xml"/><Relationship Id="rId10" Type="http://schemas.openxmlformats.org/officeDocument/2006/relationships/oleObject" Target="../embeddings/oleObject4.bin"/><Relationship Id="rId11" Type="http://schemas.openxmlformats.org/officeDocument/2006/relationships/image" Target="../media/image7.emf"/><Relationship Id="rId12" Type="http://schemas.openxmlformats.org/officeDocument/2006/relationships/image" Target="../media/image8.png"/><Relationship Id="rId13" Type="http://schemas.openxmlformats.org/officeDocument/2006/relationships/image" Target="../media/image9.svg"/></Relationships>
</file>

<file path=ppt/slides/_rels/slide4.xml.rels><?xml version='1.0' encoding='UTF-8' standalone='yes'?>
<Relationships xmlns="http://schemas.openxmlformats.org/package/2006/relationships"><Relationship Id="rId1" Type="http://schemas.openxmlformats.org/officeDocument/2006/relationships/tags" Target="../tags/tag19.xml"/><Relationship Id="rId2" Type="http://schemas.openxmlformats.org/officeDocument/2006/relationships/slideLayout" Target="../slideLayouts/slideLayout1.xml"/><Relationship Id="rId3" Type="http://schemas.openxmlformats.org/officeDocument/2006/relationships/notesSlide" Target="../notesSlides/notesSlide3.xml"/><Relationship Id="rId4" Type="http://schemas.openxmlformats.org/officeDocument/2006/relationships/oleObject" Target="../embeddings/oleObject4.bin"/><Relationship Id="rId5" Type="http://schemas.openxmlformats.org/officeDocument/2006/relationships/image" Target="../media/image7.emf"/></Relationships>
</file>

<file path=ppt/slides/_rels/slide5.xml.rels><?xml version='1.0' encoding='UTF-8' standalone='yes'?>
<Relationships xmlns="http://schemas.openxmlformats.org/package/2006/relationships"><Relationship Id="rId1" Type="http://schemas.openxmlformats.org/officeDocument/2006/relationships/tags" Target="../tags/tag20.xml"/><Relationship Id="rId2" Type="http://schemas.openxmlformats.org/officeDocument/2006/relationships/slideLayout" Target="../slideLayouts/slideLayout1.xml"/><Relationship Id="rId3" Type="http://schemas.openxmlformats.org/officeDocument/2006/relationships/notesSlide" Target="../notesSlides/notesSlide4.xml"/><Relationship Id="rId4" Type="http://schemas.openxmlformats.org/officeDocument/2006/relationships/oleObject" Target="../embeddings/oleObject5.bin"/><Relationship Id="rId5" Type="http://schemas.openxmlformats.org/officeDocument/2006/relationships/image" Target="../media/image10.emf"/></Relationships>
</file>

<file path=ppt/slides/_rels/slide6.xml.rels><?xml version='1.0' encoding='UTF-8' standalone='yes'?>
<Relationships xmlns="http://schemas.openxmlformats.org/package/2006/relationships"><Relationship Id="rId1" Type="http://schemas.openxmlformats.org/officeDocument/2006/relationships/tags" Target="../tags/tag21.xml"/><Relationship Id="rId2" Type="http://schemas.openxmlformats.org/officeDocument/2006/relationships/slideLayout" Target="../slideLayouts/slideLayout9.xml"/><Relationship Id="rId3" Type="http://schemas.openxmlformats.org/officeDocument/2006/relationships/oleObject" Target="../embeddings/oleObject6.bin"/><Relationship Id="rId4" Type="http://schemas.openxmlformats.org/officeDocument/2006/relationships/image" Target="../media/image1.emf"/><Relationship Id="rId5"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tags" Target="../tags/tag22.xml"/><Relationship Id="rId2" Type="http://schemas.openxmlformats.org/officeDocument/2006/relationships/tags" Target="../tags/tag23.xml"/><Relationship Id="rId3" Type="http://schemas.openxmlformats.org/officeDocument/2006/relationships/slideLayout" Target="../slideLayouts/slideLayout1.xml"/><Relationship Id="rId4" Type="http://schemas.openxmlformats.org/officeDocument/2006/relationships/notesSlide" Target="../notesSlides/notesSlide5.xml"/><Relationship Id="rId5" Type="http://schemas.openxmlformats.org/officeDocument/2006/relationships/oleObject" Target="../embeddings/oleObject7.bin"/><Relationship Id="rId6" Type="http://schemas.openxmlformats.org/officeDocument/2006/relationships/image" Target="../media/image4.emf"/></Relationships>
</file>

<file path=ppt/slides/_rels/slide8.xml.rels><?xml version='1.0' encoding='UTF-8' standalone='yes'?>
<Relationships xmlns="http://schemas.openxmlformats.org/package/2006/relationships"><Relationship Id="rId1" Type="http://schemas.openxmlformats.org/officeDocument/2006/relationships/tags" Target="../tags/tag24.xml"/><Relationship Id="rId2" Type="http://schemas.openxmlformats.org/officeDocument/2006/relationships/tags" Target="../tags/tag25.xml"/><Relationship Id="rId3" Type="http://schemas.openxmlformats.org/officeDocument/2006/relationships/slideLayout" Target="../slideLayouts/slideLayout1.xml"/><Relationship Id="rId4" Type="http://schemas.openxmlformats.org/officeDocument/2006/relationships/notesSlide" Target="../notesSlides/notesSlide6.xml"/><Relationship Id="rId5" Type="http://schemas.openxmlformats.org/officeDocument/2006/relationships/oleObject" Target="../embeddings/oleObject8.bin"/><Relationship Id="rId6" Type="http://schemas.openxmlformats.org/officeDocument/2006/relationships/image" Target="../media/image4.emf"/></Relationships>
</file>

<file path=ppt/slides/_rels/slide9.xml.rels><?xml version='1.0' encoding='UTF-8' standalone='yes'?>
<Relationships xmlns="http://schemas.openxmlformats.org/package/2006/relationships"><Relationship Id="rId1" Type="http://schemas.openxmlformats.org/officeDocument/2006/relationships/tags" Target="../tags/tag26.xml"/><Relationship Id="rId2" Type="http://schemas.openxmlformats.org/officeDocument/2006/relationships/tags" Target="../tags/tag27.xml"/><Relationship Id="rId3" Type="http://schemas.openxmlformats.org/officeDocument/2006/relationships/slideLayout" Target="../slideLayouts/slideLayout1.xml"/><Relationship Id="rId4" Type="http://schemas.openxmlformats.org/officeDocument/2006/relationships/notesSlide" Target="../notesSlides/notesSlide7.xml"/><Relationship Id="rId5" Type="http://schemas.openxmlformats.org/officeDocument/2006/relationships/oleObject" Target="../embeddings/oleObject9.bin"/><Relationship Id="rId6" Type="http://schemas.openxmlformats.org/officeDocument/2006/relationships/image" Target="../media/image11.emf"/><Relationship Id="rId7" Type="http://schemas.openxmlformats.org/officeDocument/2006/relationships/image" Target="../media/image12.jpeg"/><Relationship Id="rId8" Type="http://schemas.openxmlformats.org/officeDocument/2006/relationships/image" Target="../media/image13.jpeg"/><Relationship Id="rId9" Type="http://schemas.openxmlformats.org/officeDocument/2006/relationships/image" Target="../media/image14.jpeg"/><Relationship Id="rId10" Type="http://schemas.openxmlformats.org/officeDocument/2006/relationships/image" Target="../media/image15.png"/><Relationship Id="rId11" Type="http://schemas.openxmlformats.org/officeDocument/2006/relationships/image" Target="../media/image16.png"/><Relationship Id="rId12" Type="http://schemas.openxmlformats.org/officeDocument/2006/relationships/image" Target="../media/image17.png"/><Relationship Id="rId13" Type="http://schemas.openxmlformats.org/officeDocument/2006/relationships/image" Target="../media/image18.png"/><Relationship Id="rId14" Type="http://schemas.openxmlformats.org/officeDocument/2006/relationships/image" Target="../media/image19.png"/><Relationship Id="rId15" Type="http://schemas.openxmlformats.org/officeDocument/2006/relationships/image" Target="../media/image20.jpeg"/><Relationship Id="rId16" Type="http://schemas.openxmlformats.org/officeDocument/2006/relationships/image" Target="../media/image21.jpeg"/><Relationship Id="rId17" Type="http://schemas.openxmlformats.org/officeDocument/2006/relationships/image" Target="../media/image22.jpeg"/><Relationship Id="rId18" Type="http://schemas.openxmlformats.org/officeDocument/2006/relationships/image" Target="../media/image23.png"/><Relationship Id="rId19" Type="http://schemas.openxmlformats.org/officeDocument/2006/relationships/image" Target="../media/image24.png"/><Relationship Id="rId20" Type="http://schemas.openxmlformats.org/officeDocument/2006/relationships/image" Target="../media/image25.png"/><Relationship Id="rId21" Type="http://schemas.openxmlformats.org/officeDocument/2006/relationships/image" Target="../media/image26.png"/><Relationship Id="rId22" Type="http://schemas.openxmlformats.org/officeDocument/2006/relationships/image" Target="../media/image27.png"/><Relationship Id="rId23" Type="http://schemas.openxmlformats.org/officeDocument/2006/relationships/image" Target="../media/image28.png"/><Relationship Id="rId24" Type="http://schemas.openxmlformats.org/officeDocument/2006/relationships/image" Target="../media/image29.png"/><Relationship Id="rId25" Type="http://schemas.openxmlformats.org/officeDocument/2006/relationships/image" Target="../media/image30.png"/><Relationship Id="rId26" Type="http://schemas.openxmlformats.org/officeDocument/2006/relationships/image" Target="../media/image31.png"/><Relationship Id="rId27" Type="http://schemas.openxmlformats.org/officeDocument/2006/relationships/image" Target="../media/image32.jpeg"/><Relationship Id="rId28" Type="http://schemas.openxmlformats.org/officeDocument/2006/relationships/image" Target="../media/image33.jpeg"/></Relationships>
</file>

<file path=ppt/slides/_rels/slide10.xml.rels><?xml version='1.0' encoding='UTF-8' standalone='yes'?>
<Relationships xmlns="http://schemas.openxmlformats.org/package/2006/relationships"><Relationship Id="rId1" Type="http://schemas.openxmlformats.org/officeDocument/2006/relationships/tags" Target="../tags/tag28.xml"/><Relationship Id="rId2" Type="http://schemas.openxmlformats.org/officeDocument/2006/relationships/tags" Target="../tags/tag29.xml"/><Relationship Id="rId3" Type="http://schemas.openxmlformats.org/officeDocument/2006/relationships/slideLayout" Target="../slideLayouts/slideLayout1.xml"/><Relationship Id="rId4" Type="http://schemas.openxmlformats.org/officeDocument/2006/relationships/notesSlide" Target="../notesSlides/notesSlide8.xml"/><Relationship Id="rId5" Type="http://schemas.openxmlformats.org/officeDocument/2006/relationships/oleObject" Target="../embeddings/oleObject10.bin"/><Relationship Id="rId6" Type="http://schemas.openxmlformats.org/officeDocument/2006/relationships/image" Target="../media/image1.emf"/><Relationship Id="rId7" Type="http://schemas.openxmlformats.org/officeDocument/2006/relationships/image" Target="../media/image34.png"/><Relationship Id="rId8" Type="http://schemas.openxmlformats.org/officeDocument/2006/relationships/image" Target="../media/image35.png"/><Relationship Id="rId9" Type="http://schemas.openxmlformats.org/officeDocument/2006/relationships/image" Target="../media/image36.png"/><Relationship Id="rId10" Type="http://schemas.openxmlformats.org/officeDocument/2006/relationships/hyperlink" Target="https://www.linkedin.com/in/gmirchandani/" TargetMode="External"/><Relationship Id="rId11" Type="http://schemas.openxmlformats.org/officeDocument/2006/relationships/hyperlink" Target="https://www.linkedin.com/in/gkarunak/" TargetMode="External"/><Relationship Id="rId12" Type="http://schemas.openxmlformats.org/officeDocument/2006/relationships/hyperlink" Target="https://www.linkedin.com/in/peterxkim/" TargetMode="External"/><Relationship Id="rId13" Type="http://schemas.openxmlformats.org/officeDocument/2006/relationships/hyperlink" Target="https://www.linkedin.com/in/patrick-wendell/" TargetMode="External"/><Relationship Id="rId14" Type="http://schemas.openxmlformats.org/officeDocument/2006/relationships/hyperlink" Target="https://www.linkedin.com/in/manojapte/" TargetMode="External"/><Relationship Id="rId15" Type="http://schemas.openxmlformats.org/officeDocument/2006/relationships/hyperlink" Target="https://www.linkedin.com/in/bmacaitis/" TargetMode="External"/><Relationship Id="rId16" Type="http://schemas.openxmlformats.org/officeDocument/2006/relationships/hyperlink" Target="https://www.linkedin.com/in/sidharthmalik/?originalSubdomain=in" TargetMode="External"/></Relationships>
</file>

<file path=ppt/slides/_rels/slide11.xml.rels><?xml version='1.0' encoding='UTF-8' standalone='yes'?>
<Relationships xmlns="http://schemas.openxmlformats.org/package/2006/relationships"><Relationship Id="rId1" Type="http://schemas.openxmlformats.org/officeDocument/2006/relationships/tags" Target="../tags/tag30.xml"/><Relationship Id="rId2" Type="http://schemas.openxmlformats.org/officeDocument/2006/relationships/tags" Target="../tags/tag31.xml"/><Relationship Id="rId3" Type="http://schemas.openxmlformats.org/officeDocument/2006/relationships/slideLayout" Target="../slideLayouts/slideLayout1.xml"/><Relationship Id="rId4" Type="http://schemas.openxmlformats.org/officeDocument/2006/relationships/notesSlide" Target="../notesSlides/notesSlide9.xml"/><Relationship Id="rId5" Type="http://schemas.openxmlformats.org/officeDocument/2006/relationships/oleObject" Target="../embeddings/oleObject11.bin"/><Relationship Id="rId6" Type="http://schemas.openxmlformats.org/officeDocument/2006/relationships/image" Target="../media/image4.emf"/><Relationship Id="rId7" Type="http://schemas.openxmlformats.org/officeDocument/2006/relationships/image" Target="../media/image37.jpeg"/></Relationships>
</file>

<file path=ppt/slides/_rels/slide12.xml.rels><?xml version='1.0' encoding='UTF-8' standalone='yes'?>
<Relationships xmlns="http://schemas.openxmlformats.org/package/2006/relationships"><Relationship Id="rId1" Type="http://schemas.openxmlformats.org/officeDocument/2006/relationships/tags" Target="../tags/tag32.xml"/><Relationship Id="rId2" Type="http://schemas.openxmlformats.org/officeDocument/2006/relationships/tags" Target="../tags/tag33.xml"/><Relationship Id="rId3" Type="http://schemas.openxmlformats.org/officeDocument/2006/relationships/slideLayout" Target="../slideLayouts/slideLayout1.xml"/><Relationship Id="rId4" Type="http://schemas.openxmlformats.org/officeDocument/2006/relationships/notesSlide" Target="../notesSlides/notesSlide10.xml"/><Relationship Id="rId5" Type="http://schemas.openxmlformats.org/officeDocument/2006/relationships/oleObject" Target="../embeddings/oleObject12.bin"/><Relationship Id="rId6" Type="http://schemas.openxmlformats.org/officeDocument/2006/relationships/image" Target="../media/image4.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09F25B5-70DA-4E3E-85BE-514869CAE5AE}"/>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70" imgH="469" progId="TCLayout.ActiveDocument.1">
                  <p:embed/>
                </p:oleObj>
              </mc:Choice>
              <mc:Fallback>
                <p:oleObj name="think-cell Slide" r:id="rId5" imgW="470" imgH="469" progId="TCLayout.ActiveDocument.1">
                  <p:embed/>
                  <p:pic>
                    <p:nvPicPr>
                      <p:cNvPr id="3" name="Object 2" hidden="1">
                        <a:extLst>
                          <a:ext uri="{FF2B5EF4-FFF2-40B4-BE49-F238E27FC236}">
                            <a16:creationId xmlns:a16="http://schemas.microsoft.com/office/drawing/2014/main" id="{C09F25B5-70DA-4E3E-85BE-514869CAE5AE}"/>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AC008817-4851-405D-957B-AEA0DDB91AD9}"/>
              </a:ext>
            </a:extLst>
          </p:cNvPr>
          <p:cNvSpPr/>
          <p:nvPr>
            <p:custDataLst>
              <p:tags r:id="rId2"/>
            </p:custDataLst>
          </p:nvPr>
        </p:nvSpPr>
        <p:spPr>
          <a:xfrm>
            <a:off x="0" y="0"/>
            <a:ext cx="158750" cy="1587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r>
              <a:rPr>
                <a:solidFill>
                  <a:srgbClr val="3D3D3D"/>
                </a:solidFill>
              </a:rPr>
              <a:t>Confidential — July 2025</a:t>
            </a:r>
          </a:p>
        </p:txBody>
      </p:sp>
      <p:pic>
        <p:nvPicPr>
          <p:cNvPr id="7" name="Picture 6"/>
          <p:cNvPicPr>
            <a:picLocks noChangeAspect="1"/>
          </p:cNvPicPr>
          <p:nvPr/>
        </p:nvPicPr>
        <p:blipFill>
          <a:blip r:embed="rId7"/>
          <a:stretch>
            <a:fillRect/>
          </a:stretch>
        </p:blipFill>
        <p:spPr>
          <a:xfrm>
            <a:off x="7105617" y="6258963"/>
            <a:ext cx="1415013" cy="160031"/>
          </a:xfrm>
          <a:prstGeom prst="rect">
            <a:avLst/>
          </a:prstGeom>
        </p:spPr>
      </p:pic>
      <p:sp>
        <p:nvSpPr>
          <p:cNvPr id="10" name="Title 1">
            <a:extLst>
              <a:ext uri="{FF2B5EF4-FFF2-40B4-BE49-F238E27FC236}">
                <a16:creationId xmlns:a16="http://schemas.microsoft.com/office/drawing/2014/main" id="{31D22041-833F-419E-A651-3A788730D031}"/>
              </a:ext>
            </a:extLst>
          </p:cNvPr>
          <p:cNvSpPr>
            <a:spLocks noGrp="1"/>
          </p:cNvSpPr>
          <p:nvPr>
            <p:ph type="title"/>
          </p:nvPr>
        </p:nvSpPr>
        <p:spPr>
          <a:xfrm>
            <a:off x="644814" y="4294202"/>
            <a:ext cx="7886700" cy="507062"/>
          </a:xfrm>
        </p:spPr>
        <p:txBody>
          <a:bodyPr vert="horz"/>
          <a:lstStyle/>
          <a:p>
            <a:r>
              <a:t>Cogent Security and Westbridge Capital</a:t>
            </a:r>
          </a:p>
        </p:txBody>
      </p:sp>
    </p:spTree>
    <p:extLst>
      <p:ext uri="{BB962C8B-B14F-4D97-AF65-F5344CB8AC3E}">
        <p14:creationId xmlns:p14="http://schemas.microsoft.com/office/powerpoint/2010/main" val="3113929342"/>
      </p:ext>
    </p:extLst>
  </p:cSld>
  <p:clrMapOvr>
    <a:masterClrMapping/>
  </p:clrMapOvr>
  <p:transition>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D10ED7-0C9B-A1DA-E464-E24F64493A13}"/>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E8FBB8D4-4312-53BF-6942-56F8CAE4DA8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473" imgH="473" progId="TCLayout.ActiveDocument.1">
                  <p:embed/>
                </p:oleObj>
              </mc:Choice>
              <mc:Fallback>
                <p:oleObj name="think-cell Slide" r:id="rId8" imgW="473" imgH="473" progId="TCLayout.ActiveDocument.1">
                  <p:embed/>
                  <p:pic>
                    <p:nvPicPr>
                      <p:cNvPr id="6" name="think-cell data - do not delete" hidden="1">
                        <a:extLst>
                          <a:ext uri="{FF2B5EF4-FFF2-40B4-BE49-F238E27FC236}">
                            <a16:creationId xmlns:a16="http://schemas.microsoft.com/office/drawing/2014/main" id="{E8FBB8D4-4312-53BF-6942-56F8CAE4DA81}"/>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F3581C80-DFEE-CBFB-3E5A-839B4DD4D3DE}"/>
              </a:ext>
            </a:extLst>
          </p:cNvPr>
          <p:cNvSpPr>
            <a:spLocks noGrp="1"/>
          </p:cNvSpPr>
          <p:nvPr>
            <p:ph type="title"/>
          </p:nvPr>
        </p:nvSpPr>
        <p:spPr/>
        <p:txBody>
          <a:bodyPr vert="horz"/>
          <a:lstStyle/>
          <a:p>
            <a:pPr algn="l"/>
            <a:r>
              <a:rPr>
                <a:solidFill>
                  <a:srgbClr val="3D3D3D"/>
                </a:solidFill>
              </a:rPr>
              <a:t>About Time Someone Built Intelligence into Vulnerability Management</a:t>
            </a:r>
          </a:p>
        </p:txBody>
      </p:sp>
      <p:sp>
        <p:nvSpPr>
          <p:cNvPr id="8" name="Rectangle 7">
            <a:extLst>
              <a:ext uri="{FF2B5EF4-FFF2-40B4-BE49-F238E27FC236}">
                <a16:creationId xmlns:a16="http://schemas.microsoft.com/office/drawing/2014/main" id="{AA7E092F-EDCA-520C-37AD-528B9B32EA1B}"/>
              </a:ext>
            </a:extLst>
          </p:cNvPr>
          <p:cNvSpPr/>
          <p:nvPr/>
        </p:nvSpPr>
        <p:spPr>
          <a:xfrm>
            <a:off x="2737150" y="1965502"/>
            <a:ext cx="1728820" cy="2971520"/>
          </a:xfrm>
          <a:prstGeom prst="rect">
            <a:avLst/>
          </a:prstGeom>
          <a:solidFill>
            <a:srgbClr val="F783A3">
              <a:alpha val="25098"/>
            </a:srgb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sz="1400">
                <a:solidFill>
                  <a:srgbClr val="3D3D3D"/>
                </a:solidFill>
              </a:rPr>
              <a:t>CVE publications have grown 5x over the last decade, creating an overwhelming flood of new vulnerabilities that traditional tools can't effectively manage at scale.</a:t>
            </a:r>
          </a:p>
        </p:txBody>
      </p:sp>
      <p:sp>
        <p:nvSpPr>
          <p:cNvPr id="9" name="Rectangle 8">
            <a:extLst>
              <a:ext uri="{FF2B5EF4-FFF2-40B4-BE49-F238E27FC236}">
                <a16:creationId xmlns:a16="http://schemas.microsoft.com/office/drawing/2014/main" id="{10A698B2-A174-5B5C-DCD6-7232FD8975BB}"/>
              </a:ext>
            </a:extLst>
          </p:cNvPr>
          <p:cNvSpPr/>
          <p:nvPr/>
        </p:nvSpPr>
        <p:spPr>
          <a:xfrm>
            <a:off x="823054" y="1965501"/>
            <a:ext cx="1739257" cy="2971521"/>
          </a:xfrm>
          <a:prstGeom prst="rect">
            <a:avLst/>
          </a:prstGeom>
          <a:solidFill>
            <a:srgbClr val="F783A3">
              <a:alpha val="25098"/>
            </a:srgb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sz="1400">
                <a:solidFill>
                  <a:srgbClr val="3D3D3D"/>
                </a:solidFill>
              </a:rPr>
              <a:t>Attackers now weaponize AI to exploit new vulnerabilities in under 5 days, accelerated by LLM-powered toolkits that automate vulnerability discovery and exploitation.</a:t>
            </a:r>
          </a:p>
        </p:txBody>
      </p:sp>
      <p:sp>
        <p:nvSpPr>
          <p:cNvPr id="10" name="Rectangle 9">
            <a:extLst>
              <a:ext uri="{FF2B5EF4-FFF2-40B4-BE49-F238E27FC236}">
                <a16:creationId xmlns:a16="http://schemas.microsoft.com/office/drawing/2014/main" id="{DF6545FE-902D-205D-0FA6-1F696D3549A4}"/>
              </a:ext>
            </a:extLst>
          </p:cNvPr>
          <p:cNvSpPr/>
          <p:nvPr/>
        </p:nvSpPr>
        <p:spPr>
          <a:xfrm>
            <a:off x="4641331" y="1965503"/>
            <a:ext cx="1749695" cy="2971518"/>
          </a:xfrm>
          <a:prstGeom prst="rect">
            <a:avLst/>
          </a:prstGeom>
          <a:solidFill>
            <a:srgbClr val="F783A3">
              <a:alpha val="25098"/>
            </a:srgb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sz="1400">
                <a:solidFill>
                  <a:srgbClr val="3D3D3D"/>
                </a:solidFill>
              </a:rPr>
              <a:t>Half of all critical vulnerabilities remain unresolved after 2 months due to process bottlenecks and resource constraints, leaving organizations exposed to active threats.</a:t>
            </a:r>
          </a:p>
        </p:txBody>
      </p:sp>
      <p:sp>
        <p:nvSpPr>
          <p:cNvPr id="5" name="Rectangle 4">
            <a:extLst>
              <a:ext uri="{FF2B5EF4-FFF2-40B4-BE49-F238E27FC236}">
                <a16:creationId xmlns:a16="http://schemas.microsoft.com/office/drawing/2014/main" id="{6DF63B6E-E161-615F-0756-CCBF7FF994D0}"/>
              </a:ext>
            </a:extLst>
          </p:cNvPr>
          <p:cNvSpPr/>
          <p:nvPr/>
        </p:nvSpPr>
        <p:spPr>
          <a:xfrm>
            <a:off x="6565995" y="1965502"/>
            <a:ext cx="1749695" cy="2971517"/>
          </a:xfrm>
          <a:prstGeom prst="rect">
            <a:avLst/>
          </a:prstGeom>
          <a:solidFill>
            <a:srgbClr val="F783A3">
              <a:alpha val="25098"/>
            </a:srgb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sz="1400">
                <a:solidFill>
                  <a:srgbClr val="3D3D3D"/>
                </a:solidFill>
              </a:rPr>
              <a:t>Cogent customers achieve 2x faster mean time to remediate critical vulnerabilities with 50% less manual effort through autonomous AI-driven vulnerability lifecycle management.</a:t>
            </a:r>
          </a:p>
        </p:txBody>
      </p:sp>
      <p:sp>
        <p:nvSpPr>
          <p:cNvPr id="18" name="ee4pHeader1">
            <a:extLst>
              <a:ext uri="{FF2B5EF4-FFF2-40B4-BE49-F238E27FC236}">
                <a16:creationId xmlns:a16="http://schemas.microsoft.com/office/drawing/2014/main" id="{BE9613CF-90DA-850B-8206-FB9A832DB2CF}"/>
              </a:ext>
            </a:extLst>
          </p:cNvPr>
          <p:cNvSpPr txBox="1"/>
          <p:nvPr>
            <p:custDataLst>
              <p:tags r:id="rId2"/>
            </p:custDataLst>
          </p:nvPr>
        </p:nvSpPr>
        <p:spPr>
          <a:xfrm>
            <a:off x="823054" y="1199360"/>
            <a:ext cx="1749695" cy="718483"/>
          </a:xfrm>
          <a:prstGeom prst="rect">
            <a:avLst/>
          </a:prstGeom>
          <a:solidFill>
            <a:schemeClr val="accent1"/>
          </a:solidFill>
          <a:ln cap="rnd">
            <a:noFill/>
          </a:ln>
        </p:spPr>
        <p:txBody>
          <a:bodyPr wrap="square" lIns="0" tIns="0" rIns="0" bIns="0" rtlCol="0" anchor="ctr" anchorCtr="0">
            <a:noAutofit/>
          </a:bodyPr>
          <a:lstStyle/>
          <a:p>
            <a:pPr algn="ctr"/>
            <a:r>
              <a:rPr sz="1400">
                <a:solidFill>
                  <a:srgbClr val="FFFFFF"/>
                </a:solidFill>
              </a:rPr>
              <a:t>5X Growth in Annual CVEs</a:t>
            </a:r>
          </a:p>
        </p:txBody>
      </p:sp>
      <p:sp>
        <p:nvSpPr>
          <p:cNvPr id="19" name="ee4pHeader2">
            <a:extLst>
              <a:ext uri="{FF2B5EF4-FFF2-40B4-BE49-F238E27FC236}">
                <a16:creationId xmlns:a16="http://schemas.microsoft.com/office/drawing/2014/main" id="{897D9464-F14D-9D9E-50D0-EFEA5BF0E72F}"/>
              </a:ext>
            </a:extLst>
          </p:cNvPr>
          <p:cNvSpPr txBox="1"/>
          <p:nvPr>
            <p:custDataLst>
              <p:tags r:id="rId3"/>
            </p:custDataLst>
          </p:nvPr>
        </p:nvSpPr>
        <p:spPr>
          <a:xfrm>
            <a:off x="2740099" y="1199360"/>
            <a:ext cx="1749695" cy="718483"/>
          </a:xfrm>
          <a:prstGeom prst="rect">
            <a:avLst/>
          </a:prstGeom>
          <a:solidFill>
            <a:schemeClr val="accent1"/>
          </a:solidFill>
          <a:ln cap="rnd">
            <a:noFill/>
          </a:ln>
        </p:spPr>
        <p:txBody>
          <a:bodyPr wrap="square" lIns="0" tIns="0" rIns="0" bIns="0" rtlCol="0" anchor="ctr" anchorCtr="0">
            <a:noAutofit/>
          </a:bodyPr>
          <a:lstStyle/>
          <a:p>
            <a:pPr algn="ctr"/>
            <a:r>
              <a:rPr sz="1400">
                <a:solidFill>
                  <a:srgbClr val="FFFFFF"/>
                </a:solidFill>
              </a:rPr>
              <a:t>&lt;5 Days to Exploit</a:t>
            </a:r>
          </a:p>
        </p:txBody>
      </p:sp>
      <p:sp>
        <p:nvSpPr>
          <p:cNvPr id="20" name="ee4pHeader3">
            <a:extLst>
              <a:ext uri="{FF2B5EF4-FFF2-40B4-BE49-F238E27FC236}">
                <a16:creationId xmlns:a16="http://schemas.microsoft.com/office/drawing/2014/main" id="{DE3493F3-C77C-461F-B4BD-002CC5A3FCA5}"/>
              </a:ext>
            </a:extLst>
          </p:cNvPr>
          <p:cNvSpPr txBox="1"/>
          <p:nvPr>
            <p:custDataLst>
              <p:tags r:id="rId4"/>
            </p:custDataLst>
          </p:nvPr>
        </p:nvSpPr>
        <p:spPr>
          <a:xfrm>
            <a:off x="4641331" y="1199360"/>
            <a:ext cx="1749695" cy="718483"/>
          </a:xfrm>
          <a:prstGeom prst="rect">
            <a:avLst/>
          </a:prstGeom>
          <a:solidFill>
            <a:schemeClr val="accent1"/>
          </a:solidFill>
          <a:ln cap="rnd">
            <a:noFill/>
          </a:ln>
        </p:spPr>
        <p:txBody>
          <a:bodyPr wrap="square" lIns="0" tIns="0" rIns="0" bIns="0" rtlCol="0" anchor="ctr" anchorCtr="0">
            <a:noAutofit/>
          </a:bodyPr>
          <a:lstStyle/>
          <a:p>
            <a:pPr algn="ctr"/>
            <a:r>
              <a:rPr sz="1400">
                <a:solidFill>
                  <a:srgbClr val="FFFFFF"/>
                </a:solidFill>
              </a:rPr>
              <a:t>50% Critical Vulnerabilities Unresolved</a:t>
            </a:r>
          </a:p>
        </p:txBody>
      </p:sp>
      <p:sp>
        <p:nvSpPr>
          <p:cNvPr id="21" name="ee4pHeader4">
            <a:extLst>
              <a:ext uri="{FF2B5EF4-FFF2-40B4-BE49-F238E27FC236}">
                <a16:creationId xmlns:a16="http://schemas.microsoft.com/office/drawing/2014/main" id="{09C4C2F4-DCDF-890B-92CF-B2BA32CDA535}"/>
              </a:ext>
            </a:extLst>
          </p:cNvPr>
          <p:cNvSpPr txBox="1"/>
          <p:nvPr>
            <p:custDataLst>
              <p:tags r:id="rId5"/>
            </p:custDataLst>
          </p:nvPr>
        </p:nvSpPr>
        <p:spPr>
          <a:xfrm>
            <a:off x="6565995" y="1202499"/>
            <a:ext cx="1749695" cy="718483"/>
          </a:xfrm>
          <a:prstGeom prst="rect">
            <a:avLst/>
          </a:prstGeom>
          <a:solidFill>
            <a:schemeClr val="accent1"/>
          </a:solidFill>
          <a:ln cap="rnd">
            <a:noFill/>
          </a:ln>
        </p:spPr>
        <p:txBody>
          <a:bodyPr wrap="square" lIns="0" tIns="0" rIns="0" bIns="0" rtlCol="0" anchor="ctr" anchorCtr="0">
            <a:noAutofit/>
          </a:bodyPr>
          <a:lstStyle/>
          <a:p>
            <a:pPr algn="ctr"/>
            <a:r>
              <a:rPr sz="1400">
                <a:solidFill>
                  <a:srgbClr val="FFFFFF"/>
                </a:solidFill>
              </a:rPr>
              <a:t>2X Faster Remediation</a:t>
            </a:r>
          </a:p>
        </p:txBody>
      </p:sp>
      <p:sp>
        <p:nvSpPr>
          <p:cNvPr id="13" name="Rectangle 12">
            <a:extLst>
              <a:ext uri="{FF2B5EF4-FFF2-40B4-BE49-F238E27FC236}">
                <a16:creationId xmlns:a16="http://schemas.microsoft.com/office/drawing/2014/main" id="{17406944-BB9A-F8DF-53E9-A337FC39F3C3}"/>
              </a:ext>
            </a:extLst>
          </p:cNvPr>
          <p:cNvSpPr/>
          <p:nvPr/>
        </p:nvSpPr>
        <p:spPr>
          <a:xfrm>
            <a:off x="823054" y="5047013"/>
            <a:ext cx="7492636" cy="866899"/>
          </a:xfrm>
          <a:prstGeom prst="rect">
            <a:avLst/>
          </a:prstGeom>
          <a:solidFill>
            <a:srgbClr val="ACEA9B">
              <a:alpha val="25098"/>
            </a:srgb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sz="1400">
                <a:solidFill>
                  <a:srgbClr val="3D3D3D"/>
                </a:solidFill>
              </a:rPr>
              <a:t>Cogent's AI taskforce autonomously drives the entire vulnerability management lifecycle, surfacing top risks, accelerating remediation, and keeping AI-equipped attackers out with minimal human intervention.</a:t>
            </a:r>
          </a:p>
        </p:txBody>
      </p:sp>
      <p:sp>
        <p:nvSpPr>
          <p:cNvPr id="17" name="ee4pContent1">
            <a:extLst>
              <a:ext uri="{FF2B5EF4-FFF2-40B4-BE49-F238E27FC236}">
                <a16:creationId xmlns:a16="http://schemas.microsoft.com/office/drawing/2014/main" id="{94A0DB70-6E6F-2B1E-B2CA-659247D68BAE}"/>
              </a:ext>
            </a:extLst>
          </p:cNvPr>
          <p:cNvSpPr txBox="1">
            <a:spLocks/>
          </p:cNvSpPr>
          <p:nvPr>
            <p:custDataLst>
              <p:tags r:id="rId6"/>
            </p:custDataLst>
          </p:nvPr>
        </p:nvSpPr>
        <p:spPr>
          <a:xfrm>
            <a:off x="667206" y="6175169"/>
            <a:ext cx="6339236" cy="692294"/>
          </a:xfrm>
          <a:prstGeom prst="rect">
            <a:avLst/>
          </a:prstGeom>
        </p:spPr>
        <p:txBody>
          <a:bodyPr vert="horz" lIns="0" tIns="0" rIns="0" bIns="0" rtlCol="0">
            <a:normAutofit/>
          </a:bodyPr>
          <a:lstStyle>
            <a:lvl1pPr marL="0" indent="0" algn="l" defTabSz="914400" rtl="0" eaLnBrk="1" latinLnBrk="0" hangingPunct="1">
              <a:lnSpc>
                <a:spcPts val="2000"/>
              </a:lnSpc>
              <a:spcBef>
                <a:spcPts val="500"/>
              </a:spcBef>
              <a:spcAft>
                <a:spcPts val="500"/>
              </a:spcAft>
              <a:buSzPct val="100000"/>
              <a:buFontTx/>
              <a:buNone/>
              <a:defRPr sz="1800" b="1" kern="1200">
                <a:solidFill>
                  <a:schemeClr val="tx1"/>
                </a:solidFill>
                <a:latin typeface="+mn-lt"/>
                <a:ea typeface="Roboto Condensed" panose="02000000000000000000" pitchFamily="2" charset="0"/>
                <a:cs typeface="+mn-cs"/>
              </a:defRPr>
            </a:lvl1pPr>
            <a:lvl2pPr marL="284400" indent="-284400" algn="l" defTabSz="914400" rtl="0" eaLnBrk="1" latinLnBrk="0" hangingPunct="1">
              <a:lnSpc>
                <a:spcPts val="2000"/>
              </a:lnSpc>
              <a:spcBef>
                <a:spcPts val="500"/>
              </a:spcBef>
              <a:spcAft>
                <a:spcPts val="500"/>
              </a:spcAft>
              <a:buClrTx/>
              <a:buSzPct val="100000"/>
              <a:buFontTx/>
              <a:buChar char="•"/>
              <a:defRPr sz="1800" kern="1200">
                <a:solidFill>
                  <a:schemeClr val="accent5"/>
                </a:solidFill>
                <a:latin typeface="+mn-lt"/>
                <a:ea typeface="Roboto Condensed" panose="02000000000000000000" pitchFamily="2" charset="0"/>
                <a:cs typeface="+mn-cs"/>
              </a:defRPr>
            </a:lvl2pPr>
            <a:lvl3pPr marL="741600" indent="-284400" algn="l" defTabSz="914400" rtl="0" eaLnBrk="1" latinLnBrk="0" hangingPunct="1">
              <a:lnSpc>
                <a:spcPts val="2000"/>
              </a:lnSpc>
              <a:spcBef>
                <a:spcPts val="500"/>
              </a:spcBef>
              <a:spcAft>
                <a:spcPts val="500"/>
              </a:spcAft>
              <a:buClrTx/>
              <a:buSzPct val="100000"/>
              <a:buFontTx/>
              <a:buChar char="•"/>
              <a:defRPr sz="1800" kern="1200">
                <a:solidFill>
                  <a:schemeClr val="accent5"/>
                </a:solidFill>
                <a:latin typeface="+mn-lt"/>
                <a:ea typeface="Roboto Condensed" panose="02000000000000000000" pitchFamily="2" charset="0"/>
                <a:cs typeface="+mn-cs"/>
              </a:defRPr>
            </a:lvl3pPr>
            <a:lvl4pPr marL="1198800" indent="-284400" algn="l" defTabSz="914400" rtl="0" eaLnBrk="1" latinLnBrk="0" hangingPunct="1">
              <a:lnSpc>
                <a:spcPts val="2000"/>
              </a:lnSpc>
              <a:spcBef>
                <a:spcPts val="500"/>
              </a:spcBef>
              <a:spcAft>
                <a:spcPts val="500"/>
              </a:spcAft>
              <a:buClrTx/>
              <a:buSzPct val="100000"/>
              <a:buFontTx/>
              <a:buChar char="•"/>
              <a:defRPr sz="1800" kern="1200">
                <a:solidFill>
                  <a:schemeClr val="accent5"/>
                </a:solidFill>
                <a:latin typeface="+mn-lt"/>
                <a:ea typeface="Roboto Condensed" panose="02000000000000000000" pitchFamily="2" charset="0"/>
                <a:cs typeface="+mn-cs"/>
              </a:defRPr>
            </a:lvl4pPr>
            <a:lvl5pPr marL="1656000" indent="-284400" algn="l" defTabSz="914400" rtl="0" eaLnBrk="1" latinLnBrk="0" hangingPunct="1">
              <a:lnSpc>
                <a:spcPts val="2000"/>
              </a:lnSpc>
              <a:spcBef>
                <a:spcPts val="500"/>
              </a:spcBef>
              <a:spcAft>
                <a:spcPts val="500"/>
              </a:spcAft>
              <a:buClrTx/>
              <a:buSzPct val="100000"/>
              <a:buFontTx/>
              <a:buChar char="•"/>
              <a:defRPr sz="1800" kern="1200">
                <a:solidFill>
                  <a:schemeClr val="accent5"/>
                </a:solidFill>
                <a:latin typeface="+mn-lt"/>
                <a:ea typeface="Roboto Condensed"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lgn="l">
              <a:lnSpc>
                <a:spcPct val="100000"/>
              </a:lnSpc>
              <a:spcBef>
                <a:spcPts val="0"/>
              </a:spcBef>
              <a:spcAft>
                <a:spcPts val="0"/>
              </a:spcAft>
              <a:buNone/>
            </a:pPr>
            <a:r>
              <a:rPr lang="en-IN" sz="1400" dirty="0">
                <a:solidFill>
                  <a:srgbClr val="808080"/>
                </a:solidFill>
              </a:rPr>
              <a:t>Sources: </a:t>
            </a:r>
            <a:r>
              <a:rPr lang="en-IN" sz="1400" dirty="0" err="1">
                <a:solidFill>
                  <a:srgbClr val="808080"/>
                </a:solidFill>
              </a:rPr>
              <a:t>MarketsandMarkets</a:t>
            </a:r>
            <a:r>
              <a:rPr lang="en-IN" sz="1400" dirty="0">
                <a:solidFill>
                  <a:srgbClr val="808080"/>
                </a:solidFill>
              </a:rPr>
              <a:t>, Grand View Research, Lighthouse Global</a:t>
            </a:r>
            <a:endParaRPr lang="en-US" sz="1100" b="0" dirty="0">
              <a:solidFill>
                <a:schemeClr val="tx1"/>
              </a:solidFill>
              <a:latin typeface="+mj-lt"/>
            </a:endParaRPr>
          </a:p>
        </p:txBody>
      </p:sp>
    </p:spTree>
    <p:extLst>
      <p:ext uri="{BB962C8B-B14F-4D97-AF65-F5344CB8AC3E}">
        <p14:creationId xmlns:p14="http://schemas.microsoft.com/office/powerpoint/2010/main" val="2459778935"/>
      </p:ext>
    </p:extLst>
  </p:cSld>
  <p:clrMapOvr>
    <a:masterClrMapping/>
  </p:clrMapOvr>
  <p:transition>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45DA8-5A8B-2BFC-E6E0-B853A36ED7A1}"/>
            </a:ext>
          </a:extLst>
        </p:cNvPr>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1313816B-614F-7364-0BB6-4BD52586EF2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484" imgH="486" progId="TCLayout.ActiveDocument.1">
                  <p:embed/>
                </p:oleObj>
              </mc:Choice>
              <mc:Fallback>
                <p:oleObj name="think-cell Slide" r:id="rId10" imgW="484" imgH="486" progId="TCLayout.ActiveDocument.1">
                  <p:embed/>
                  <p:pic>
                    <p:nvPicPr>
                      <p:cNvPr id="6" name="Object 5" hidden="1">
                        <a:extLst>
                          <a:ext uri="{FF2B5EF4-FFF2-40B4-BE49-F238E27FC236}">
                            <a16:creationId xmlns:a16="http://schemas.microsoft.com/office/drawing/2014/main" id="{1313816B-614F-7364-0BB6-4BD52586EF20}"/>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8" name="Title 1">
            <a:extLst>
              <a:ext uri="{FF2B5EF4-FFF2-40B4-BE49-F238E27FC236}">
                <a16:creationId xmlns:a16="http://schemas.microsoft.com/office/drawing/2014/main" id="{E537EF82-8349-6078-C633-1ADF7DE97812}"/>
              </a:ext>
            </a:extLst>
          </p:cNvPr>
          <p:cNvSpPr>
            <a:spLocks noGrp="1"/>
          </p:cNvSpPr>
          <p:nvPr>
            <p:ph type="title"/>
          </p:nvPr>
        </p:nvSpPr>
        <p:spPr>
          <a:xfrm>
            <a:off x="4857007" y="550325"/>
            <a:ext cx="4052677" cy="507062"/>
          </a:xfrm>
        </p:spPr>
        <p:txBody>
          <a:bodyPr vert="horz">
            <a:noAutofit/>
          </a:bodyPr>
          <a:lstStyle/>
          <a:p>
            <a:pPr algn="ctr"/>
            <a:r>
              <a:rPr>
                <a:solidFill>
                  <a:srgbClr val="3D3D3D"/>
                </a:solidFill>
              </a:rPr>
              <a:t>Cogent's AI Taskforce</a:t>
            </a:r>
          </a:p>
        </p:txBody>
      </p:sp>
      <p:pic>
        <p:nvPicPr>
          <p:cNvPr id="7" name="Graphic 6" descr="Add outline">
            <a:extLst>
              <a:ext uri="{FF2B5EF4-FFF2-40B4-BE49-F238E27FC236}">
                <a16:creationId xmlns:a16="http://schemas.microsoft.com/office/drawing/2014/main" id="{E2DFBA97-193D-E47F-E171-9A04B8F5E596}"/>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2048599" y="2893039"/>
            <a:ext cx="212056" cy="212056"/>
          </a:xfrm>
          <a:prstGeom prst="rect">
            <a:avLst/>
          </a:prstGeom>
        </p:spPr>
      </p:pic>
      <p:sp>
        <p:nvSpPr>
          <p:cNvPr id="18" name="ee4pHeader3">
            <a:extLst>
              <a:ext uri="{FF2B5EF4-FFF2-40B4-BE49-F238E27FC236}">
                <a16:creationId xmlns:a16="http://schemas.microsoft.com/office/drawing/2014/main" id="{810DCE58-7D95-DDE8-4414-F3ECBD96D375}"/>
              </a:ext>
            </a:extLst>
          </p:cNvPr>
          <p:cNvSpPr txBox="1"/>
          <p:nvPr>
            <p:custDataLst>
              <p:tags r:id="rId2"/>
            </p:custDataLst>
          </p:nvPr>
        </p:nvSpPr>
        <p:spPr>
          <a:xfrm>
            <a:off x="283575" y="4935828"/>
            <a:ext cx="3785065" cy="1023076"/>
          </a:xfrm>
          <a:prstGeom prst="rect">
            <a:avLst/>
          </a:prstGeom>
          <a:solidFill>
            <a:srgbClr val="F2D4DD"/>
          </a:solidFill>
          <a:ln/>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chor="ctr" anchorCtr="0">
            <a:noAutofit/>
          </a:bodyPr>
          <a:lstStyle/>
          <a:p>
            <a:pPr algn="ctr"/>
            <a:r>
              <a:rPr sz="1400">
                <a:solidFill>
                  <a:srgbClr val="3D3D3D"/>
                </a:solidFill>
              </a:rPr>
              <a:t>Manual vulnerability scanning and assessment processes that require extensive human intervention and create significant operational overhead</a:t>
            </a:r>
          </a:p>
        </p:txBody>
      </p:sp>
      <p:cxnSp>
        <p:nvCxnSpPr>
          <p:cNvPr id="29" name="Straight Connector 28">
            <a:extLst>
              <a:ext uri="{FF2B5EF4-FFF2-40B4-BE49-F238E27FC236}">
                <a16:creationId xmlns:a16="http://schemas.microsoft.com/office/drawing/2014/main" id="{31ECA494-69B3-1447-A84B-DDC093B3AE9E}"/>
              </a:ext>
            </a:extLst>
          </p:cNvPr>
          <p:cNvCxnSpPr>
            <a:cxnSpLocks/>
          </p:cNvCxnSpPr>
          <p:nvPr/>
        </p:nvCxnSpPr>
        <p:spPr>
          <a:xfrm>
            <a:off x="4572000" y="1294874"/>
            <a:ext cx="0" cy="4526056"/>
          </a:xfrm>
          <a:prstGeom prst="line">
            <a:avLst/>
          </a:prstGeom>
          <a:ln/>
        </p:spPr>
        <p:style>
          <a:lnRef idx="2">
            <a:schemeClr val="accent1"/>
          </a:lnRef>
          <a:fillRef idx="0">
            <a:schemeClr val="accent1"/>
          </a:fillRef>
          <a:effectRef idx="1">
            <a:schemeClr val="accent1"/>
          </a:effectRef>
          <a:fontRef idx="minor">
            <a:schemeClr val="tx1"/>
          </a:fontRef>
        </p:style>
      </p:cxnSp>
      <p:sp>
        <p:nvSpPr>
          <p:cNvPr id="9" name="ee4pHeader3">
            <a:extLst>
              <a:ext uri="{FF2B5EF4-FFF2-40B4-BE49-F238E27FC236}">
                <a16:creationId xmlns:a16="http://schemas.microsoft.com/office/drawing/2014/main" id="{1AABCF57-4714-8181-757F-0CF483446278}"/>
              </a:ext>
            </a:extLst>
          </p:cNvPr>
          <p:cNvSpPr txBox="1"/>
          <p:nvPr>
            <p:custDataLst>
              <p:tags r:id="rId3"/>
            </p:custDataLst>
          </p:nvPr>
        </p:nvSpPr>
        <p:spPr>
          <a:xfrm>
            <a:off x="283552" y="3169959"/>
            <a:ext cx="3785065" cy="1380055"/>
          </a:xfrm>
          <a:prstGeom prst="rect">
            <a:avLst/>
          </a:prstGeom>
          <a:solidFill>
            <a:srgbClr val="F2D4DD"/>
          </a:solidFill>
          <a:ln/>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chor="ctr" anchorCtr="0">
            <a:noAutofit/>
          </a:bodyPr>
          <a:lstStyle/>
          <a:p>
            <a:pPr algn="ctr"/>
            <a:r>
              <a:rPr sz="1400">
                <a:solidFill>
                  <a:srgbClr val="3D3D3D"/>
                </a:solidFill>
              </a:rPr>
              <a:t>Siloed, outdated asset inventories that leave security teams blind to the full picture of what's vulnerable and why it matters to the business</a:t>
            </a:r>
          </a:p>
        </p:txBody>
      </p:sp>
      <p:sp>
        <p:nvSpPr>
          <p:cNvPr id="10" name="ee4pHeader3">
            <a:extLst>
              <a:ext uri="{FF2B5EF4-FFF2-40B4-BE49-F238E27FC236}">
                <a16:creationId xmlns:a16="http://schemas.microsoft.com/office/drawing/2014/main" id="{C37282AF-AF3C-9768-DE55-985B8D9ECDCB}"/>
              </a:ext>
            </a:extLst>
          </p:cNvPr>
          <p:cNvSpPr txBox="1"/>
          <p:nvPr>
            <p:custDataLst>
              <p:tags r:id="rId4"/>
            </p:custDataLst>
          </p:nvPr>
        </p:nvSpPr>
        <p:spPr>
          <a:xfrm>
            <a:off x="288167" y="1294873"/>
            <a:ext cx="3852000" cy="1430886"/>
          </a:xfrm>
          <a:prstGeom prst="rect">
            <a:avLst/>
          </a:prstGeom>
          <a:solidFill>
            <a:srgbClr val="F2D4DD"/>
          </a:solidFill>
          <a:ln/>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chor="ctr" anchorCtr="0">
            <a:noAutofit/>
          </a:bodyPr>
          <a:lstStyle/>
          <a:p>
            <a:pPr algn="ctr"/>
            <a:r>
              <a:rPr sz="1400">
                <a:solidFill>
                  <a:srgbClr val="3D3D3D"/>
                </a:solidFill>
              </a:rPr>
              <a:t>Overwhelming vulnerability backlogs with no intelligent prioritization, making it impossible to focus resources on findings that pose real business risk</a:t>
            </a:r>
          </a:p>
        </p:txBody>
      </p:sp>
      <p:pic>
        <p:nvPicPr>
          <p:cNvPr id="26" name="Graphic 25" descr="Add outline">
            <a:extLst>
              <a:ext uri="{FF2B5EF4-FFF2-40B4-BE49-F238E27FC236}">
                <a16:creationId xmlns:a16="http://schemas.microsoft.com/office/drawing/2014/main" id="{4A627375-5A35-B5C3-2BDE-FDF5E8299BEA}"/>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6812239" y="3267381"/>
            <a:ext cx="212758" cy="212758"/>
          </a:xfrm>
          <a:prstGeom prst="rect">
            <a:avLst/>
          </a:prstGeom>
        </p:spPr>
      </p:pic>
      <p:sp>
        <p:nvSpPr>
          <p:cNvPr id="30" name="ee4pHeader3">
            <a:extLst>
              <a:ext uri="{FF2B5EF4-FFF2-40B4-BE49-F238E27FC236}">
                <a16:creationId xmlns:a16="http://schemas.microsoft.com/office/drawing/2014/main" id="{4689E089-795A-AB7A-9AAB-59D4A7D6FDAA}"/>
              </a:ext>
            </a:extLst>
          </p:cNvPr>
          <p:cNvSpPr txBox="1"/>
          <p:nvPr>
            <p:custDataLst>
              <p:tags r:id="rId5"/>
            </p:custDataLst>
          </p:nvPr>
        </p:nvSpPr>
        <p:spPr>
          <a:xfrm>
            <a:off x="5018675" y="4935828"/>
            <a:ext cx="3785065" cy="1023075"/>
          </a:xfrm>
          <a:prstGeom prst="rect">
            <a:avLst/>
          </a:prstGeom>
          <a:solidFill>
            <a:srgbClr val="DEEFDB"/>
          </a:solidFill>
          <a:ln/>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chor="ctr" anchorCtr="0">
            <a:noAutofit/>
          </a:bodyPr>
          <a:lstStyle/>
          <a:p>
            <a:pPr algn="ctr"/>
            <a:r>
              <a:rPr sz="1400">
                <a:solidFill>
                  <a:srgbClr val="3D3D3D"/>
                </a:solidFill>
              </a:rPr>
              <a:t>Autonomous AI agents that continuously monitor, assess, and prioritize vulnerabilities 24x7 at machine speed with minimal human oversight required</a:t>
            </a:r>
          </a:p>
        </p:txBody>
      </p:sp>
      <p:sp>
        <p:nvSpPr>
          <p:cNvPr id="31" name="ee4pHeader3">
            <a:extLst>
              <a:ext uri="{FF2B5EF4-FFF2-40B4-BE49-F238E27FC236}">
                <a16:creationId xmlns:a16="http://schemas.microsoft.com/office/drawing/2014/main" id="{C435C643-AFD8-A711-98E3-3F4D8F7E1015}"/>
              </a:ext>
            </a:extLst>
          </p:cNvPr>
          <p:cNvSpPr txBox="1"/>
          <p:nvPr>
            <p:custDataLst>
              <p:tags r:id="rId6"/>
            </p:custDataLst>
          </p:nvPr>
        </p:nvSpPr>
        <p:spPr>
          <a:xfrm>
            <a:off x="5018652" y="3529674"/>
            <a:ext cx="3785065" cy="1023075"/>
          </a:xfrm>
          <a:prstGeom prst="rect">
            <a:avLst/>
          </a:prstGeom>
          <a:solidFill>
            <a:srgbClr val="DEEFDB"/>
          </a:solidFill>
          <a:ln/>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chor="ctr" anchorCtr="0">
            <a:noAutofit/>
          </a:bodyPr>
          <a:lstStyle/>
          <a:p>
            <a:pPr algn="ctr"/>
            <a:r>
              <a:rPr sz="1400">
                <a:solidFill>
                  <a:srgbClr val="3D3D3D"/>
                </a:solidFill>
              </a:rPr>
              <a:t>Enriched asset inventory with 90% accuracy in inferring system ownership, business criticality, and sensitive data presence through deep context extraction</a:t>
            </a:r>
          </a:p>
        </p:txBody>
      </p:sp>
      <p:sp>
        <p:nvSpPr>
          <p:cNvPr id="32" name="ee4pHeader3">
            <a:extLst>
              <a:ext uri="{FF2B5EF4-FFF2-40B4-BE49-F238E27FC236}">
                <a16:creationId xmlns:a16="http://schemas.microsoft.com/office/drawing/2014/main" id="{2A52D871-5644-1E13-6BFE-C32D17C4AC21}"/>
              </a:ext>
            </a:extLst>
          </p:cNvPr>
          <p:cNvSpPr txBox="1"/>
          <p:nvPr>
            <p:custDataLst>
              <p:tags r:id="rId7"/>
            </p:custDataLst>
          </p:nvPr>
        </p:nvSpPr>
        <p:spPr>
          <a:xfrm>
            <a:off x="5023268" y="1294874"/>
            <a:ext cx="3785065" cy="1936882"/>
          </a:xfrm>
          <a:prstGeom prst="rect">
            <a:avLst/>
          </a:prstGeom>
          <a:solidFill>
            <a:srgbClr val="DEEFDB"/>
          </a:solidFill>
          <a:ln/>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chor="ctr" anchorCtr="0">
            <a:noAutofit/>
          </a:bodyPr>
          <a:lstStyle/>
          <a:p>
            <a:pPr algn="ctr"/>
            <a:r>
              <a:rPr sz="1400">
                <a:solidFill>
                  <a:srgbClr val="3D3D3D"/>
                </a:solidFill>
              </a:rPr>
              <a:t>Dynamic risk prioritization using live threat intelligence, asset exposure analysis, and business impact assessment to focus on what matters most</a:t>
            </a:r>
          </a:p>
        </p:txBody>
      </p:sp>
      <p:sp>
        <p:nvSpPr>
          <p:cNvPr id="4" name="Title 1">
            <a:extLst>
              <a:ext uri="{FF2B5EF4-FFF2-40B4-BE49-F238E27FC236}">
                <a16:creationId xmlns:a16="http://schemas.microsoft.com/office/drawing/2014/main" id="{472E7521-22FA-0764-9E06-5F88901EB6B0}"/>
              </a:ext>
            </a:extLst>
          </p:cNvPr>
          <p:cNvSpPr txBox="1">
            <a:spLocks/>
          </p:cNvSpPr>
          <p:nvPr/>
        </p:nvSpPr>
        <p:spPr>
          <a:xfrm>
            <a:off x="234317" y="596277"/>
            <a:ext cx="4052677" cy="507062"/>
          </a:xfrm>
          <a:prstGeom prst="rect">
            <a:avLst/>
          </a:prstGeom>
        </p:spPr>
        <p:txBody>
          <a:bodyPr vert="horz" wrap="square" lIns="90000" tIns="46800" rIns="90000" bIns="46800" rtlCol="0" anchor="b" anchorCtr="0">
            <a:noAutofit/>
          </a:bodyPr>
          <a:lstStyle>
            <a:lvl1pPr algn="l" defTabSz="914400" rtl="0" eaLnBrk="1" latinLnBrk="0" hangingPunct="1">
              <a:lnSpc>
                <a:spcPct val="90000"/>
              </a:lnSpc>
              <a:spcBef>
                <a:spcPct val="0"/>
              </a:spcBef>
              <a:buNone/>
              <a:defRPr lang="en-US" sz="3200" kern="1200" cap="none" baseline="0" dirty="0">
                <a:solidFill>
                  <a:srgbClr val="005A82"/>
                </a:solidFill>
                <a:latin typeface="Roboto Condensed" panose="02000000000000000000" pitchFamily="2" charset="0"/>
                <a:ea typeface="Roboto Condensed" panose="02000000000000000000" pitchFamily="2" charset="0"/>
                <a:cs typeface="+mn-cs"/>
              </a:defRPr>
            </a:lvl1pPr>
          </a:lstStyle>
          <a:p>
            <a:pPr algn="ctr"/>
            <a:r>
              <a:rPr>
                <a:solidFill>
                  <a:srgbClr val="3D3D3D"/>
                </a:solidFill>
              </a:rPr>
              <a:t>Traditional Vulnerability Management</a:t>
            </a:r>
          </a:p>
        </p:txBody>
      </p:sp>
      <p:pic>
        <p:nvPicPr>
          <p:cNvPr id="2" name="Graphic 1" descr="Add outline">
            <a:extLst>
              <a:ext uri="{FF2B5EF4-FFF2-40B4-BE49-F238E27FC236}">
                <a16:creationId xmlns:a16="http://schemas.microsoft.com/office/drawing/2014/main" id="{E64CB5CA-B63E-AA4F-6FCA-0C65B852137D}"/>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6812239" y="4662999"/>
            <a:ext cx="212758" cy="212758"/>
          </a:xfrm>
          <a:prstGeom prst="rect">
            <a:avLst/>
          </a:prstGeom>
        </p:spPr>
      </p:pic>
      <p:pic>
        <p:nvPicPr>
          <p:cNvPr id="3" name="Graphic 2" descr="Add outline">
            <a:extLst>
              <a:ext uri="{FF2B5EF4-FFF2-40B4-BE49-F238E27FC236}">
                <a16:creationId xmlns:a16="http://schemas.microsoft.com/office/drawing/2014/main" id="{BD8A7C02-9B3D-AFD9-7F09-9BDB6ADD71E7}"/>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2048599" y="4658908"/>
            <a:ext cx="212056" cy="212056"/>
          </a:xfrm>
          <a:prstGeom prst="rect">
            <a:avLst/>
          </a:prstGeom>
        </p:spPr>
      </p:pic>
    </p:spTree>
    <p:extLst>
      <p:ext uri="{BB962C8B-B14F-4D97-AF65-F5344CB8AC3E}">
        <p14:creationId xmlns:p14="http://schemas.microsoft.com/office/powerpoint/2010/main" val="307604708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33B169-EEE5-B428-B115-10C7454FCA82}"/>
            </a:ext>
          </a:extLst>
        </p:cNvPr>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92F382D1-D00F-7587-EA02-352D9FB729A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84" imgH="486" progId="TCLayout.ActiveDocument.1">
                  <p:embed/>
                </p:oleObj>
              </mc:Choice>
              <mc:Fallback>
                <p:oleObj name="think-cell Slide" r:id="rId4" imgW="484" imgH="486" progId="TCLayout.ActiveDocument.1">
                  <p:embed/>
                  <p:pic>
                    <p:nvPicPr>
                      <p:cNvPr id="6" name="Object 5" hidden="1">
                        <a:extLst>
                          <a:ext uri="{FF2B5EF4-FFF2-40B4-BE49-F238E27FC236}">
                            <a16:creationId xmlns:a16="http://schemas.microsoft.com/office/drawing/2014/main" id="{92F382D1-D00F-7587-EA02-352D9FB729A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3" name="TextBox 22">
            <a:extLst>
              <a:ext uri="{FF2B5EF4-FFF2-40B4-BE49-F238E27FC236}">
                <a16:creationId xmlns:a16="http://schemas.microsoft.com/office/drawing/2014/main" id="{0B2A4F69-9ACF-0CAA-B5E9-BF79A42EB4B7}"/>
              </a:ext>
            </a:extLst>
          </p:cNvPr>
          <p:cNvSpPr txBox="1"/>
          <p:nvPr/>
        </p:nvSpPr>
        <p:spPr>
          <a:xfrm>
            <a:off x="597170" y="1321174"/>
            <a:ext cx="7551150" cy="4483279"/>
          </a:xfrm>
          <a:prstGeom prst="rect">
            <a:avLst/>
          </a:prstGeom>
          <a:noFill/>
        </p:spPr>
        <p:txBody>
          <a:bodyPr wrap="square" rtlCol="0">
            <a:spAutoFit/>
          </a:bodyPr>
          <a:lstStyle/>
          <a:p>
            <a:pPr>
              <a:lnSpc>
                <a:spcPct val="150000"/>
              </a:lnSpc>
            </a:pPr>
            <a:r>
              <a:rPr sz="1600">
                <a:solidFill>
                  <a:srgbClr val="3D3D3D"/>
                </a:solidFill>
              </a:rPr>
              <a:t>1. 1. &lt;cite index="3-6,5-6"Vulnerability management market valued at $14.94 billion in 2024, expected to reach $24.08 billion by 2030&lt;/cite with &lt;cite index="3-8,5-8"8% CAGR driven by expanding attack surfaces and regulatory requirements&lt;/cite</a:t>
            </a:r>
          </a:p>
          <a:p>
            <a:pPr>
              <a:lnSpc>
                <a:spcPct val="150000"/>
              </a:lnSpc>
            </a:pPr>
            <a:r>
              <a:rPr sz="1600">
                <a:solidFill>
                  <a:srgbClr val="3D3D3D"/>
                </a:solidFill>
              </a:rPr>
              <a:t>2. 2. &lt;cite index="3-9,5-9"Market highly concentrated with top 3 players holding over 60% share&lt;/cite, creating opportunity for innovative AI-native solutions to disrupt established vendors</a:t>
            </a:r>
          </a:p>
          <a:p>
            <a:pPr>
              <a:lnSpc>
                <a:spcPct val="150000"/>
              </a:lnSpc>
            </a:pPr>
            <a:r>
              <a:rPr sz="1600">
                <a:solidFill>
                  <a:srgbClr val="3D3D3D"/>
                </a:solidFill>
              </a:rPr>
              <a:t>3. 3. &lt;cite index="5-16"Growing adoption of IoT and cloud trends, plus integration of AI and machine learning technologies&lt;/cite are reshaping vulnerability management requirements and capabilities</a:t>
            </a:r>
          </a:p>
          <a:p>
            <a:pPr>
              <a:lnSpc>
                <a:spcPct val="150000"/>
              </a:lnSpc>
            </a:pPr>
            <a:r>
              <a:rPr sz="1600">
                <a:solidFill>
                  <a:srgbClr val="3D3D3D"/>
                </a:solidFill>
              </a:rPr>
              <a:t>4. 4. &lt;cite index="3-12,5-12"Rapid expansion of modern attack surface has resulted in significant increase in security weaknesses&lt;/cite, overwhelming traditional manual approaches and creating demand for autonomous solutions</a:t>
            </a:r>
          </a:p>
          <a:p>
            <a:pPr>
              <a:lnSpc>
                <a:spcPct val="150000"/>
              </a:lnSpc>
            </a:pPr>
            <a:r>
              <a:rPr sz="1600">
                <a:solidFill>
                  <a:srgbClr val="3D3D3D"/>
                </a:solidFill>
              </a:rPr>
              <a:t>5. 5. &lt;cite index="6-28,6-30"Organizations using AI-driven tools for 24/7 network monitoring and real-time threat intelligence&lt;/cite to stay ahead of evolving cyber threats and reduce response times</a:t>
            </a:r>
          </a:p>
        </p:txBody>
      </p:sp>
      <p:sp>
        <p:nvSpPr>
          <p:cNvPr id="8" name="Title 1">
            <a:extLst>
              <a:ext uri="{FF2B5EF4-FFF2-40B4-BE49-F238E27FC236}">
                <a16:creationId xmlns:a16="http://schemas.microsoft.com/office/drawing/2014/main" id="{3967CB08-C17F-3B35-9D70-5479DDA7CABC}"/>
              </a:ext>
            </a:extLst>
          </p:cNvPr>
          <p:cNvSpPr>
            <a:spLocks noGrp="1"/>
          </p:cNvSpPr>
          <p:nvPr>
            <p:ph type="title"/>
          </p:nvPr>
        </p:nvSpPr>
        <p:spPr>
          <a:xfrm>
            <a:off x="597170" y="528021"/>
            <a:ext cx="8675370" cy="507062"/>
          </a:xfrm>
        </p:spPr>
        <p:txBody>
          <a:bodyPr vert="horz">
            <a:noAutofit/>
          </a:bodyPr>
          <a:lstStyle/>
          <a:p>
            <a:r>
              <a:t>Some Key Observations about Market Structure</a:t>
            </a:r>
          </a:p>
        </p:txBody>
      </p:sp>
    </p:spTree>
    <p:extLst>
      <p:ext uri="{BB962C8B-B14F-4D97-AF65-F5344CB8AC3E}">
        <p14:creationId xmlns:p14="http://schemas.microsoft.com/office/powerpoint/2010/main" val="118140671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19DD48-8682-3F15-F51B-2900400EEF91}"/>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9BE5165A-3864-1BD6-A50C-518581CEB2B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27" imgH="327" progId="TCLayout.ActiveDocument.1">
                  <p:embed/>
                </p:oleObj>
              </mc:Choice>
              <mc:Fallback>
                <p:oleObj name="think-cell Slide" r:id="rId4" imgW="327" imgH="327" progId="TCLayout.ActiveDocument.1">
                  <p:embed/>
                  <p:pic>
                    <p:nvPicPr>
                      <p:cNvPr id="4" name="think-cell data - do not delete" hidden="1">
                        <a:extLst>
                          <a:ext uri="{FF2B5EF4-FFF2-40B4-BE49-F238E27FC236}">
                            <a16:creationId xmlns:a16="http://schemas.microsoft.com/office/drawing/2014/main" id="{9BE5165A-3864-1BD6-A50C-518581CEB2B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0046E7F1-86C6-C8F2-95BC-7AEF56914A07}"/>
              </a:ext>
            </a:extLst>
          </p:cNvPr>
          <p:cNvSpPr>
            <a:spLocks noGrp="1"/>
          </p:cNvSpPr>
          <p:nvPr>
            <p:ph type="title"/>
          </p:nvPr>
        </p:nvSpPr>
        <p:spPr/>
        <p:txBody>
          <a:bodyPr vert="horz"/>
          <a:lstStyle/>
          <a:p>
            <a:r>
              <a:t>Competitive Landscape - Vulnerability Management Market</a:t>
            </a:r>
          </a:p>
        </p:txBody>
      </p:sp>
      <p:graphicFrame>
        <p:nvGraphicFramePr>
          <p:cNvPr id="7" name="Table 6">
            <a:extLst>
              <a:ext uri="{FF2B5EF4-FFF2-40B4-BE49-F238E27FC236}">
                <a16:creationId xmlns:a16="http://schemas.microsoft.com/office/drawing/2014/main" id="{D7152FFF-2E18-62ED-1EF2-B26A9BF376DB}"/>
              </a:ext>
            </a:extLst>
          </p:cNvPr>
          <p:cNvGraphicFramePr>
            <a:graphicFrameLocks noGrp="1"/>
          </p:cNvGraphicFramePr>
          <p:nvPr>
            <p:extLst>
              <p:ext uri="{D42A27DB-BD31-4B8C-83A1-F6EECF244321}">
                <p14:modId xmlns:p14="http://schemas.microsoft.com/office/powerpoint/2010/main" val="1257380902"/>
              </p:ext>
            </p:extLst>
          </p:nvPr>
        </p:nvGraphicFramePr>
        <p:xfrm>
          <a:off x="717972" y="1563686"/>
          <a:ext cx="7835935" cy="3578329"/>
        </p:xfrm>
        <a:graphic>
          <a:graphicData uri="http://schemas.openxmlformats.org/drawingml/2006/table">
            <a:tbl>
              <a:tblPr/>
              <a:tblGrid>
                <a:gridCol w="2308556">
                  <a:extLst>
                    <a:ext uri="{9D8B030D-6E8A-4147-A177-3AD203B41FA5}">
                      <a16:colId xmlns:a16="http://schemas.microsoft.com/office/drawing/2014/main" val="3089847232"/>
                    </a:ext>
                  </a:extLst>
                </a:gridCol>
                <a:gridCol w="2910936">
                  <a:extLst>
                    <a:ext uri="{9D8B030D-6E8A-4147-A177-3AD203B41FA5}">
                      <a16:colId xmlns:a16="http://schemas.microsoft.com/office/drawing/2014/main" val="3992271613"/>
                    </a:ext>
                  </a:extLst>
                </a:gridCol>
                <a:gridCol w="2616443">
                  <a:extLst>
                    <a:ext uri="{9D8B030D-6E8A-4147-A177-3AD203B41FA5}">
                      <a16:colId xmlns:a16="http://schemas.microsoft.com/office/drawing/2014/main" val="2670471653"/>
                    </a:ext>
                  </a:extLst>
                </a:gridCol>
              </a:tblGrid>
              <a:tr h="539642">
                <a:tc>
                  <a:txBody>
                    <a:bodyPr/>
                    <a:lstStyle/>
                    <a:p>
                      <a:pPr fontAlgn="t" latinLnBrk="0"/>
                      <a:r>
                        <a:rPr lang="en-US" sz="1200" b="0">
                          <a:solidFill>
                            <a:schemeClr val="bg1"/>
                          </a:solidFill>
                          <a:effectLst/>
                        </a:rPr>
                        <a:t>Vertical</a:t>
                      </a:r>
                      <a:endParaRPr lang="en-US" sz="1200" b="0" dirty="0">
                        <a:solidFill>
                          <a:schemeClr val="bg1"/>
                        </a:solidFill>
                        <a:effectLst/>
                      </a:endParaRPr>
                    </a:p>
                  </a:txBody>
                  <a:tcPr marL="31762" marR="31762" marT="31762" marB="31762">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fontAlgn="t" latinLnBrk="0"/>
                      <a:r>
                        <a:rPr lang="en-IN" sz="1200" dirty="0">
                          <a:solidFill>
                            <a:schemeClr val="bg1"/>
                          </a:solidFill>
                        </a:rPr>
                        <a:t>Legacy/Build Your Own</a:t>
                      </a:r>
                      <a:endParaRPr lang="en-US" sz="1200" b="0" dirty="0">
                        <a:solidFill>
                          <a:schemeClr val="bg1"/>
                        </a:solidFill>
                        <a:effectLst/>
                      </a:endParaRPr>
                    </a:p>
                  </a:txBody>
                  <a:tcPr marL="31762" marR="31762" marT="31762" marB="31762">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fontAlgn="t" latinLnBrk="0"/>
                      <a:r>
                        <a:rPr lang="en-US" sz="1200" b="0" dirty="0">
                          <a:solidFill>
                            <a:schemeClr val="bg1"/>
                          </a:solidFill>
                          <a:effectLst/>
                        </a:rPr>
                        <a:t>Modern Embedded</a:t>
                      </a:r>
                    </a:p>
                  </a:txBody>
                  <a:tcPr marL="31762" marR="31762" marT="31762" marB="31762">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870651633"/>
                  </a:ext>
                </a:extLst>
              </a:tr>
              <a:tr h="782805">
                <a:tc>
                  <a:txBody>
                    <a:bodyPr/>
                    <a:lstStyle/>
                    <a:p>
                      <a:r>
                        <a:rPr sz="1400">
                          <a:solidFill>
                            <a:srgbClr val="3D3D3D"/>
                          </a:solidFill>
                        </a:rPr>
                        <a:t>Traditional VM Tools</a:t>
                      </a: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1400">
                          <a:solidFill>
                            <a:srgbClr val="3D3D3D"/>
                          </a:solidFill>
                        </a:rPr>
                        <a:t>Tenable, Qualys, Rapid7</a:t>
                      </a: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1400">
                          <a:solidFill>
                            <a:srgbClr val="3D3D3D"/>
                          </a:solidFill>
                        </a:rPr>
                        <a:t>Cogent, Hackuity, Wiz</a:t>
                      </a: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92401165"/>
                  </a:ext>
                </a:extLst>
              </a:tr>
              <a:tr h="782805">
                <a:tc>
                  <a:txBody>
                    <a:bodyPr/>
                    <a:lstStyle/>
                    <a:p>
                      <a:r>
                        <a:rPr sz="1400">
                          <a:solidFill>
                            <a:srgbClr val="3D3D3D"/>
                          </a:solidFill>
                        </a:rPr>
                        <a:t>Asset Discovery</a:t>
                      </a: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1400">
                          <a:solidFill>
                            <a:srgbClr val="3D3D3D"/>
                          </a:solidFill>
                        </a:rPr>
                        <a:t>Manual inventory and CMDB</a:t>
                      </a: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1400">
                          <a:solidFill>
                            <a:srgbClr val="3D3D3D"/>
                          </a:solidFill>
                        </a:rPr>
                        <a:t>AI-powered context extraction</a:t>
                      </a: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32556850"/>
                  </a:ext>
                </a:extLst>
              </a:tr>
              <a:tr h="550445">
                <a:tc>
                  <a:txBody>
                    <a:bodyPr/>
                    <a:lstStyle/>
                    <a:p>
                      <a:r>
                        <a:rPr sz="1400">
                          <a:solidFill>
                            <a:srgbClr val="3D3D3D"/>
                          </a:solidFill>
                        </a:rPr>
                        <a:t>Risk Prioritization</a:t>
                      </a: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1400">
                          <a:solidFill>
                            <a:srgbClr val="3D3D3D"/>
                          </a:solidFill>
                        </a:rPr>
                        <a:t>CVSS scoring and basic filters</a:t>
                      </a: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1400">
                          <a:solidFill>
                            <a:srgbClr val="3D3D3D"/>
                          </a:solidFill>
                        </a:rPr>
                        <a:t>Dynamic risk scoring with business context</a:t>
                      </a: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06035825"/>
                  </a:ext>
                </a:extLst>
              </a:tr>
              <a:tr h="461316">
                <a:tc>
                  <a:txBody>
                    <a:bodyPr/>
                    <a:lstStyle/>
                    <a:p>
                      <a:r>
                        <a:rPr sz="1400">
                          <a:solidFill>
                            <a:srgbClr val="3D3D3D"/>
                          </a:solidFill>
                        </a:rPr>
                        <a:t>Remediation Guidance</a:t>
                      </a: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1400">
                          <a:solidFill>
                            <a:srgbClr val="3D3D3D"/>
                          </a:solidFill>
                        </a:rPr>
                        <a:t>Generic patch recommendations</a:t>
                      </a: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1400">
                          <a:solidFill>
                            <a:srgbClr val="3D3D3D"/>
                          </a:solidFill>
                        </a:rPr>
                        <a:t>Contextual, tailored fix instructions</a:t>
                      </a: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22789274"/>
                  </a:ext>
                </a:extLst>
              </a:tr>
              <a:tr h="461316">
                <a:tc>
                  <a:txBody>
                    <a:bodyPr/>
                    <a:lstStyle/>
                    <a:p>
                      <a:r>
                        <a:rPr sz="1400">
                          <a:solidFill>
                            <a:srgbClr val="3D3D3D"/>
                          </a:solidFill>
                        </a:rPr>
                        <a:t>Workflow Automation</a:t>
                      </a: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1400">
                          <a:solidFill>
                            <a:srgbClr val="3D3D3D"/>
                          </a:solidFill>
                        </a:rPr>
                        <a:t>Manual ticketing and assignment</a:t>
                      </a: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1400">
                          <a:solidFill>
                            <a:srgbClr val="3D3D3D"/>
                          </a:solidFill>
                        </a:rPr>
                        <a:t>Autonomous orchestration and escalation</a:t>
                      </a: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47087813"/>
                  </a:ext>
                </a:extLst>
              </a:tr>
            </a:tbl>
          </a:graphicData>
        </a:graphic>
      </p:graphicFrame>
    </p:spTree>
    <p:extLst>
      <p:ext uri="{BB962C8B-B14F-4D97-AF65-F5344CB8AC3E}">
        <p14:creationId xmlns:p14="http://schemas.microsoft.com/office/powerpoint/2010/main" val="4271812678"/>
      </p:ext>
    </p:extLst>
  </p:cSld>
  <p:clrMapOvr>
    <a:masterClrMapping/>
  </p:clrMapOvr>
  <p:transition>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41845A-FC66-CD10-5FC3-4C639EBB8AD4}"/>
            </a:ext>
          </a:extLst>
        </p:cNvPr>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B4C0C63C-F32E-7009-090D-D5455278CAF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6" progId="TCLayout.ActiveDocument.1">
                  <p:embed/>
                </p:oleObj>
              </mc:Choice>
              <mc:Fallback>
                <p:oleObj name="think-cell Slide" r:id="rId3" imgW="473" imgH="476" progId="TCLayout.ActiveDocument.1">
                  <p:embed/>
                  <p:pic>
                    <p:nvPicPr>
                      <p:cNvPr id="5" name="Object 4" hidden="1">
                        <a:extLst>
                          <a:ext uri="{FF2B5EF4-FFF2-40B4-BE49-F238E27FC236}">
                            <a16:creationId xmlns:a16="http://schemas.microsoft.com/office/drawing/2014/main" id="{B4C0C63C-F32E-7009-090D-D5455278CAF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6" name="Picture 5">
            <a:extLst>
              <a:ext uri="{FF2B5EF4-FFF2-40B4-BE49-F238E27FC236}">
                <a16:creationId xmlns:a16="http://schemas.microsoft.com/office/drawing/2014/main" id="{06AE67B6-18ED-9806-B874-6A11BC1B8E65}"/>
              </a:ext>
            </a:extLst>
          </p:cNvPr>
          <p:cNvPicPr>
            <a:picLocks noChangeAspect="1"/>
          </p:cNvPicPr>
          <p:nvPr/>
        </p:nvPicPr>
        <p:blipFill>
          <a:blip r:embed="rId5"/>
          <a:stretch>
            <a:fillRect/>
          </a:stretch>
        </p:blipFill>
        <p:spPr>
          <a:xfrm>
            <a:off x="7077042" y="6478038"/>
            <a:ext cx="1415013" cy="160031"/>
          </a:xfrm>
          <a:prstGeom prst="rect">
            <a:avLst/>
          </a:prstGeom>
        </p:spPr>
      </p:pic>
      <p:sp>
        <p:nvSpPr>
          <p:cNvPr id="7" name="Title 1">
            <a:extLst>
              <a:ext uri="{FF2B5EF4-FFF2-40B4-BE49-F238E27FC236}">
                <a16:creationId xmlns:a16="http://schemas.microsoft.com/office/drawing/2014/main" id="{C07FBF04-7B4A-4992-E93A-F983E13C5240}"/>
              </a:ext>
            </a:extLst>
          </p:cNvPr>
          <p:cNvSpPr>
            <a:spLocks noGrp="1"/>
          </p:cNvSpPr>
          <p:nvPr>
            <p:ph type="title"/>
          </p:nvPr>
        </p:nvSpPr>
        <p:spPr>
          <a:xfrm>
            <a:off x="644814" y="4413843"/>
            <a:ext cx="7886700" cy="507062"/>
          </a:xfrm>
        </p:spPr>
        <p:txBody>
          <a:bodyPr vert="horz"/>
          <a:lstStyle/>
          <a:p>
            <a:r>
              <a:rPr lang="en-US" cap="none">
                <a:latin typeface="Roboto Condensed"/>
                <a:ea typeface="Roboto Condensed"/>
              </a:rPr>
              <a:t>WestBridge Partnership</a:t>
            </a:r>
          </a:p>
        </p:txBody>
      </p:sp>
      <p:cxnSp>
        <p:nvCxnSpPr>
          <p:cNvPr id="12" name="Straight Connector 11">
            <a:extLst>
              <a:ext uri="{FF2B5EF4-FFF2-40B4-BE49-F238E27FC236}">
                <a16:creationId xmlns:a16="http://schemas.microsoft.com/office/drawing/2014/main" id="{4A0645BF-DB55-FDE9-6E4A-181CDFCD5DED}"/>
              </a:ext>
            </a:extLst>
          </p:cNvPr>
          <p:cNvCxnSpPr/>
          <p:nvPr/>
        </p:nvCxnSpPr>
        <p:spPr>
          <a:xfrm>
            <a:off x="644814" y="5195843"/>
            <a:ext cx="7886700" cy="0"/>
          </a:xfrm>
          <a:prstGeom prst="line">
            <a:avLst/>
          </a:prstGeom>
          <a:ln>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A995A78D-A480-AF7B-6CE5-9E94A6F4EE86}"/>
              </a:ext>
            </a:extLst>
          </p:cNvPr>
          <p:cNvSpPr/>
          <p:nvPr/>
        </p:nvSpPr>
        <p:spPr>
          <a:xfrm>
            <a:off x="512748" y="888763"/>
            <a:ext cx="8323603" cy="376013"/>
          </a:xfrm>
          <a:prstGeom prst="rect">
            <a:avLst/>
          </a:prstGeom>
          <a:solidFill>
            <a:srgbClr val="EFEFEF"/>
          </a:solidFill>
          <a:ln>
            <a:solidFill>
              <a:srgbClr val="EFEF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891998147"/>
      </p:ext>
    </p:extLst>
  </p:cSld>
  <p:clrMapOvr>
    <a:masterClrMapping/>
  </p:clrMapOvr>
  <p:transition>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240044E-4AE2-54C0-FA33-FD4439FE3A16}"/>
              </a:ext>
            </a:extLst>
          </p:cNvPr>
          <p:cNvSpPr txBox="1"/>
          <p:nvPr/>
        </p:nvSpPr>
        <p:spPr>
          <a:xfrm>
            <a:off x="689887" y="1084859"/>
            <a:ext cx="2559499" cy="338554"/>
          </a:xfrm>
          <a:prstGeom prst="rect">
            <a:avLst/>
          </a:prstGeom>
          <a:noFill/>
        </p:spPr>
        <p:txBody>
          <a:bodyPr wrap="square" rtlCol="0">
            <a:spAutoFit/>
          </a:bodyPr>
          <a:lstStyle/>
          <a:p>
            <a:r>
              <a:rPr lang="en-US" sz="1600">
                <a:solidFill>
                  <a:srgbClr val="515151"/>
                </a:solidFill>
                <a:latin typeface="Roboto Condensed Light" panose="02000000000000000000" pitchFamily="2" charset="0"/>
                <a:ea typeface="Roboto Condensed Light" panose="02000000000000000000" pitchFamily="2" charset="0"/>
              </a:rPr>
              <a:t>US-India Fund</a:t>
            </a:r>
            <a:endParaRPr lang="en-US" sz="1600" baseline="30000">
              <a:solidFill>
                <a:srgbClr val="515151"/>
              </a:solidFill>
              <a:latin typeface="Roboto Condensed Light" panose="02000000000000000000" pitchFamily="2" charset="0"/>
              <a:ea typeface="Roboto Condensed Light" panose="02000000000000000000" pitchFamily="2" charset="0"/>
            </a:endParaRPr>
          </a:p>
        </p:txBody>
      </p:sp>
      <p:graphicFrame>
        <p:nvGraphicFramePr>
          <p:cNvPr id="5" name="Object 4"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70" imgH="469" progId="TCLayout.ActiveDocument.1">
                  <p:embed/>
                </p:oleObj>
              </mc:Choice>
              <mc:Fallback>
                <p:oleObj name="think-cell Slide" r:id="rId5" imgW="470" imgH="469" progId="TCLayout.ActiveDocument.1">
                  <p:embed/>
                  <p:pic>
                    <p:nvPicPr>
                      <p:cNvPr id="5" name="Object 4"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4" name="Rectangle 3" hidden="1"/>
          <p:cNvSpPr/>
          <p:nvPr>
            <p:custDataLst>
              <p:tags r:id="rId2"/>
            </p:custDataLst>
          </p:nvPr>
        </p:nvSpPr>
        <p:spPr>
          <a:xfrm>
            <a:off x="0" y="0"/>
            <a:ext cx="158750" cy="1587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marR="0" lvl="0" indent="0" algn="ctr" defTabSz="914400" rtl="0" eaLnBrk="1" fontAlgn="auto" latinLnBrk="0" hangingPunct="1">
              <a:lnSpc>
                <a:spcPct val="90000"/>
              </a:lnSpc>
              <a:spcBef>
                <a:spcPct val="0"/>
              </a:spcBef>
              <a:spcAft>
                <a:spcPct val="0"/>
              </a:spcAft>
              <a:buClrTx/>
              <a:buSzTx/>
              <a:buFontTx/>
              <a:buNone/>
              <a:tabLst/>
              <a:defRPr/>
            </a:pPr>
            <a:endParaRPr kumimoji="0" lang="en-IN" sz="1400" b="0" i="0" u="none" strike="noStrike" kern="1200" cap="none" spc="0" normalizeH="0" baseline="0" noProof="0">
              <a:ln>
                <a:noFill/>
              </a:ln>
              <a:solidFill>
                <a:prstClr val="white"/>
              </a:solidFill>
              <a:effectLst/>
              <a:uLnTx/>
              <a:uFillTx/>
              <a:latin typeface="Roboto "/>
              <a:ea typeface="Roboto Condensed" panose="02000000000000000000" pitchFamily="2" charset="0"/>
              <a:cs typeface="+mn-cs"/>
              <a:sym typeface="+mj-lt"/>
            </a:endParaRPr>
          </a:p>
        </p:txBody>
      </p:sp>
      <p:grpSp>
        <p:nvGrpSpPr>
          <p:cNvPr id="51" name="Group 50">
            <a:extLst>
              <a:ext uri="{FF2B5EF4-FFF2-40B4-BE49-F238E27FC236}">
                <a16:creationId xmlns:a16="http://schemas.microsoft.com/office/drawing/2014/main" id="{D8EBB63C-BDC4-4578-B23B-8C23EAF091BA}"/>
              </a:ext>
            </a:extLst>
          </p:cNvPr>
          <p:cNvGrpSpPr/>
          <p:nvPr/>
        </p:nvGrpSpPr>
        <p:grpSpPr>
          <a:xfrm>
            <a:off x="998053" y="1822755"/>
            <a:ext cx="7147894" cy="1116856"/>
            <a:chOff x="590461" y="3163369"/>
            <a:chExt cx="7862683" cy="1228542"/>
          </a:xfrm>
        </p:grpSpPr>
        <p:sp>
          <p:nvSpPr>
            <p:cNvPr id="52" name="Title 1">
              <a:extLst>
                <a:ext uri="{FF2B5EF4-FFF2-40B4-BE49-F238E27FC236}">
                  <a16:creationId xmlns:a16="http://schemas.microsoft.com/office/drawing/2014/main" id="{B6A67DBE-DF56-42BD-B8AA-E3684DE02594}"/>
                </a:ext>
              </a:extLst>
            </p:cNvPr>
            <p:cNvSpPr txBox="1">
              <a:spLocks/>
            </p:cNvSpPr>
            <p:nvPr/>
          </p:nvSpPr>
          <p:spPr>
            <a:xfrm>
              <a:off x="3549227" y="3163369"/>
              <a:ext cx="2045544" cy="631300"/>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US" sz="4400">
                  <a:solidFill>
                    <a:srgbClr val="47A2CB"/>
                  </a:solidFill>
                  <a:latin typeface="+mn-lt"/>
                  <a:ea typeface="Roboto Condensed Light" panose="02000000000000000000" pitchFamily="2" charset="0"/>
                </a:rPr>
                <a:t>150+</a:t>
              </a:r>
              <a:endParaRPr lang="en-IN" sz="4400">
                <a:solidFill>
                  <a:srgbClr val="47A2CB"/>
                </a:solidFill>
                <a:latin typeface="+mn-lt"/>
                <a:ea typeface="Roboto Condensed Light" panose="02000000000000000000" pitchFamily="2" charset="0"/>
              </a:endParaRPr>
            </a:p>
          </p:txBody>
        </p:sp>
        <p:sp>
          <p:nvSpPr>
            <p:cNvPr id="53" name="Title 1">
              <a:extLst>
                <a:ext uri="{FF2B5EF4-FFF2-40B4-BE49-F238E27FC236}">
                  <a16:creationId xmlns:a16="http://schemas.microsoft.com/office/drawing/2014/main" id="{6AA3A7A8-39BB-435E-AEF8-7088FD84EE0A}"/>
                </a:ext>
              </a:extLst>
            </p:cNvPr>
            <p:cNvSpPr txBox="1">
              <a:spLocks/>
            </p:cNvSpPr>
            <p:nvPr/>
          </p:nvSpPr>
          <p:spPr>
            <a:xfrm>
              <a:off x="3278284" y="3908989"/>
              <a:ext cx="2587430" cy="482922"/>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IN" sz="2000" cap="none">
                  <a:solidFill>
                    <a:schemeClr val="accent5"/>
                  </a:solidFill>
                  <a:latin typeface="+mn-lt"/>
                  <a:ea typeface="Roboto Condensed Light" panose="02000000000000000000" pitchFamily="2" charset="0"/>
                </a:rPr>
                <a:t>Investments</a:t>
              </a:r>
              <a:endParaRPr lang="en-IN" sz="2000" baseline="30000">
                <a:solidFill>
                  <a:schemeClr val="accent5"/>
                </a:solidFill>
                <a:latin typeface="+mn-lt"/>
                <a:ea typeface="Roboto Condensed Light" panose="02000000000000000000" pitchFamily="2" charset="0"/>
              </a:endParaRPr>
            </a:p>
          </p:txBody>
        </p:sp>
        <p:sp>
          <p:nvSpPr>
            <p:cNvPr id="54" name="Title 1">
              <a:extLst>
                <a:ext uri="{FF2B5EF4-FFF2-40B4-BE49-F238E27FC236}">
                  <a16:creationId xmlns:a16="http://schemas.microsoft.com/office/drawing/2014/main" id="{2C713179-4B76-4E2A-AC1E-7B09D0FD3D51}"/>
                </a:ext>
              </a:extLst>
            </p:cNvPr>
            <p:cNvSpPr txBox="1">
              <a:spLocks/>
            </p:cNvSpPr>
            <p:nvPr/>
          </p:nvSpPr>
          <p:spPr>
            <a:xfrm>
              <a:off x="781834" y="3163369"/>
              <a:ext cx="2045544" cy="631300"/>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US" sz="4400">
                  <a:solidFill>
                    <a:srgbClr val="47A2CB"/>
                  </a:solidFill>
                  <a:latin typeface="+mn-lt"/>
                  <a:ea typeface="Roboto Condensed Light" panose="02000000000000000000" pitchFamily="2" charset="0"/>
                </a:rPr>
                <a:t>~$8</a:t>
              </a:r>
              <a:r>
                <a:rPr lang="en-IN" sz="4400">
                  <a:solidFill>
                    <a:srgbClr val="47A2CB"/>
                  </a:solidFill>
                  <a:latin typeface="+mn-lt"/>
                  <a:ea typeface="Roboto Condensed Light" panose="02000000000000000000" pitchFamily="2" charset="0"/>
                </a:rPr>
                <a:t>b</a:t>
              </a:r>
            </a:p>
          </p:txBody>
        </p:sp>
        <p:sp>
          <p:nvSpPr>
            <p:cNvPr id="55" name="Title 1">
              <a:extLst>
                <a:ext uri="{FF2B5EF4-FFF2-40B4-BE49-F238E27FC236}">
                  <a16:creationId xmlns:a16="http://schemas.microsoft.com/office/drawing/2014/main" id="{4FF106FE-AC07-4339-9237-3176860AB694}"/>
                </a:ext>
              </a:extLst>
            </p:cNvPr>
            <p:cNvSpPr txBox="1">
              <a:spLocks/>
            </p:cNvSpPr>
            <p:nvPr/>
          </p:nvSpPr>
          <p:spPr>
            <a:xfrm>
              <a:off x="6115834" y="3163369"/>
              <a:ext cx="2045544" cy="631300"/>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US" sz="4400">
                  <a:solidFill>
                    <a:srgbClr val="47A2CB"/>
                  </a:solidFill>
                  <a:latin typeface="+mn-lt"/>
                  <a:ea typeface="Roboto Condensed Light" panose="02000000000000000000" pitchFamily="2" charset="0"/>
                </a:rPr>
                <a:t>$1B+</a:t>
              </a:r>
              <a:endParaRPr lang="en-IN" sz="4400">
                <a:solidFill>
                  <a:srgbClr val="47A2CB"/>
                </a:solidFill>
                <a:latin typeface="+mn-lt"/>
                <a:ea typeface="Roboto Condensed Light" panose="02000000000000000000" pitchFamily="2" charset="0"/>
              </a:endParaRPr>
            </a:p>
          </p:txBody>
        </p:sp>
        <p:sp>
          <p:nvSpPr>
            <p:cNvPr id="56" name="Title 1">
              <a:extLst>
                <a:ext uri="{FF2B5EF4-FFF2-40B4-BE49-F238E27FC236}">
                  <a16:creationId xmlns:a16="http://schemas.microsoft.com/office/drawing/2014/main" id="{99A0A283-6070-4660-8807-D14F4EC21E8A}"/>
                </a:ext>
              </a:extLst>
            </p:cNvPr>
            <p:cNvSpPr txBox="1">
              <a:spLocks/>
            </p:cNvSpPr>
            <p:nvPr/>
          </p:nvSpPr>
          <p:spPr>
            <a:xfrm>
              <a:off x="5865714" y="3900370"/>
              <a:ext cx="2587430" cy="482922"/>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IN" sz="2000" cap="none">
                  <a:solidFill>
                    <a:schemeClr val="accent5"/>
                  </a:solidFill>
                  <a:latin typeface="+mn-lt"/>
                  <a:ea typeface="Roboto Condensed Light" panose="02000000000000000000" pitchFamily="2" charset="0"/>
                </a:rPr>
                <a:t>New Tech Investments</a:t>
              </a:r>
              <a:endParaRPr lang="en-IN" sz="2000">
                <a:solidFill>
                  <a:schemeClr val="accent5"/>
                </a:solidFill>
                <a:latin typeface="+mn-lt"/>
                <a:ea typeface="Roboto Condensed Light" panose="02000000000000000000" pitchFamily="2" charset="0"/>
              </a:endParaRPr>
            </a:p>
          </p:txBody>
        </p:sp>
        <p:sp>
          <p:nvSpPr>
            <p:cNvPr id="57" name="Title 1">
              <a:extLst>
                <a:ext uri="{FF2B5EF4-FFF2-40B4-BE49-F238E27FC236}">
                  <a16:creationId xmlns:a16="http://schemas.microsoft.com/office/drawing/2014/main" id="{35BFDAAF-2B8C-409B-9643-F6EC26930CF2}"/>
                </a:ext>
              </a:extLst>
            </p:cNvPr>
            <p:cNvSpPr txBox="1">
              <a:spLocks/>
            </p:cNvSpPr>
            <p:nvPr/>
          </p:nvSpPr>
          <p:spPr>
            <a:xfrm>
              <a:off x="590461" y="3908989"/>
              <a:ext cx="2587430" cy="482922"/>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IN" sz="2000" cap="none">
                  <a:solidFill>
                    <a:schemeClr val="accent5"/>
                  </a:solidFill>
                  <a:latin typeface="+mn-lt"/>
                  <a:ea typeface="Roboto Condensed Light" panose="02000000000000000000" pitchFamily="2" charset="0"/>
                </a:rPr>
                <a:t>Crossover, Evergreen Fund</a:t>
              </a:r>
              <a:endParaRPr lang="en-IN" sz="2000" baseline="30000">
                <a:solidFill>
                  <a:schemeClr val="accent5"/>
                </a:solidFill>
                <a:latin typeface="+mn-lt"/>
                <a:ea typeface="Roboto Condensed Light" panose="02000000000000000000" pitchFamily="2" charset="0"/>
              </a:endParaRPr>
            </a:p>
          </p:txBody>
        </p:sp>
      </p:grpSp>
      <p:sp>
        <p:nvSpPr>
          <p:cNvPr id="59" name="Title 1">
            <a:extLst>
              <a:ext uri="{FF2B5EF4-FFF2-40B4-BE49-F238E27FC236}">
                <a16:creationId xmlns:a16="http://schemas.microsoft.com/office/drawing/2014/main" id="{0FC8B513-C208-4EBB-96AA-07CF7145B45E}"/>
              </a:ext>
            </a:extLst>
          </p:cNvPr>
          <p:cNvSpPr txBox="1">
            <a:spLocks/>
          </p:cNvSpPr>
          <p:nvPr/>
        </p:nvSpPr>
        <p:spPr>
          <a:xfrm>
            <a:off x="4944907" y="3899384"/>
            <a:ext cx="1859586" cy="573909"/>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IN" sz="4400">
                <a:solidFill>
                  <a:srgbClr val="47A2CB"/>
                </a:solidFill>
                <a:latin typeface="+mn-lt"/>
                <a:ea typeface="Roboto Condensed Light" panose="02000000000000000000" pitchFamily="2" charset="0"/>
              </a:rPr>
              <a:t>9</a:t>
            </a:r>
          </a:p>
        </p:txBody>
      </p:sp>
      <p:sp>
        <p:nvSpPr>
          <p:cNvPr id="60" name="Title 1">
            <a:extLst>
              <a:ext uri="{FF2B5EF4-FFF2-40B4-BE49-F238E27FC236}">
                <a16:creationId xmlns:a16="http://schemas.microsoft.com/office/drawing/2014/main" id="{F973E901-96CB-4F80-A067-C5E04DC76F1D}"/>
              </a:ext>
            </a:extLst>
          </p:cNvPr>
          <p:cNvSpPr txBox="1">
            <a:spLocks/>
          </p:cNvSpPr>
          <p:nvPr/>
        </p:nvSpPr>
        <p:spPr>
          <a:xfrm>
            <a:off x="4698596" y="4577220"/>
            <a:ext cx="2352209" cy="439020"/>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IN" sz="2000" cap="none">
                <a:solidFill>
                  <a:schemeClr val="accent5"/>
                </a:solidFill>
                <a:latin typeface="+mn-lt"/>
                <a:ea typeface="Roboto Condensed Light" panose="02000000000000000000" pitchFamily="2" charset="0"/>
              </a:rPr>
              <a:t>Unicorns</a:t>
            </a:r>
            <a:endParaRPr lang="en-IN" sz="2000">
              <a:solidFill>
                <a:schemeClr val="accent5"/>
              </a:solidFill>
              <a:latin typeface="+mn-lt"/>
              <a:ea typeface="Roboto Condensed Light" panose="02000000000000000000" pitchFamily="2" charset="0"/>
            </a:endParaRPr>
          </a:p>
        </p:txBody>
      </p:sp>
      <p:sp>
        <p:nvSpPr>
          <p:cNvPr id="61" name="Title 1">
            <a:extLst>
              <a:ext uri="{FF2B5EF4-FFF2-40B4-BE49-F238E27FC236}">
                <a16:creationId xmlns:a16="http://schemas.microsoft.com/office/drawing/2014/main" id="{045980EE-E9AE-40F6-8319-D6D96C6F6366}"/>
              </a:ext>
            </a:extLst>
          </p:cNvPr>
          <p:cNvSpPr txBox="1">
            <a:spLocks/>
          </p:cNvSpPr>
          <p:nvPr/>
        </p:nvSpPr>
        <p:spPr>
          <a:xfrm>
            <a:off x="617910" y="3918390"/>
            <a:ext cx="1859586" cy="573909"/>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US" sz="4400">
                <a:solidFill>
                  <a:srgbClr val="47A2CB"/>
                </a:solidFill>
                <a:latin typeface="+mn-lt"/>
                <a:ea typeface="Roboto Condensed Light" panose="02000000000000000000" pitchFamily="2" charset="0"/>
              </a:rPr>
              <a:t>60+</a:t>
            </a:r>
            <a:endParaRPr lang="en-IN" sz="4400">
              <a:solidFill>
                <a:srgbClr val="47A2CB"/>
              </a:solidFill>
              <a:latin typeface="+mn-lt"/>
              <a:ea typeface="Roboto Condensed Light" panose="02000000000000000000" pitchFamily="2" charset="0"/>
            </a:endParaRPr>
          </a:p>
        </p:txBody>
      </p:sp>
      <p:sp>
        <p:nvSpPr>
          <p:cNvPr id="62" name="Title 1">
            <a:extLst>
              <a:ext uri="{FF2B5EF4-FFF2-40B4-BE49-F238E27FC236}">
                <a16:creationId xmlns:a16="http://schemas.microsoft.com/office/drawing/2014/main" id="{D12EAC46-4779-4CC6-8D88-2A94A71595C4}"/>
              </a:ext>
            </a:extLst>
          </p:cNvPr>
          <p:cNvSpPr txBox="1">
            <a:spLocks/>
          </p:cNvSpPr>
          <p:nvPr/>
        </p:nvSpPr>
        <p:spPr>
          <a:xfrm>
            <a:off x="6641575" y="3907219"/>
            <a:ext cx="1859586" cy="573909"/>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US" sz="4400">
                <a:solidFill>
                  <a:srgbClr val="47A2CB"/>
                </a:solidFill>
                <a:latin typeface="+mn-lt"/>
                <a:ea typeface="Roboto Condensed Light" panose="02000000000000000000" pitchFamily="2" charset="0"/>
              </a:rPr>
              <a:t>6</a:t>
            </a:r>
            <a:endParaRPr lang="en-IN" sz="4400">
              <a:solidFill>
                <a:srgbClr val="47A2CB"/>
              </a:solidFill>
              <a:latin typeface="+mn-lt"/>
              <a:ea typeface="Roboto Condensed Light" panose="02000000000000000000" pitchFamily="2" charset="0"/>
            </a:endParaRPr>
          </a:p>
        </p:txBody>
      </p:sp>
      <p:sp>
        <p:nvSpPr>
          <p:cNvPr id="63" name="Title 1">
            <a:extLst>
              <a:ext uri="{FF2B5EF4-FFF2-40B4-BE49-F238E27FC236}">
                <a16:creationId xmlns:a16="http://schemas.microsoft.com/office/drawing/2014/main" id="{4DBD5D58-BFB7-4D28-BC2F-5447A84591BE}"/>
              </a:ext>
            </a:extLst>
          </p:cNvPr>
          <p:cNvSpPr txBox="1">
            <a:spLocks/>
          </p:cNvSpPr>
          <p:nvPr/>
        </p:nvSpPr>
        <p:spPr>
          <a:xfrm>
            <a:off x="6414193" y="4577220"/>
            <a:ext cx="2352209" cy="439020"/>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IN" sz="2000" cap="none">
                <a:solidFill>
                  <a:schemeClr val="accent5"/>
                </a:solidFill>
                <a:latin typeface="+mn-lt"/>
                <a:ea typeface="Roboto Condensed Light" panose="02000000000000000000" pitchFamily="2" charset="0"/>
              </a:rPr>
              <a:t>IPOs</a:t>
            </a:r>
            <a:endParaRPr lang="en-IN" sz="2000">
              <a:solidFill>
                <a:schemeClr val="accent5"/>
              </a:solidFill>
              <a:latin typeface="+mn-lt"/>
              <a:ea typeface="Roboto Condensed Light" panose="02000000000000000000" pitchFamily="2" charset="0"/>
            </a:endParaRPr>
          </a:p>
        </p:txBody>
      </p:sp>
      <p:sp>
        <p:nvSpPr>
          <p:cNvPr id="64" name="Title 1">
            <a:extLst>
              <a:ext uri="{FF2B5EF4-FFF2-40B4-BE49-F238E27FC236}">
                <a16:creationId xmlns:a16="http://schemas.microsoft.com/office/drawing/2014/main" id="{B1CA7BC4-8949-4066-9D25-F471CC65038F}"/>
              </a:ext>
            </a:extLst>
          </p:cNvPr>
          <p:cNvSpPr txBox="1">
            <a:spLocks/>
          </p:cNvSpPr>
          <p:nvPr/>
        </p:nvSpPr>
        <p:spPr>
          <a:xfrm>
            <a:off x="371599" y="4585055"/>
            <a:ext cx="2352209" cy="439020"/>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IN" sz="2000" cap="none">
                <a:solidFill>
                  <a:schemeClr val="accent5"/>
                </a:solidFill>
                <a:latin typeface="+mn-lt"/>
                <a:ea typeface="Roboto Condensed Light" panose="02000000000000000000" pitchFamily="2" charset="0"/>
              </a:rPr>
              <a:t>Tech Portfolio Companies</a:t>
            </a:r>
            <a:endParaRPr lang="en-IN" sz="2000">
              <a:solidFill>
                <a:schemeClr val="accent5"/>
              </a:solidFill>
              <a:latin typeface="+mn-lt"/>
              <a:ea typeface="Roboto Condensed Light" panose="02000000000000000000" pitchFamily="2" charset="0"/>
            </a:endParaRPr>
          </a:p>
        </p:txBody>
      </p:sp>
      <p:sp>
        <p:nvSpPr>
          <p:cNvPr id="22" name="Title 1">
            <a:extLst>
              <a:ext uri="{FF2B5EF4-FFF2-40B4-BE49-F238E27FC236}">
                <a16:creationId xmlns:a16="http://schemas.microsoft.com/office/drawing/2014/main" id="{F7E1AEA1-827C-4B0D-916D-AFCD9AEEBCF6}"/>
              </a:ext>
            </a:extLst>
          </p:cNvPr>
          <p:cNvSpPr txBox="1">
            <a:spLocks/>
          </p:cNvSpPr>
          <p:nvPr/>
        </p:nvSpPr>
        <p:spPr>
          <a:xfrm>
            <a:off x="2803221" y="3908767"/>
            <a:ext cx="1859586" cy="573909"/>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US" sz="4400">
                <a:solidFill>
                  <a:srgbClr val="47A2CB"/>
                </a:solidFill>
                <a:latin typeface="+mn-lt"/>
                <a:ea typeface="Roboto Condensed Light" panose="02000000000000000000" pitchFamily="2" charset="0"/>
              </a:rPr>
              <a:t>40</a:t>
            </a:r>
            <a:endParaRPr lang="en-IN" sz="4400">
              <a:solidFill>
                <a:srgbClr val="47A2CB"/>
              </a:solidFill>
              <a:latin typeface="+mn-lt"/>
              <a:ea typeface="Roboto Condensed Light" panose="02000000000000000000" pitchFamily="2" charset="0"/>
            </a:endParaRPr>
          </a:p>
        </p:txBody>
      </p:sp>
      <p:sp>
        <p:nvSpPr>
          <p:cNvPr id="23" name="Title 1">
            <a:extLst>
              <a:ext uri="{FF2B5EF4-FFF2-40B4-BE49-F238E27FC236}">
                <a16:creationId xmlns:a16="http://schemas.microsoft.com/office/drawing/2014/main" id="{A4B67345-AF0B-41A2-A60A-C20CB037DEB3}"/>
              </a:ext>
            </a:extLst>
          </p:cNvPr>
          <p:cNvSpPr txBox="1">
            <a:spLocks/>
          </p:cNvSpPr>
          <p:nvPr/>
        </p:nvSpPr>
        <p:spPr>
          <a:xfrm>
            <a:off x="2629246" y="4586603"/>
            <a:ext cx="2352209" cy="439020"/>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IN" sz="2000" cap="none">
                <a:solidFill>
                  <a:schemeClr val="accent5"/>
                </a:solidFill>
                <a:latin typeface="+mn-lt"/>
                <a:ea typeface="Roboto Condensed Light" panose="02000000000000000000" pitchFamily="2" charset="0"/>
              </a:rPr>
              <a:t>Tech Investments </a:t>
            </a:r>
          </a:p>
          <a:p>
            <a:pPr algn="ctr"/>
            <a:r>
              <a:rPr lang="en-IN" sz="2000" cap="none">
                <a:solidFill>
                  <a:schemeClr val="accent5"/>
                </a:solidFill>
                <a:latin typeface="+mn-lt"/>
                <a:ea typeface="Roboto Condensed Light" panose="02000000000000000000" pitchFamily="2" charset="0"/>
              </a:rPr>
              <a:t>Last 3 Years</a:t>
            </a:r>
            <a:endParaRPr lang="en-IN" sz="2000">
              <a:solidFill>
                <a:schemeClr val="accent5"/>
              </a:solidFill>
              <a:latin typeface="+mn-lt"/>
              <a:ea typeface="Roboto Condensed Light" panose="02000000000000000000" pitchFamily="2" charset="0"/>
            </a:endParaRPr>
          </a:p>
        </p:txBody>
      </p:sp>
      <p:sp>
        <p:nvSpPr>
          <p:cNvPr id="10" name="Title 1">
            <a:extLst>
              <a:ext uri="{FF2B5EF4-FFF2-40B4-BE49-F238E27FC236}">
                <a16:creationId xmlns:a16="http://schemas.microsoft.com/office/drawing/2014/main" id="{3791EF09-EE2D-57D6-3FE3-B9FAF972AC1A}"/>
              </a:ext>
            </a:extLst>
          </p:cNvPr>
          <p:cNvSpPr>
            <a:spLocks noGrp="1"/>
          </p:cNvSpPr>
          <p:nvPr>
            <p:ph type="title"/>
          </p:nvPr>
        </p:nvSpPr>
        <p:spPr>
          <a:xfrm>
            <a:off x="667206" y="539564"/>
            <a:ext cx="7886700" cy="507062"/>
          </a:xfrm>
        </p:spPr>
        <p:txBody>
          <a:bodyPr vert="horz">
            <a:noAutofit/>
          </a:bodyPr>
          <a:lstStyle/>
          <a:p>
            <a:r>
              <a:rPr lang="en-US" sz="3200" cap="none"/>
              <a:t>WestBridge Capital At-a-Glance</a:t>
            </a:r>
          </a:p>
        </p:txBody>
      </p:sp>
    </p:spTree>
    <p:extLst>
      <p:ext uri="{BB962C8B-B14F-4D97-AF65-F5344CB8AC3E}">
        <p14:creationId xmlns:p14="http://schemas.microsoft.com/office/powerpoint/2010/main" val="5759598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70" imgH="469" progId="TCLayout.ActiveDocument.1">
                  <p:embed/>
                </p:oleObj>
              </mc:Choice>
              <mc:Fallback>
                <p:oleObj name="think-cell Slide" r:id="rId5" imgW="470" imgH="469" progId="TCLayout.ActiveDocument.1">
                  <p:embed/>
                  <p:pic>
                    <p:nvPicPr>
                      <p:cNvPr id="5" name="Object 4"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7" name="Rectangle: Rounded Corners 6">
            <a:extLst>
              <a:ext uri="{FF2B5EF4-FFF2-40B4-BE49-F238E27FC236}">
                <a16:creationId xmlns:a16="http://schemas.microsoft.com/office/drawing/2014/main" id="{4A454209-467C-3042-2CF6-F57C289859F5}"/>
              </a:ext>
            </a:extLst>
          </p:cNvPr>
          <p:cNvSpPr/>
          <p:nvPr/>
        </p:nvSpPr>
        <p:spPr>
          <a:xfrm>
            <a:off x="297928" y="4473685"/>
            <a:ext cx="2432833" cy="1209953"/>
          </a:xfrm>
          <a:prstGeom prst="roundRect">
            <a:avLst>
              <a:gd name="adj" fmla="val 9185"/>
            </a:avLst>
          </a:prstGeom>
          <a:solidFill>
            <a:schemeClr val="bg1">
              <a:lumMod val="85000"/>
            </a:schemeClr>
          </a:solidFill>
          <a:ln>
            <a:noFill/>
          </a:ln>
          <a:effectLst>
            <a:outerShdw blurRad="50800" dist="50800" dir="5400000" algn="ctr" rotWithShape="0">
              <a:schemeClr val="bg1">
                <a:lumMod val="7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a:solidFill>
                  <a:schemeClr val="accent5"/>
                </a:solidFill>
                <a:latin typeface="Roboto Condensed Light" panose="02000000000000000000" pitchFamily="2" charset="0"/>
                <a:ea typeface="Roboto Condensed Light" panose="02000000000000000000" pitchFamily="2" charset="0"/>
              </a:rPr>
              <a:t>Operational Expertise</a:t>
            </a:r>
          </a:p>
        </p:txBody>
      </p:sp>
      <p:sp>
        <p:nvSpPr>
          <p:cNvPr id="3" name="Rectangle: Rounded Corners 2">
            <a:extLst>
              <a:ext uri="{FF2B5EF4-FFF2-40B4-BE49-F238E27FC236}">
                <a16:creationId xmlns:a16="http://schemas.microsoft.com/office/drawing/2014/main" id="{557FA021-2920-39B3-7F38-E44DA709DDE5}"/>
              </a:ext>
            </a:extLst>
          </p:cNvPr>
          <p:cNvSpPr/>
          <p:nvPr/>
        </p:nvSpPr>
        <p:spPr>
          <a:xfrm>
            <a:off x="297928" y="2953081"/>
            <a:ext cx="2432833" cy="1209953"/>
          </a:xfrm>
          <a:prstGeom prst="roundRect">
            <a:avLst>
              <a:gd name="adj" fmla="val 9185"/>
            </a:avLst>
          </a:prstGeom>
          <a:solidFill>
            <a:schemeClr val="bg1">
              <a:lumMod val="85000"/>
            </a:schemeClr>
          </a:solidFill>
          <a:ln>
            <a:noFill/>
          </a:ln>
          <a:effectLst>
            <a:outerShdw blurRad="50800" dist="50800" dir="5400000" algn="ctr" rotWithShape="0">
              <a:schemeClr val="bg1">
                <a:lumMod val="7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a:solidFill>
                  <a:schemeClr val="accent5"/>
                </a:solidFill>
                <a:latin typeface="Roboto Condensed Light" panose="02000000000000000000" pitchFamily="2" charset="0"/>
                <a:ea typeface="Roboto Condensed Light" panose="02000000000000000000" pitchFamily="2" charset="0"/>
              </a:rPr>
              <a:t>T</a:t>
            </a:r>
            <a:r>
              <a:rPr lang="en-US" sz="2000" b="1">
                <a:solidFill>
                  <a:schemeClr val="accent5"/>
                </a:solidFill>
                <a:latin typeface="Roboto Condensed Light" panose="02000000000000000000" pitchFamily="2" charset="0"/>
                <a:ea typeface="Roboto Condensed Light" panose="02000000000000000000" pitchFamily="2" charset="0"/>
              </a:rPr>
              <a:t>ruly Cross-Border</a:t>
            </a:r>
          </a:p>
        </p:txBody>
      </p:sp>
      <p:sp>
        <p:nvSpPr>
          <p:cNvPr id="4" name="Rectangle 3" hidden="1"/>
          <p:cNvSpPr/>
          <p:nvPr>
            <p:custDataLst>
              <p:tags r:id="rId2"/>
            </p:custDataLst>
          </p:nvPr>
        </p:nvSpPr>
        <p:spPr>
          <a:xfrm>
            <a:off x="0" y="0"/>
            <a:ext cx="158750" cy="1587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marR="0" lvl="0" indent="0" algn="ctr" defTabSz="914400" rtl="0" eaLnBrk="1" fontAlgn="auto" latinLnBrk="0" hangingPunct="1">
              <a:lnSpc>
                <a:spcPct val="90000"/>
              </a:lnSpc>
              <a:spcBef>
                <a:spcPct val="0"/>
              </a:spcBef>
              <a:spcAft>
                <a:spcPct val="0"/>
              </a:spcAft>
              <a:buClrTx/>
              <a:buSzTx/>
              <a:buFontTx/>
              <a:buNone/>
              <a:tabLst/>
              <a:defRPr/>
            </a:pPr>
            <a:endParaRPr kumimoji="0" lang="en-IN" sz="1400" b="0" i="0" u="none" strike="noStrike" kern="1200" cap="none" spc="0" normalizeH="0" baseline="0" noProof="0">
              <a:ln>
                <a:noFill/>
              </a:ln>
              <a:solidFill>
                <a:prstClr val="white"/>
              </a:solidFill>
              <a:effectLst/>
              <a:uLnTx/>
              <a:uFillTx/>
              <a:latin typeface="Roboto "/>
              <a:ea typeface="Roboto Condensed" panose="02000000000000000000" pitchFamily="2" charset="0"/>
              <a:cs typeface="+mn-cs"/>
              <a:sym typeface="+mj-lt"/>
            </a:endParaRPr>
          </a:p>
        </p:txBody>
      </p:sp>
      <p:sp>
        <p:nvSpPr>
          <p:cNvPr id="2" name="Title 1"/>
          <p:cNvSpPr>
            <a:spLocks noGrp="1"/>
          </p:cNvSpPr>
          <p:nvPr>
            <p:ph type="title"/>
          </p:nvPr>
        </p:nvSpPr>
        <p:spPr/>
        <p:txBody>
          <a:bodyPr vert="horz"/>
          <a:lstStyle/>
          <a:p>
            <a:r>
              <a:rPr lang="en-US"/>
              <a:t>Best-in-class Cross-Border Team</a:t>
            </a:r>
          </a:p>
        </p:txBody>
      </p:sp>
      <p:sp>
        <p:nvSpPr>
          <p:cNvPr id="39" name="TextBox 38">
            <a:extLst>
              <a:ext uri="{FF2B5EF4-FFF2-40B4-BE49-F238E27FC236}">
                <a16:creationId xmlns:a16="http://schemas.microsoft.com/office/drawing/2014/main" id="{9758E7BA-EA16-4B42-912F-74D8AC9098C0}"/>
              </a:ext>
            </a:extLst>
          </p:cNvPr>
          <p:cNvSpPr txBox="1"/>
          <p:nvPr/>
        </p:nvSpPr>
        <p:spPr>
          <a:xfrm>
            <a:off x="2945424" y="3234892"/>
            <a:ext cx="5544282" cy="646331"/>
          </a:xfrm>
          <a:prstGeom prst="rect">
            <a:avLst/>
          </a:prstGeom>
          <a:noFill/>
        </p:spPr>
        <p:txBody>
          <a:bodyPr wrap="square" rtlCol="0" anchor="ctr">
            <a:spAutoFit/>
          </a:bodyPr>
          <a:lstStyle/>
          <a:p>
            <a:pPr>
              <a:spcBef>
                <a:spcPts val="400"/>
              </a:spcBef>
              <a:spcAft>
                <a:spcPts val="400"/>
              </a:spcAft>
            </a:pPr>
            <a:r>
              <a:rPr lang="en-US">
                <a:solidFill>
                  <a:schemeClr val="accent5"/>
                </a:solidFill>
                <a:latin typeface="Roboto Condensed Light" panose="02000000000000000000" pitchFamily="2" charset="0"/>
                <a:ea typeface="Roboto Condensed Light" panose="02000000000000000000" pitchFamily="2" charset="0"/>
              </a:rPr>
              <a:t>Full-fledged teams in both US and India to support cross-border founders</a:t>
            </a:r>
          </a:p>
        </p:txBody>
      </p:sp>
      <p:sp>
        <p:nvSpPr>
          <p:cNvPr id="31" name="Rectangle: Rounded Corners 30">
            <a:extLst>
              <a:ext uri="{FF2B5EF4-FFF2-40B4-BE49-F238E27FC236}">
                <a16:creationId xmlns:a16="http://schemas.microsoft.com/office/drawing/2014/main" id="{595AB024-3B19-4B76-A642-38FAD2A382BA}"/>
              </a:ext>
            </a:extLst>
          </p:cNvPr>
          <p:cNvSpPr/>
          <p:nvPr/>
        </p:nvSpPr>
        <p:spPr>
          <a:xfrm>
            <a:off x="297928" y="1432477"/>
            <a:ext cx="2432833" cy="1209953"/>
          </a:xfrm>
          <a:prstGeom prst="roundRect">
            <a:avLst>
              <a:gd name="adj" fmla="val 9185"/>
            </a:avLst>
          </a:prstGeom>
          <a:solidFill>
            <a:schemeClr val="bg1">
              <a:lumMod val="85000"/>
            </a:schemeClr>
          </a:solidFill>
          <a:ln>
            <a:noFill/>
          </a:ln>
          <a:effectLst>
            <a:outerShdw blurRad="50800" dist="50800" dir="5400000" algn="ctr" rotWithShape="0">
              <a:schemeClr val="bg1">
                <a:lumMod val="7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a:solidFill>
                  <a:schemeClr val="accent5"/>
                </a:solidFill>
                <a:latin typeface="Roboto Condensed Light" panose="02000000000000000000" pitchFamily="2" charset="0"/>
                <a:ea typeface="Roboto Condensed Light" panose="02000000000000000000" pitchFamily="2" charset="0"/>
              </a:rPr>
              <a:t>Patient Capital</a:t>
            </a:r>
          </a:p>
        </p:txBody>
      </p:sp>
      <p:sp>
        <p:nvSpPr>
          <p:cNvPr id="37" name="TextBox 36">
            <a:extLst>
              <a:ext uri="{FF2B5EF4-FFF2-40B4-BE49-F238E27FC236}">
                <a16:creationId xmlns:a16="http://schemas.microsoft.com/office/drawing/2014/main" id="{73700A90-0254-48CA-A4AF-800DBF780144}"/>
              </a:ext>
            </a:extLst>
          </p:cNvPr>
          <p:cNvSpPr txBox="1"/>
          <p:nvPr/>
        </p:nvSpPr>
        <p:spPr>
          <a:xfrm>
            <a:off x="2945424" y="1714288"/>
            <a:ext cx="5544282" cy="646331"/>
          </a:xfrm>
          <a:prstGeom prst="rect">
            <a:avLst/>
          </a:prstGeom>
          <a:noFill/>
        </p:spPr>
        <p:txBody>
          <a:bodyPr wrap="square" rtlCol="0" anchor="ctr">
            <a:spAutoFit/>
          </a:bodyPr>
          <a:lstStyle/>
          <a:p>
            <a:pPr>
              <a:spcBef>
                <a:spcPts val="400"/>
              </a:spcBef>
              <a:spcAft>
                <a:spcPts val="400"/>
              </a:spcAft>
            </a:pPr>
            <a:r>
              <a:rPr lang="en-US">
                <a:solidFill>
                  <a:schemeClr val="accent5"/>
                </a:solidFill>
                <a:latin typeface="Roboto Condensed Light" panose="02000000000000000000" pitchFamily="2" charset="0"/>
                <a:ea typeface="Roboto Condensed Light" panose="02000000000000000000" pitchFamily="2" charset="0"/>
              </a:rPr>
              <a:t>10-20 year holding period, leading rounds across multiple stages to save time and bandwidth for founders</a:t>
            </a:r>
          </a:p>
        </p:txBody>
      </p:sp>
      <p:sp>
        <p:nvSpPr>
          <p:cNvPr id="41" name="TextBox 40">
            <a:extLst>
              <a:ext uri="{FF2B5EF4-FFF2-40B4-BE49-F238E27FC236}">
                <a16:creationId xmlns:a16="http://schemas.microsoft.com/office/drawing/2014/main" id="{F38405F8-21D5-495C-A893-A1B0BA5C9BA1}"/>
              </a:ext>
            </a:extLst>
          </p:cNvPr>
          <p:cNvSpPr txBox="1"/>
          <p:nvPr/>
        </p:nvSpPr>
        <p:spPr>
          <a:xfrm>
            <a:off x="2945424" y="4755496"/>
            <a:ext cx="5544282" cy="646331"/>
          </a:xfrm>
          <a:prstGeom prst="rect">
            <a:avLst/>
          </a:prstGeom>
          <a:noFill/>
        </p:spPr>
        <p:txBody>
          <a:bodyPr wrap="square" rtlCol="0" anchor="ctr">
            <a:spAutoFit/>
          </a:bodyPr>
          <a:lstStyle/>
          <a:p>
            <a:pPr>
              <a:spcBef>
                <a:spcPts val="400"/>
              </a:spcBef>
              <a:spcAft>
                <a:spcPts val="400"/>
              </a:spcAft>
            </a:pPr>
            <a:r>
              <a:rPr lang="en-US">
                <a:solidFill>
                  <a:schemeClr val="accent5"/>
                </a:solidFill>
                <a:latin typeface="Roboto Condensed Light" panose="02000000000000000000" pitchFamily="2" charset="0"/>
                <a:ea typeface="Roboto Condensed Light" panose="02000000000000000000" pitchFamily="2" charset="0"/>
              </a:rPr>
              <a:t>Comprehensive portfolio support teams across talent acquisition, GTM strategy, and customer introductions</a:t>
            </a:r>
          </a:p>
        </p:txBody>
      </p:sp>
    </p:spTree>
    <p:extLst>
      <p:ext uri="{BB962C8B-B14F-4D97-AF65-F5344CB8AC3E}">
        <p14:creationId xmlns:p14="http://schemas.microsoft.com/office/powerpoint/2010/main" val="19748291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F6D6F9-48D2-A795-A2A1-BFF6A9A1E798}"/>
            </a:ext>
          </a:extLst>
        </p:cNvPr>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56DAADE0-7904-AD7B-63C7-F6889BE7294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60" imgH="360" progId="TCLayout.ActiveDocument.1">
                  <p:embed/>
                </p:oleObj>
              </mc:Choice>
              <mc:Fallback>
                <p:oleObj name="think-cell Slide" r:id="rId5" imgW="360" imgH="360" progId="TCLayout.ActiveDocument.1">
                  <p:embed/>
                  <p:pic>
                    <p:nvPicPr>
                      <p:cNvPr id="6" name="Object 5" hidden="1">
                        <a:extLst>
                          <a:ext uri="{FF2B5EF4-FFF2-40B4-BE49-F238E27FC236}">
                            <a16:creationId xmlns:a16="http://schemas.microsoft.com/office/drawing/2014/main" id="{56DAADE0-7904-AD7B-63C7-F6889BE7294A}"/>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CC2F21E5-A56F-B67A-7B6B-717EE5FF65CE}"/>
              </a:ext>
            </a:extLst>
          </p:cNvPr>
          <p:cNvSpPr/>
          <p:nvPr>
            <p:custDataLst>
              <p:tags r:id="rId2"/>
            </p:custDataLst>
          </p:nvPr>
        </p:nvSpPr>
        <p:spPr>
          <a:xfrm>
            <a:off x="0" y="0"/>
            <a:ext cx="158750" cy="1587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lnSpc>
                <a:spcPct val="90000"/>
              </a:lnSpc>
              <a:spcBef>
                <a:spcPct val="0"/>
              </a:spcBef>
              <a:spcAft>
                <a:spcPct val="0"/>
              </a:spcAft>
            </a:pPr>
            <a:endParaRPr lang="en-US" sz="3200">
              <a:solidFill>
                <a:prstClr val="white"/>
              </a:solidFill>
              <a:latin typeface="Roboto Condensed" panose="02000000000000000000" pitchFamily="2" charset="0"/>
              <a:ea typeface="Roboto Condensed" panose="02000000000000000000" pitchFamily="2" charset="0"/>
              <a:sym typeface="Roboto Condensed" panose="02000000000000000000" pitchFamily="2" charset="0"/>
            </a:endParaRPr>
          </a:p>
        </p:txBody>
      </p:sp>
      <p:sp>
        <p:nvSpPr>
          <p:cNvPr id="56" name="TextBox 55">
            <a:extLst>
              <a:ext uri="{FF2B5EF4-FFF2-40B4-BE49-F238E27FC236}">
                <a16:creationId xmlns:a16="http://schemas.microsoft.com/office/drawing/2014/main" id="{83573EDE-B1B3-37E3-6B24-AE74E693B8A4}"/>
              </a:ext>
            </a:extLst>
          </p:cNvPr>
          <p:cNvSpPr txBox="1"/>
          <p:nvPr/>
        </p:nvSpPr>
        <p:spPr>
          <a:xfrm>
            <a:off x="741499" y="5319909"/>
            <a:ext cx="1403494" cy="338554"/>
          </a:xfrm>
          <a:prstGeom prst="rect">
            <a:avLst/>
          </a:prstGeom>
          <a:noFill/>
        </p:spPr>
        <p:txBody>
          <a:bodyPr wrap="square" rtlCol="0" anchor="t">
            <a:spAutoFit/>
          </a:bodyPr>
          <a:lstStyle/>
          <a:p>
            <a:pPr algn="ctr"/>
            <a:r>
              <a:rPr lang="en-US" sz="1600">
                <a:solidFill>
                  <a:srgbClr val="515151"/>
                </a:solidFill>
                <a:ea typeface="Roboto Medium" panose="02000000000000000000" pitchFamily="2" charset="0"/>
              </a:rPr>
              <a:t>2020 and Prior</a:t>
            </a:r>
          </a:p>
        </p:txBody>
      </p:sp>
      <p:cxnSp>
        <p:nvCxnSpPr>
          <p:cNvPr id="57" name="Straight Connector 56">
            <a:extLst>
              <a:ext uri="{FF2B5EF4-FFF2-40B4-BE49-F238E27FC236}">
                <a16:creationId xmlns:a16="http://schemas.microsoft.com/office/drawing/2014/main" id="{D084694F-64EC-5460-2BB3-588E642A558D}"/>
              </a:ext>
            </a:extLst>
          </p:cNvPr>
          <p:cNvCxnSpPr>
            <a:cxnSpLocks/>
          </p:cNvCxnSpPr>
          <p:nvPr/>
        </p:nvCxnSpPr>
        <p:spPr>
          <a:xfrm>
            <a:off x="764875" y="5231143"/>
            <a:ext cx="6370004"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46E39245-2693-6649-B9C1-81E34405AE55}"/>
              </a:ext>
            </a:extLst>
          </p:cNvPr>
          <p:cNvSpPr txBox="1"/>
          <p:nvPr/>
        </p:nvSpPr>
        <p:spPr>
          <a:xfrm>
            <a:off x="2151176" y="5319909"/>
            <a:ext cx="958605" cy="338554"/>
          </a:xfrm>
          <a:prstGeom prst="rect">
            <a:avLst/>
          </a:prstGeom>
          <a:noFill/>
        </p:spPr>
        <p:txBody>
          <a:bodyPr wrap="square" rtlCol="0" anchor="t">
            <a:spAutoFit/>
          </a:bodyPr>
          <a:lstStyle/>
          <a:p>
            <a:pPr algn="ctr"/>
            <a:r>
              <a:rPr lang="en-US" sz="1600">
                <a:solidFill>
                  <a:srgbClr val="515151"/>
                </a:solidFill>
                <a:ea typeface="Roboto Medium" panose="02000000000000000000" pitchFamily="2" charset="0"/>
              </a:rPr>
              <a:t>2021</a:t>
            </a:r>
          </a:p>
        </p:txBody>
      </p:sp>
      <p:grpSp>
        <p:nvGrpSpPr>
          <p:cNvPr id="15" name="Group 14">
            <a:extLst>
              <a:ext uri="{FF2B5EF4-FFF2-40B4-BE49-F238E27FC236}">
                <a16:creationId xmlns:a16="http://schemas.microsoft.com/office/drawing/2014/main" id="{B0563129-F614-B14C-C893-EB7838E8CB06}"/>
              </a:ext>
            </a:extLst>
          </p:cNvPr>
          <p:cNvGrpSpPr/>
          <p:nvPr/>
        </p:nvGrpSpPr>
        <p:grpSpPr>
          <a:xfrm>
            <a:off x="2051125" y="3678691"/>
            <a:ext cx="1142857" cy="1552452"/>
            <a:chOff x="2046036" y="3678691"/>
            <a:chExt cx="1142857" cy="1552452"/>
          </a:xfrm>
        </p:grpSpPr>
        <p:sp>
          <p:nvSpPr>
            <p:cNvPr id="55" name="Rectangle 54">
              <a:extLst>
                <a:ext uri="{FF2B5EF4-FFF2-40B4-BE49-F238E27FC236}">
                  <a16:creationId xmlns:a16="http://schemas.microsoft.com/office/drawing/2014/main" id="{730E03FD-973E-802F-F3A8-AB618BA3BEE1}"/>
                </a:ext>
              </a:extLst>
            </p:cNvPr>
            <p:cNvSpPr/>
            <p:nvPr/>
          </p:nvSpPr>
          <p:spPr>
            <a:xfrm>
              <a:off x="2046036" y="3678691"/>
              <a:ext cx="1142857" cy="1552452"/>
            </a:xfrm>
            <a:prstGeom prst="rect">
              <a:avLst/>
            </a:prstGeom>
            <a:solidFill>
              <a:schemeClr val="bg1">
                <a:lumMod val="85000"/>
                <a:alpha val="5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grpSp>
          <p:nvGrpSpPr>
            <p:cNvPr id="59" name="Group 58">
              <a:extLst>
                <a:ext uri="{FF2B5EF4-FFF2-40B4-BE49-F238E27FC236}">
                  <a16:creationId xmlns:a16="http://schemas.microsoft.com/office/drawing/2014/main" id="{FDEAD3CC-4604-6EA5-C85D-D3CE4CEF7175}"/>
                </a:ext>
              </a:extLst>
            </p:cNvPr>
            <p:cNvGrpSpPr/>
            <p:nvPr/>
          </p:nvGrpSpPr>
          <p:grpSpPr>
            <a:xfrm>
              <a:off x="2155412" y="3811446"/>
              <a:ext cx="956660" cy="1260218"/>
              <a:chOff x="2545041" y="3658847"/>
              <a:chExt cx="928857" cy="1136742"/>
            </a:xfrm>
          </p:grpSpPr>
          <p:pic>
            <p:nvPicPr>
              <p:cNvPr id="60" name="Picture 4" descr="yellow.ai Raises $78.15M to Deliver Total Customer Experience Automation |  Business Wire">
                <a:extLst>
                  <a:ext uri="{FF2B5EF4-FFF2-40B4-BE49-F238E27FC236}">
                    <a16:creationId xmlns:a16="http://schemas.microsoft.com/office/drawing/2014/main" id="{27E77921-E2B5-0F85-4184-6F867C303C8D}"/>
                  </a:ext>
                </a:extLst>
              </p:cNvPr>
              <p:cNvPicPr>
                <a:picLocks noChangeAspect="1" noChangeArrowheads="1"/>
              </p:cNvPicPr>
              <p:nvPr/>
            </p:nvPicPr>
            <p:blipFill>
              <a:blip r:embed="rId7"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655514" y="4342489"/>
                <a:ext cx="707912" cy="165303"/>
              </a:xfrm>
              <a:prstGeom prst="rect">
                <a:avLst/>
              </a:prstGeom>
              <a:noFill/>
              <a:extLst>
                <a:ext uri="{909E8E84-426E-40DD-AFC4-6F175D3DCCD1}">
                  <a14:hiddenFill xmlns:a14="http://schemas.microsoft.com/office/drawing/2010/main">
                    <a:solidFill>
                      <a:srgbClr val="FFFFFF"/>
                    </a:solidFill>
                  </a14:hiddenFill>
                </a:ext>
              </a:extLst>
            </p:spPr>
          </p:pic>
          <p:pic>
            <p:nvPicPr>
              <p:cNvPr id="61" name="Picture 6" descr="SupportLogic Announces $50 Million Series B Funding from WestBridge Capital  and General Catalyst">
                <a:extLst>
                  <a:ext uri="{FF2B5EF4-FFF2-40B4-BE49-F238E27FC236}">
                    <a16:creationId xmlns:a16="http://schemas.microsoft.com/office/drawing/2014/main" id="{98BCF11D-1C4F-37D9-1240-864411B3AB91}"/>
                  </a:ext>
                </a:extLst>
              </p:cNvPr>
              <p:cNvPicPr>
                <a:picLocks noChangeAspect="1" noChangeArrowheads="1"/>
              </p:cNvPicPr>
              <p:nvPr/>
            </p:nvPicPr>
            <p:blipFill rotWithShape="1">
              <a:blip r:embed="rId8" cstate="print">
                <a:clrChange>
                  <a:clrFrom>
                    <a:srgbClr val="FFFFFF"/>
                  </a:clrFrom>
                  <a:clrTo>
                    <a:srgbClr val="FFFFFF">
                      <a:alpha val="0"/>
                    </a:srgbClr>
                  </a:clrTo>
                </a:clrChange>
                <a:extLst>
                  <a:ext uri="{28A0092B-C50C-407E-A947-70E740481C1C}">
                    <a14:useLocalDpi xmlns:a14="http://schemas.microsoft.com/office/drawing/2010/main" val="0"/>
                  </a:ext>
                </a:extLst>
              </a:blip>
              <a:srcRect t="32688" b="34282"/>
              <a:stretch/>
            </p:blipFill>
            <p:spPr bwMode="auto">
              <a:xfrm>
                <a:off x="2642665" y="4667868"/>
                <a:ext cx="733609" cy="127721"/>
              </a:xfrm>
              <a:prstGeom prst="rect">
                <a:avLst/>
              </a:prstGeom>
              <a:noFill/>
              <a:extLst>
                <a:ext uri="{909E8E84-426E-40DD-AFC4-6F175D3DCCD1}">
                  <a14:hiddenFill xmlns:a14="http://schemas.microsoft.com/office/drawing/2010/main">
                    <a:solidFill>
                      <a:srgbClr val="FFFFFF"/>
                    </a:solidFill>
                  </a14:hiddenFill>
                </a:ext>
              </a:extLst>
            </p:spPr>
          </p:pic>
          <p:pic>
            <p:nvPicPr>
              <p:cNvPr id="62" name="Picture 14" descr="Tanglin Venture Partners | Official Website">
                <a:extLst>
                  <a:ext uri="{FF2B5EF4-FFF2-40B4-BE49-F238E27FC236}">
                    <a16:creationId xmlns:a16="http://schemas.microsoft.com/office/drawing/2014/main" id="{8DCE9A99-756D-E4D4-FC2B-714E10A392ED}"/>
                  </a:ext>
                </a:extLst>
              </p:cNvPr>
              <p:cNvPicPr>
                <a:picLocks noChangeAspect="1" noChangeArrowheads="1"/>
              </p:cNvPicPr>
              <p:nvPr/>
            </p:nvPicPr>
            <p:blipFill rotWithShape="1">
              <a:blip r:embed="rId9" cstate="print">
                <a:clrChange>
                  <a:clrFrom>
                    <a:srgbClr val="FFFFFF"/>
                  </a:clrFrom>
                  <a:clrTo>
                    <a:srgbClr val="FFFFFF">
                      <a:alpha val="0"/>
                    </a:srgbClr>
                  </a:clrTo>
                </a:clrChange>
                <a:extLst>
                  <a:ext uri="{28A0092B-C50C-407E-A947-70E740481C1C}">
                    <a14:useLocalDpi xmlns:a14="http://schemas.microsoft.com/office/drawing/2010/main" val="0"/>
                  </a:ext>
                </a:extLst>
              </a:blip>
              <a:srcRect t="29030" b="31607"/>
              <a:stretch/>
            </p:blipFill>
            <p:spPr bwMode="auto">
              <a:xfrm>
                <a:off x="2545041" y="4000070"/>
                <a:ext cx="928857" cy="182344"/>
              </a:xfrm>
              <a:prstGeom prst="rect">
                <a:avLst/>
              </a:prstGeom>
              <a:noFill/>
              <a:extLst>
                <a:ext uri="{909E8E84-426E-40DD-AFC4-6F175D3DCCD1}">
                  <a14:hiddenFill xmlns:a14="http://schemas.microsoft.com/office/drawing/2010/main">
                    <a:solidFill>
                      <a:srgbClr val="FFFFFF"/>
                    </a:solidFill>
                  </a14:hiddenFill>
                </a:ext>
              </a:extLst>
            </p:spPr>
          </p:pic>
          <p:pic>
            <p:nvPicPr>
              <p:cNvPr id="63" name="Picture 18" descr="Skit - Transforming CX with Voice AI">
                <a:extLst>
                  <a:ext uri="{FF2B5EF4-FFF2-40B4-BE49-F238E27FC236}">
                    <a16:creationId xmlns:a16="http://schemas.microsoft.com/office/drawing/2014/main" id="{7E90E370-E75E-E30E-F9E5-2DBC67F39FEE}"/>
                  </a:ext>
                </a:extLst>
              </p:cNvPr>
              <p:cNvPicPr>
                <a:picLocks noChangeAspect="1" noChangeArrowheads="1"/>
              </p:cNvPicPr>
              <p:nvPr/>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751369" y="3658847"/>
                <a:ext cx="516201" cy="181148"/>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64" name="Rectangle 63">
            <a:extLst>
              <a:ext uri="{FF2B5EF4-FFF2-40B4-BE49-F238E27FC236}">
                <a16:creationId xmlns:a16="http://schemas.microsoft.com/office/drawing/2014/main" id="{7020278F-AEF7-626F-1AEE-D29DEC331862}"/>
              </a:ext>
            </a:extLst>
          </p:cNvPr>
          <p:cNvSpPr/>
          <p:nvPr/>
        </p:nvSpPr>
        <p:spPr>
          <a:xfrm>
            <a:off x="3236451" y="3145765"/>
            <a:ext cx="1142857" cy="2085377"/>
          </a:xfrm>
          <a:prstGeom prst="rect">
            <a:avLst/>
          </a:prstGeom>
          <a:solidFill>
            <a:schemeClr val="bg1">
              <a:lumMod val="85000"/>
              <a:alpha val="5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65" name="TextBox 64">
            <a:extLst>
              <a:ext uri="{FF2B5EF4-FFF2-40B4-BE49-F238E27FC236}">
                <a16:creationId xmlns:a16="http://schemas.microsoft.com/office/drawing/2014/main" id="{A2DC060F-F4F4-09E2-EAE0-F593914B8F86}"/>
              </a:ext>
            </a:extLst>
          </p:cNvPr>
          <p:cNvSpPr txBox="1"/>
          <p:nvPr/>
        </p:nvSpPr>
        <p:spPr>
          <a:xfrm>
            <a:off x="3212287" y="5319909"/>
            <a:ext cx="1159913" cy="338554"/>
          </a:xfrm>
          <a:prstGeom prst="rect">
            <a:avLst/>
          </a:prstGeom>
          <a:noFill/>
        </p:spPr>
        <p:txBody>
          <a:bodyPr wrap="square" rtlCol="0" anchor="t">
            <a:spAutoFit/>
          </a:bodyPr>
          <a:lstStyle/>
          <a:p>
            <a:pPr algn="ctr"/>
            <a:r>
              <a:rPr lang="en-US" sz="1600">
                <a:solidFill>
                  <a:srgbClr val="515151"/>
                </a:solidFill>
                <a:ea typeface="Roboto Medium" panose="02000000000000000000" pitchFamily="2" charset="0"/>
              </a:rPr>
              <a:t>2022</a:t>
            </a:r>
          </a:p>
        </p:txBody>
      </p:sp>
      <p:grpSp>
        <p:nvGrpSpPr>
          <p:cNvPr id="14" name="Group 13">
            <a:extLst>
              <a:ext uri="{FF2B5EF4-FFF2-40B4-BE49-F238E27FC236}">
                <a16:creationId xmlns:a16="http://schemas.microsoft.com/office/drawing/2014/main" id="{D3CC93F0-6E01-776D-FB4A-94785B9EDF8D}"/>
              </a:ext>
            </a:extLst>
          </p:cNvPr>
          <p:cNvGrpSpPr/>
          <p:nvPr/>
        </p:nvGrpSpPr>
        <p:grpSpPr>
          <a:xfrm>
            <a:off x="860813" y="4212509"/>
            <a:ext cx="1142857" cy="1018633"/>
            <a:chOff x="860813" y="4212509"/>
            <a:chExt cx="1142857" cy="1018633"/>
          </a:xfrm>
        </p:grpSpPr>
        <p:sp>
          <p:nvSpPr>
            <p:cNvPr id="54" name="Rectangle 53">
              <a:extLst>
                <a:ext uri="{FF2B5EF4-FFF2-40B4-BE49-F238E27FC236}">
                  <a16:creationId xmlns:a16="http://schemas.microsoft.com/office/drawing/2014/main" id="{A14F978F-ED16-0D1E-E57B-C85FACFA127D}"/>
                </a:ext>
              </a:extLst>
            </p:cNvPr>
            <p:cNvSpPr/>
            <p:nvPr/>
          </p:nvSpPr>
          <p:spPr>
            <a:xfrm>
              <a:off x="860813" y="4212509"/>
              <a:ext cx="1142857" cy="1018633"/>
            </a:xfrm>
            <a:prstGeom prst="rect">
              <a:avLst/>
            </a:prstGeom>
            <a:solidFill>
              <a:schemeClr val="bg1">
                <a:lumMod val="85000"/>
                <a:alpha val="5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grpSp>
          <p:nvGrpSpPr>
            <p:cNvPr id="66" name="Group 65">
              <a:extLst>
                <a:ext uri="{FF2B5EF4-FFF2-40B4-BE49-F238E27FC236}">
                  <a16:creationId xmlns:a16="http://schemas.microsoft.com/office/drawing/2014/main" id="{7C0843D0-BD2B-CC8A-BC92-CB514079A2B7}"/>
                </a:ext>
              </a:extLst>
            </p:cNvPr>
            <p:cNvGrpSpPr/>
            <p:nvPr/>
          </p:nvGrpSpPr>
          <p:grpSpPr>
            <a:xfrm>
              <a:off x="1029068" y="4293480"/>
              <a:ext cx="856424" cy="840391"/>
              <a:chOff x="1029068" y="4193600"/>
              <a:chExt cx="1006156" cy="917240"/>
            </a:xfrm>
          </p:grpSpPr>
          <p:pic>
            <p:nvPicPr>
              <p:cNvPr id="67" name="Picture 22" descr="Image result for phenompeople logo">
                <a:extLst>
                  <a:ext uri="{FF2B5EF4-FFF2-40B4-BE49-F238E27FC236}">
                    <a16:creationId xmlns:a16="http://schemas.microsoft.com/office/drawing/2014/main" id="{3C44A7B8-78E2-54CA-5EFC-7D1154CC7421}"/>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1174124" y="4851473"/>
                <a:ext cx="716045" cy="259367"/>
              </a:xfrm>
              <a:prstGeom prst="rect">
                <a:avLst/>
              </a:prstGeom>
              <a:noFill/>
              <a:extLst>
                <a:ext uri="{909E8E84-426E-40DD-AFC4-6F175D3DCCD1}">
                  <a14:hiddenFill xmlns:a14="http://schemas.microsoft.com/office/drawing/2010/main">
                    <a:solidFill>
                      <a:srgbClr val="FFFFFF"/>
                    </a:solidFill>
                  </a14:hiddenFill>
                </a:ext>
              </a:extLst>
            </p:spPr>
          </p:pic>
          <p:pic>
            <p:nvPicPr>
              <p:cNvPr id="68" name="Picture 15" descr="Turing - Crunchbase Company Profile &amp; Funding">
                <a:extLst>
                  <a:ext uri="{FF2B5EF4-FFF2-40B4-BE49-F238E27FC236}">
                    <a16:creationId xmlns:a16="http://schemas.microsoft.com/office/drawing/2014/main" id="{F0D4A020-DDC9-12AF-954F-BE4BD4FC94AA}"/>
                  </a:ext>
                </a:extLst>
              </p:cNvPr>
              <p:cNvPicPr>
                <a:picLocks noChangeAspect="1" noChangeArrowheads="1"/>
              </p:cNvPicPr>
              <p:nvPr/>
            </p:nvPicPr>
            <p:blipFill rotWithShape="1">
              <a:blip r:embed="rId12" cstate="print">
                <a:clrChange>
                  <a:clrFrom>
                    <a:srgbClr val="FFFFFF"/>
                  </a:clrFrom>
                  <a:clrTo>
                    <a:srgbClr val="FFFFFF">
                      <a:alpha val="0"/>
                    </a:srgbClr>
                  </a:clrTo>
                </a:clrChange>
                <a:extLst>
                  <a:ext uri="{28A0092B-C50C-407E-A947-70E740481C1C}">
                    <a14:useLocalDpi xmlns:a14="http://schemas.microsoft.com/office/drawing/2010/main" val="0"/>
                  </a:ext>
                </a:extLst>
              </a:blip>
              <a:srcRect t="32059" b="36326"/>
              <a:stretch/>
            </p:blipFill>
            <p:spPr bwMode="auto">
              <a:xfrm>
                <a:off x="1029068" y="4446041"/>
                <a:ext cx="1006156" cy="318096"/>
              </a:xfrm>
              <a:prstGeom prst="rect">
                <a:avLst/>
              </a:prstGeom>
              <a:noFill/>
              <a:extLst>
                <a:ext uri="{909E8E84-426E-40DD-AFC4-6F175D3DCCD1}">
                  <a14:hiddenFill xmlns:a14="http://schemas.microsoft.com/office/drawing/2010/main">
                    <a:solidFill>
                      <a:srgbClr val="FFFFFF"/>
                    </a:solidFill>
                  </a14:hiddenFill>
                </a:ext>
              </a:extLst>
            </p:spPr>
          </p:pic>
          <p:pic>
            <p:nvPicPr>
              <p:cNvPr id="69" name="Google Shape;15;p44">
                <a:extLst>
                  <a:ext uri="{FF2B5EF4-FFF2-40B4-BE49-F238E27FC236}">
                    <a16:creationId xmlns:a16="http://schemas.microsoft.com/office/drawing/2014/main" id="{19BBE393-3A67-04E1-25A3-D9EF7FF6B4BA}"/>
                  </a:ext>
                </a:extLst>
              </p:cNvPr>
              <p:cNvPicPr preferRelativeResize="0"/>
              <p:nvPr/>
            </p:nvPicPr>
            <p:blipFill rotWithShape="1">
              <a:blip r:embed="rId13">
                <a:alphaModFix/>
              </a:blip>
              <a:srcRect/>
              <a:stretch/>
            </p:blipFill>
            <p:spPr>
              <a:xfrm>
                <a:off x="1066336" y="4193600"/>
                <a:ext cx="912293" cy="165104"/>
              </a:xfrm>
              <a:prstGeom prst="rect">
                <a:avLst/>
              </a:prstGeom>
              <a:noFill/>
              <a:ln>
                <a:noFill/>
              </a:ln>
            </p:spPr>
          </p:pic>
        </p:grpSp>
      </p:grpSp>
      <p:sp>
        <p:nvSpPr>
          <p:cNvPr id="71" name="TextBox 70">
            <a:extLst>
              <a:ext uri="{FF2B5EF4-FFF2-40B4-BE49-F238E27FC236}">
                <a16:creationId xmlns:a16="http://schemas.microsoft.com/office/drawing/2014/main" id="{1F927270-552F-DA64-05A6-54AC659A162D}"/>
              </a:ext>
            </a:extLst>
          </p:cNvPr>
          <p:cNvSpPr txBox="1"/>
          <p:nvPr/>
        </p:nvSpPr>
        <p:spPr>
          <a:xfrm>
            <a:off x="4510250" y="5319909"/>
            <a:ext cx="958605" cy="338554"/>
          </a:xfrm>
          <a:prstGeom prst="rect">
            <a:avLst/>
          </a:prstGeom>
          <a:noFill/>
        </p:spPr>
        <p:txBody>
          <a:bodyPr wrap="square" rtlCol="0" anchor="t">
            <a:spAutoFit/>
          </a:bodyPr>
          <a:lstStyle/>
          <a:p>
            <a:pPr algn="ctr"/>
            <a:r>
              <a:rPr lang="en-US" sz="1600">
                <a:solidFill>
                  <a:srgbClr val="515151"/>
                </a:solidFill>
                <a:ea typeface="Roboto Medium" panose="02000000000000000000" pitchFamily="2" charset="0"/>
              </a:rPr>
              <a:t>2023</a:t>
            </a:r>
          </a:p>
        </p:txBody>
      </p:sp>
      <p:sp>
        <p:nvSpPr>
          <p:cNvPr id="72" name="TextBox 71">
            <a:extLst>
              <a:ext uri="{FF2B5EF4-FFF2-40B4-BE49-F238E27FC236}">
                <a16:creationId xmlns:a16="http://schemas.microsoft.com/office/drawing/2014/main" id="{E115FB6F-2628-7E66-7EED-D81EFF9A0086}"/>
              </a:ext>
            </a:extLst>
          </p:cNvPr>
          <p:cNvSpPr txBox="1"/>
          <p:nvPr/>
        </p:nvSpPr>
        <p:spPr>
          <a:xfrm>
            <a:off x="6701159" y="5288772"/>
            <a:ext cx="1403494" cy="338554"/>
          </a:xfrm>
          <a:prstGeom prst="rect">
            <a:avLst/>
          </a:prstGeom>
          <a:noFill/>
        </p:spPr>
        <p:txBody>
          <a:bodyPr wrap="square" rtlCol="0" anchor="t">
            <a:spAutoFit/>
          </a:bodyPr>
          <a:lstStyle/>
          <a:p>
            <a:pPr algn="ctr"/>
            <a:r>
              <a:rPr lang="en-US" sz="1600">
                <a:solidFill>
                  <a:srgbClr val="515151"/>
                </a:solidFill>
                <a:ea typeface="Roboto Medium" panose="02000000000000000000" pitchFamily="2" charset="0"/>
              </a:rPr>
              <a:t>2025</a:t>
            </a:r>
          </a:p>
        </p:txBody>
      </p:sp>
      <p:grpSp>
        <p:nvGrpSpPr>
          <p:cNvPr id="74" name="Group 73">
            <a:extLst>
              <a:ext uri="{FF2B5EF4-FFF2-40B4-BE49-F238E27FC236}">
                <a16:creationId xmlns:a16="http://schemas.microsoft.com/office/drawing/2014/main" id="{0A5965F3-075D-9AF1-3DF1-8E2B6090182F}"/>
              </a:ext>
            </a:extLst>
          </p:cNvPr>
          <p:cNvGrpSpPr/>
          <p:nvPr/>
        </p:nvGrpSpPr>
        <p:grpSpPr>
          <a:xfrm>
            <a:off x="3343037" y="3242399"/>
            <a:ext cx="898416" cy="1905890"/>
            <a:chOff x="3951540" y="3068116"/>
            <a:chExt cx="1055489" cy="2080173"/>
          </a:xfrm>
        </p:grpSpPr>
        <p:pic>
          <p:nvPicPr>
            <p:cNvPr id="75" name="Picture 5" descr="LeadSquared Announces the Launch of a Digital Onboarding Platform">
              <a:extLst>
                <a:ext uri="{FF2B5EF4-FFF2-40B4-BE49-F238E27FC236}">
                  <a16:creationId xmlns:a16="http://schemas.microsoft.com/office/drawing/2014/main" id="{65A3055B-407B-669D-B5C7-FF33D92AAF30}"/>
                </a:ext>
              </a:extLst>
            </p:cNvPr>
            <p:cNvPicPr>
              <a:picLocks noChangeAspect="1" noChangeArrowheads="1"/>
            </p:cNvPicPr>
            <p:nvPr/>
          </p:nvPicPr>
          <p:blipFill rotWithShape="1">
            <a:blip r:embed="rId14" cstate="print">
              <a:clrChange>
                <a:clrFrom>
                  <a:srgbClr val="FFFFFF"/>
                </a:clrFrom>
                <a:clrTo>
                  <a:srgbClr val="FFFFFF">
                    <a:alpha val="0"/>
                  </a:srgbClr>
                </a:clrTo>
              </a:clrChange>
              <a:extLst>
                <a:ext uri="{28A0092B-C50C-407E-A947-70E740481C1C}">
                  <a14:useLocalDpi xmlns:a14="http://schemas.microsoft.com/office/drawing/2010/main" val="0"/>
                </a:ext>
              </a:extLst>
            </a:blip>
            <a:srcRect t="29406" b="24682"/>
            <a:stretch/>
          </p:blipFill>
          <p:spPr bwMode="auto">
            <a:xfrm>
              <a:off x="4027126" y="3722799"/>
              <a:ext cx="904317" cy="207593"/>
            </a:xfrm>
            <a:prstGeom prst="rect">
              <a:avLst/>
            </a:prstGeom>
            <a:noFill/>
            <a:extLst>
              <a:ext uri="{909E8E84-426E-40DD-AFC4-6F175D3DCCD1}">
                <a14:hiddenFill xmlns:a14="http://schemas.microsoft.com/office/drawing/2010/main">
                  <a:solidFill>
                    <a:srgbClr val="FFFFFF"/>
                  </a:solidFill>
                </a14:hiddenFill>
              </a:ext>
            </a:extLst>
          </p:spPr>
        </p:pic>
        <p:pic>
          <p:nvPicPr>
            <p:cNvPr id="76" name="Picture 9" descr="Nightfall AI | Cloud Native Data Protection">
              <a:extLst>
                <a:ext uri="{FF2B5EF4-FFF2-40B4-BE49-F238E27FC236}">
                  <a16:creationId xmlns:a16="http://schemas.microsoft.com/office/drawing/2014/main" id="{79DC9468-289A-0AC7-DDAA-A26EA4CB4A38}"/>
                </a:ext>
              </a:extLst>
            </p:cNvPr>
            <p:cNvPicPr>
              <a:picLocks noChangeAspect="1" noChangeArrowheads="1"/>
            </p:cNvPicPr>
            <p:nvPr/>
          </p:nvPicPr>
          <p:blipFill>
            <a:blip r:embed="rId15" cstate="print">
              <a:clrChange>
                <a:clrFrom>
                  <a:srgbClr val="FDFFFC"/>
                </a:clrFrom>
                <a:clrTo>
                  <a:srgbClr val="FDFFFC">
                    <a:alpha val="0"/>
                  </a:srgbClr>
                </a:clrTo>
              </a:clrChange>
              <a:extLst>
                <a:ext uri="{28A0092B-C50C-407E-A947-70E740481C1C}">
                  <a14:useLocalDpi xmlns:a14="http://schemas.microsoft.com/office/drawing/2010/main" val="0"/>
                </a:ext>
              </a:extLst>
            </a:blip>
            <a:srcRect/>
            <a:stretch>
              <a:fillRect/>
            </a:stretch>
          </p:blipFill>
          <p:spPr bwMode="auto">
            <a:xfrm>
              <a:off x="4032665" y="3427128"/>
              <a:ext cx="893239" cy="199755"/>
            </a:xfrm>
            <a:prstGeom prst="rect">
              <a:avLst/>
            </a:prstGeom>
            <a:noFill/>
            <a:extLst>
              <a:ext uri="{909E8E84-426E-40DD-AFC4-6F175D3DCCD1}">
                <a14:hiddenFill xmlns:a14="http://schemas.microsoft.com/office/drawing/2010/main">
                  <a:solidFill>
                    <a:srgbClr val="FFFFFF"/>
                  </a:solidFill>
                </a14:hiddenFill>
              </a:ext>
            </a:extLst>
          </p:spPr>
        </p:pic>
        <p:pic>
          <p:nvPicPr>
            <p:cNvPr id="77" name="Picture 11" descr="Goldcast raises $10M in seed funding led by Unusual and HubSpot Ventures to  help B2B marketers run engaging events and drive revenue">
              <a:extLst>
                <a:ext uri="{FF2B5EF4-FFF2-40B4-BE49-F238E27FC236}">
                  <a16:creationId xmlns:a16="http://schemas.microsoft.com/office/drawing/2014/main" id="{C34E1991-E829-18D4-0BD1-2E419E33A5C0}"/>
                </a:ext>
              </a:extLst>
            </p:cNvPr>
            <p:cNvPicPr>
              <a:picLocks noChangeAspect="1" noChangeArrowheads="1"/>
            </p:cNvPicPr>
            <p:nvPr/>
          </p:nvPicPr>
          <p:blipFill>
            <a:blip r:embed="rId16" cstate="print">
              <a:clrChange>
                <a:clrFrom>
                  <a:srgbClr val="FDFFFC"/>
                </a:clrFrom>
                <a:clrTo>
                  <a:srgbClr val="FDFFFC">
                    <a:alpha val="0"/>
                  </a:srgbClr>
                </a:clrTo>
              </a:clrChange>
              <a:extLst>
                <a:ext uri="{28A0092B-C50C-407E-A947-70E740481C1C}">
                  <a14:useLocalDpi xmlns:a14="http://schemas.microsoft.com/office/drawing/2010/main" val="0"/>
                </a:ext>
              </a:extLst>
            </a:blip>
            <a:srcRect/>
            <a:stretch>
              <a:fillRect/>
            </a:stretch>
          </p:blipFill>
          <p:spPr bwMode="auto">
            <a:xfrm>
              <a:off x="4095669" y="4026308"/>
              <a:ext cx="767232" cy="194339"/>
            </a:xfrm>
            <a:prstGeom prst="rect">
              <a:avLst/>
            </a:prstGeom>
            <a:noFill/>
            <a:extLst>
              <a:ext uri="{909E8E84-426E-40DD-AFC4-6F175D3DCCD1}">
                <a14:hiddenFill xmlns:a14="http://schemas.microsoft.com/office/drawing/2010/main">
                  <a:solidFill>
                    <a:srgbClr val="FFFFFF"/>
                  </a:solidFill>
                </a14:hiddenFill>
              </a:ext>
            </a:extLst>
          </p:spPr>
        </p:pic>
        <p:pic>
          <p:nvPicPr>
            <p:cNvPr id="78" name="Picture 17" descr="HyperTrack Announces Software Suite for Location-Based Logistics to Help  Businesses Seize Delivery, Gig Market Opportunities | Business Wire">
              <a:extLst>
                <a:ext uri="{FF2B5EF4-FFF2-40B4-BE49-F238E27FC236}">
                  <a16:creationId xmlns:a16="http://schemas.microsoft.com/office/drawing/2014/main" id="{D1303F00-F553-BA8C-971D-6BBDDA70D58F}"/>
                </a:ext>
              </a:extLst>
            </p:cNvPr>
            <p:cNvPicPr>
              <a:picLocks noChangeAspect="1" noChangeArrowheads="1"/>
            </p:cNvPicPr>
            <p:nvPr/>
          </p:nvPicPr>
          <p:blipFill rotWithShape="1">
            <a:blip r:embed="rId17" cstate="print">
              <a:clrChange>
                <a:clrFrom>
                  <a:srgbClr val="FDFFFC"/>
                </a:clrFrom>
                <a:clrTo>
                  <a:srgbClr val="FDFFFC">
                    <a:alpha val="0"/>
                  </a:srgbClr>
                </a:clrTo>
              </a:clrChange>
              <a:extLst>
                <a:ext uri="{28A0092B-C50C-407E-A947-70E740481C1C}">
                  <a14:useLocalDpi xmlns:a14="http://schemas.microsoft.com/office/drawing/2010/main" val="0"/>
                </a:ext>
              </a:extLst>
            </a:blip>
            <a:srcRect t="30018" b="31325"/>
            <a:stretch/>
          </p:blipFill>
          <p:spPr bwMode="auto">
            <a:xfrm>
              <a:off x="3968692" y="4316562"/>
              <a:ext cx="1021185" cy="206293"/>
            </a:xfrm>
            <a:prstGeom prst="rect">
              <a:avLst/>
            </a:prstGeom>
            <a:noFill/>
            <a:extLst>
              <a:ext uri="{909E8E84-426E-40DD-AFC4-6F175D3DCCD1}">
                <a14:hiddenFill xmlns:a14="http://schemas.microsoft.com/office/drawing/2010/main">
                  <a:solidFill>
                    <a:srgbClr val="FFFFFF"/>
                  </a:solidFill>
                </a14:hiddenFill>
              </a:ext>
            </a:extLst>
          </p:spPr>
        </p:pic>
        <p:pic>
          <p:nvPicPr>
            <p:cNvPr id="79" name="Picture 19" descr="Keka Pricing, Reviews, &amp; Features in 2022">
              <a:extLst>
                <a:ext uri="{FF2B5EF4-FFF2-40B4-BE49-F238E27FC236}">
                  <a16:creationId xmlns:a16="http://schemas.microsoft.com/office/drawing/2014/main" id="{914D84F8-9C54-5BFF-3DEA-4B3DE0121E89}"/>
                </a:ext>
              </a:extLst>
            </p:cNvPr>
            <p:cNvPicPr>
              <a:picLocks noChangeAspect="1" noChangeArrowheads="1"/>
            </p:cNvPicPr>
            <p:nvPr/>
          </p:nvPicPr>
          <p:blipFill>
            <a:blip r:embed="rId18"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174891" y="4618770"/>
              <a:ext cx="608787" cy="248024"/>
            </a:xfrm>
            <a:prstGeom prst="rect">
              <a:avLst/>
            </a:prstGeom>
            <a:noFill/>
            <a:extLst>
              <a:ext uri="{909E8E84-426E-40DD-AFC4-6F175D3DCCD1}">
                <a14:hiddenFill xmlns:a14="http://schemas.microsoft.com/office/drawing/2010/main">
                  <a:solidFill>
                    <a:srgbClr val="FFFFFF"/>
                  </a:solidFill>
                </a14:hiddenFill>
              </a:ext>
            </a:extLst>
          </p:spPr>
        </p:pic>
        <p:pic>
          <p:nvPicPr>
            <p:cNvPr id="80" name="Picture 2">
              <a:extLst>
                <a:ext uri="{FF2B5EF4-FFF2-40B4-BE49-F238E27FC236}">
                  <a16:creationId xmlns:a16="http://schemas.microsoft.com/office/drawing/2014/main" id="{441D96F1-F1BF-9AE8-1B6C-66552680C3AD}"/>
                </a:ext>
              </a:extLst>
            </p:cNvPr>
            <p:cNvPicPr>
              <a:picLocks noChangeAspect="1" noChangeArrowheads="1"/>
            </p:cNvPicPr>
            <p:nvPr/>
          </p:nvPicPr>
          <p:blipFill rotWithShape="1">
            <a:blip r:embed="rId19" cstate="print">
              <a:extLst>
                <a:ext uri="{28A0092B-C50C-407E-A947-70E740481C1C}">
                  <a14:useLocalDpi xmlns:a14="http://schemas.microsoft.com/office/drawing/2010/main" val="0"/>
                </a:ext>
              </a:extLst>
            </a:blip>
            <a:srcRect t="34960" b="40113"/>
            <a:stretch/>
          </p:blipFill>
          <p:spPr bwMode="auto">
            <a:xfrm>
              <a:off x="3951540" y="3068116"/>
              <a:ext cx="1055489" cy="263097"/>
            </a:xfrm>
            <a:prstGeom prst="rect">
              <a:avLst/>
            </a:prstGeom>
            <a:noFill/>
            <a:extLst>
              <a:ext uri="{909E8E84-426E-40DD-AFC4-6F175D3DCCD1}">
                <a14:hiddenFill xmlns:a14="http://schemas.microsoft.com/office/drawing/2010/main">
                  <a:solidFill>
                    <a:srgbClr val="FFFFFF"/>
                  </a:solidFill>
                </a14:hiddenFill>
              </a:ext>
            </a:extLst>
          </p:spPr>
        </p:pic>
        <p:pic>
          <p:nvPicPr>
            <p:cNvPr id="81" name="Picture 61">
              <a:extLst>
                <a:ext uri="{FF2B5EF4-FFF2-40B4-BE49-F238E27FC236}">
                  <a16:creationId xmlns:a16="http://schemas.microsoft.com/office/drawing/2014/main" id="{C166943D-B04D-B952-84FA-9D1CDF6727B7}"/>
                </a:ext>
              </a:extLst>
            </p:cNvPr>
            <p:cNvPicPr>
              <a:picLocks noChangeAspect="1" noChangeArrowheads="1"/>
            </p:cNvPicPr>
            <p:nvPr/>
          </p:nvPicPr>
          <p:blipFill>
            <a:blip r:embed="rId20"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064358" y="4962710"/>
              <a:ext cx="829853" cy="185579"/>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6" name="Group 15">
            <a:extLst>
              <a:ext uri="{FF2B5EF4-FFF2-40B4-BE49-F238E27FC236}">
                <a16:creationId xmlns:a16="http://schemas.microsoft.com/office/drawing/2014/main" id="{FFF7EFF8-593B-5C80-4D2B-39AE6DB45D8F}"/>
              </a:ext>
            </a:extLst>
          </p:cNvPr>
          <p:cNvGrpSpPr/>
          <p:nvPr/>
        </p:nvGrpSpPr>
        <p:grpSpPr>
          <a:xfrm>
            <a:off x="4418124" y="2617375"/>
            <a:ext cx="1142857" cy="2613767"/>
            <a:chOff x="4425634" y="2617375"/>
            <a:chExt cx="1142857" cy="2613767"/>
          </a:xfrm>
        </p:grpSpPr>
        <p:sp>
          <p:nvSpPr>
            <p:cNvPr id="53" name="Rectangle 52">
              <a:extLst>
                <a:ext uri="{FF2B5EF4-FFF2-40B4-BE49-F238E27FC236}">
                  <a16:creationId xmlns:a16="http://schemas.microsoft.com/office/drawing/2014/main" id="{93DBF99D-7817-7320-61BE-E1472E09AD61}"/>
                </a:ext>
              </a:extLst>
            </p:cNvPr>
            <p:cNvSpPr/>
            <p:nvPr/>
          </p:nvSpPr>
          <p:spPr>
            <a:xfrm>
              <a:off x="4425634" y="2617375"/>
              <a:ext cx="1142857" cy="2613767"/>
            </a:xfrm>
            <a:prstGeom prst="rect">
              <a:avLst/>
            </a:prstGeom>
            <a:solidFill>
              <a:schemeClr val="bg1">
                <a:lumMod val="85000"/>
                <a:alpha val="5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grpSp>
          <p:nvGrpSpPr>
            <p:cNvPr id="82" name="Group 81">
              <a:extLst>
                <a:ext uri="{FF2B5EF4-FFF2-40B4-BE49-F238E27FC236}">
                  <a16:creationId xmlns:a16="http://schemas.microsoft.com/office/drawing/2014/main" id="{B817C0CE-F430-2DFA-242B-8DB6FFA0F382}"/>
                </a:ext>
              </a:extLst>
            </p:cNvPr>
            <p:cNvGrpSpPr/>
            <p:nvPr/>
          </p:nvGrpSpPr>
          <p:grpSpPr>
            <a:xfrm>
              <a:off x="4542796" y="3556090"/>
              <a:ext cx="943408" cy="547377"/>
              <a:chOff x="5444495" y="3506036"/>
              <a:chExt cx="1108347" cy="597432"/>
            </a:xfrm>
          </p:grpSpPr>
          <p:pic>
            <p:nvPicPr>
              <p:cNvPr id="83" name="Picture 2" descr="AWS Marketplace: DuploCloud DevSecOps - SOC 2 Accelerator for Startups">
                <a:extLst>
                  <a:ext uri="{FF2B5EF4-FFF2-40B4-BE49-F238E27FC236}">
                    <a16:creationId xmlns:a16="http://schemas.microsoft.com/office/drawing/2014/main" id="{1B3E9984-C0B2-5692-4E99-E3C449FCBD3A}"/>
                  </a:ext>
                </a:extLst>
              </p:cNvPr>
              <p:cNvPicPr>
                <a:picLocks noChangeAspect="1" noChangeArrowheads="1"/>
              </p:cNvPicPr>
              <p:nvPr/>
            </p:nvPicPr>
            <p:blipFill>
              <a:blip r:embed="rId21" cstate="print">
                <a:extLst>
                  <a:ext uri="{28A0092B-C50C-407E-A947-70E740481C1C}">
                    <a14:useLocalDpi xmlns:a14="http://schemas.microsoft.com/office/drawing/2010/main" val="0"/>
                  </a:ext>
                </a:extLst>
              </a:blip>
              <a:srcRect/>
              <a:stretch>
                <a:fillRect/>
              </a:stretch>
            </p:blipFill>
            <p:spPr bwMode="auto">
              <a:xfrm>
                <a:off x="5444495" y="3506036"/>
                <a:ext cx="1108347" cy="187612"/>
              </a:xfrm>
              <a:prstGeom prst="rect">
                <a:avLst/>
              </a:prstGeom>
              <a:noFill/>
              <a:extLst>
                <a:ext uri="{909E8E84-426E-40DD-AFC4-6F175D3DCCD1}">
                  <a14:hiddenFill xmlns:a14="http://schemas.microsoft.com/office/drawing/2010/main">
                    <a:solidFill>
                      <a:srgbClr val="FFFFFF"/>
                    </a:solidFill>
                  </a14:hiddenFill>
                </a:ext>
              </a:extLst>
            </p:spPr>
          </p:pic>
          <p:pic>
            <p:nvPicPr>
              <p:cNvPr id="84" name="Picture 83">
                <a:extLst>
                  <a:ext uri="{FF2B5EF4-FFF2-40B4-BE49-F238E27FC236}">
                    <a16:creationId xmlns:a16="http://schemas.microsoft.com/office/drawing/2014/main" id="{3D565551-6C0E-BF0A-4822-9E18E5CC66FF}"/>
                  </a:ext>
                </a:extLst>
              </p:cNvPr>
              <p:cNvPicPr>
                <a:picLocks noChangeAspect="1"/>
              </p:cNvPicPr>
              <p:nvPr/>
            </p:nvPicPr>
            <p:blipFill>
              <a:blip r:embed="rId22"/>
              <a:stretch>
                <a:fillRect/>
              </a:stretch>
            </p:blipFill>
            <p:spPr>
              <a:xfrm>
                <a:off x="5561955" y="3915856"/>
                <a:ext cx="873425" cy="187612"/>
              </a:xfrm>
              <a:prstGeom prst="rect">
                <a:avLst/>
              </a:prstGeom>
            </p:spPr>
          </p:pic>
        </p:grpSp>
      </p:grpSp>
      <p:grpSp>
        <p:nvGrpSpPr>
          <p:cNvPr id="21" name="Group 20">
            <a:extLst>
              <a:ext uri="{FF2B5EF4-FFF2-40B4-BE49-F238E27FC236}">
                <a16:creationId xmlns:a16="http://schemas.microsoft.com/office/drawing/2014/main" id="{F86A87AC-7F17-4332-DAF6-243EBDAAF12E}"/>
              </a:ext>
            </a:extLst>
          </p:cNvPr>
          <p:cNvGrpSpPr/>
          <p:nvPr/>
        </p:nvGrpSpPr>
        <p:grpSpPr>
          <a:xfrm>
            <a:off x="5618920" y="2050203"/>
            <a:ext cx="1142857" cy="3163824"/>
            <a:chOff x="5607600" y="2050203"/>
            <a:chExt cx="1142857" cy="3163824"/>
          </a:xfrm>
        </p:grpSpPr>
        <p:sp>
          <p:nvSpPr>
            <p:cNvPr id="7" name="Rectangle 6">
              <a:extLst>
                <a:ext uri="{FF2B5EF4-FFF2-40B4-BE49-F238E27FC236}">
                  <a16:creationId xmlns:a16="http://schemas.microsoft.com/office/drawing/2014/main" id="{175043E1-5ABD-2BF2-D1E0-500DCFFA5850}"/>
                </a:ext>
              </a:extLst>
            </p:cNvPr>
            <p:cNvSpPr/>
            <p:nvPr/>
          </p:nvSpPr>
          <p:spPr>
            <a:xfrm>
              <a:off x="5607600" y="2050203"/>
              <a:ext cx="1142857" cy="3163824"/>
            </a:xfrm>
            <a:prstGeom prst="rect">
              <a:avLst/>
            </a:prstGeom>
            <a:solidFill>
              <a:schemeClr val="bg1">
                <a:lumMod val="85000"/>
                <a:alpha val="5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pic>
          <p:nvPicPr>
            <p:cNvPr id="86" name="Picture 6" descr="AWS Marketplace: AI Expert: Optimize Asset Operations">
              <a:extLst>
                <a:ext uri="{FF2B5EF4-FFF2-40B4-BE49-F238E27FC236}">
                  <a16:creationId xmlns:a16="http://schemas.microsoft.com/office/drawing/2014/main" id="{053FE332-8E46-DCF2-886D-3FDEE4BBA666}"/>
                </a:ext>
              </a:extLst>
            </p:cNvPr>
            <p:cNvPicPr>
              <a:picLocks noChangeAspect="1" noChangeArrowheads="1"/>
            </p:cNvPicPr>
            <p:nvPr/>
          </p:nvPicPr>
          <p:blipFill>
            <a:blip r:embed="rId23" cstate="print">
              <a:extLst>
                <a:ext uri="{28A0092B-C50C-407E-A947-70E740481C1C}">
                  <a14:useLocalDpi xmlns:a14="http://schemas.microsoft.com/office/drawing/2010/main" val="0"/>
                </a:ext>
              </a:extLst>
            </a:blip>
            <a:srcRect/>
            <a:stretch>
              <a:fillRect/>
            </a:stretch>
          </p:blipFill>
          <p:spPr bwMode="auto">
            <a:xfrm>
              <a:off x="5956823" y="3489422"/>
              <a:ext cx="495208" cy="354158"/>
            </a:xfrm>
            <a:prstGeom prst="rect">
              <a:avLst/>
            </a:prstGeom>
            <a:noFill/>
            <a:extLst>
              <a:ext uri="{909E8E84-426E-40DD-AFC4-6F175D3DCCD1}">
                <a14:hiddenFill xmlns:a14="http://schemas.microsoft.com/office/drawing/2010/main">
                  <a:solidFill>
                    <a:srgbClr val="FFFFFF"/>
                  </a:solidFill>
                </a14:hiddenFill>
              </a:ext>
            </a:extLst>
          </p:spPr>
        </p:pic>
        <p:pic>
          <p:nvPicPr>
            <p:cNvPr id="87" name="Picture 86" descr="A black and white logo&#10;&#10;AI-generated content may be incorrect.">
              <a:extLst>
                <a:ext uri="{FF2B5EF4-FFF2-40B4-BE49-F238E27FC236}">
                  <a16:creationId xmlns:a16="http://schemas.microsoft.com/office/drawing/2014/main" id="{19664BC4-D068-D4A9-4B46-AAA191CD2C6E}"/>
                </a:ext>
              </a:extLst>
            </p:cNvPr>
            <p:cNvPicPr>
              <a:picLocks noChangeAspect="1"/>
            </p:cNvPicPr>
            <p:nvPr/>
          </p:nvPicPr>
          <p:blipFill>
            <a:blip r:embed="rId24" cstate="print">
              <a:extLst>
                <a:ext uri="{28A0092B-C50C-407E-A947-70E740481C1C}">
                  <a14:useLocalDpi xmlns:a14="http://schemas.microsoft.com/office/drawing/2010/main" val="0"/>
                </a:ext>
              </a:extLst>
            </a:blip>
            <a:stretch>
              <a:fillRect/>
            </a:stretch>
          </p:blipFill>
          <p:spPr>
            <a:xfrm>
              <a:off x="5793505" y="2786863"/>
              <a:ext cx="802707" cy="214559"/>
            </a:xfrm>
            <a:prstGeom prst="rect">
              <a:avLst/>
            </a:prstGeom>
          </p:spPr>
        </p:pic>
        <p:pic>
          <p:nvPicPr>
            <p:cNvPr id="90" name="Picture 4">
              <a:extLst>
                <a:ext uri="{FF2B5EF4-FFF2-40B4-BE49-F238E27FC236}">
                  <a16:creationId xmlns:a16="http://schemas.microsoft.com/office/drawing/2014/main" id="{D75B258C-3E1A-8D2B-9726-96E3373856FA}"/>
                </a:ext>
              </a:extLst>
            </p:cNvPr>
            <p:cNvPicPr>
              <a:picLocks noChangeAspect="1" noChangeArrowheads="1"/>
            </p:cNvPicPr>
            <p:nvPr/>
          </p:nvPicPr>
          <p:blipFill>
            <a:blip r:embed="rId25" cstate="print">
              <a:extLst>
                <a:ext uri="{28A0092B-C50C-407E-A947-70E740481C1C}">
                  <a14:useLocalDpi xmlns:a14="http://schemas.microsoft.com/office/drawing/2010/main" val="0"/>
                </a:ext>
              </a:extLst>
            </a:blip>
            <a:srcRect/>
            <a:stretch>
              <a:fillRect/>
            </a:stretch>
          </p:blipFill>
          <p:spPr bwMode="auto">
            <a:xfrm>
              <a:off x="5725125" y="4331580"/>
              <a:ext cx="871087" cy="284564"/>
            </a:xfrm>
            <a:prstGeom prst="rect">
              <a:avLst/>
            </a:prstGeom>
            <a:noFill/>
            <a:extLst>
              <a:ext uri="{909E8E84-426E-40DD-AFC4-6F175D3DCCD1}">
                <a14:hiddenFill xmlns:a14="http://schemas.microsoft.com/office/drawing/2010/main">
                  <a:solidFill>
                    <a:srgbClr val="FFFFFF"/>
                  </a:solidFill>
                </a14:hiddenFill>
              </a:ext>
            </a:extLst>
          </p:spPr>
        </p:pic>
      </p:grpSp>
      <p:sp>
        <p:nvSpPr>
          <p:cNvPr id="10" name="Title 3">
            <a:extLst>
              <a:ext uri="{FF2B5EF4-FFF2-40B4-BE49-F238E27FC236}">
                <a16:creationId xmlns:a16="http://schemas.microsoft.com/office/drawing/2014/main" id="{6F9AB929-7121-BB96-25DD-38135E48A530}"/>
              </a:ext>
            </a:extLst>
          </p:cNvPr>
          <p:cNvSpPr>
            <a:spLocks noGrp="1"/>
          </p:cNvSpPr>
          <p:nvPr>
            <p:ph type="title"/>
          </p:nvPr>
        </p:nvSpPr>
        <p:spPr>
          <a:xfrm>
            <a:off x="630339" y="577123"/>
            <a:ext cx="7883321" cy="507062"/>
          </a:xfrm>
        </p:spPr>
        <p:txBody>
          <a:bodyPr vert="horz">
            <a:noAutofit/>
          </a:bodyPr>
          <a:lstStyle/>
          <a:p>
            <a:br>
              <a:rPr lang="en-IN" sz="3200" cap="none"/>
            </a:br>
            <a:br>
              <a:rPr lang="en-IN" sz="3200" cap="none"/>
            </a:br>
            <a:r>
              <a:rPr lang="en-IN" sz="3200" cap="none"/>
              <a:t>Investments across Sectors and Stages</a:t>
            </a:r>
            <a:endParaRPr lang="en-IN" sz="2400" cap="none"/>
          </a:p>
        </p:txBody>
      </p:sp>
      <p:sp>
        <p:nvSpPr>
          <p:cNvPr id="8" name="TextBox 7">
            <a:extLst>
              <a:ext uri="{FF2B5EF4-FFF2-40B4-BE49-F238E27FC236}">
                <a16:creationId xmlns:a16="http://schemas.microsoft.com/office/drawing/2014/main" id="{632AED44-6ED6-34F2-E016-60283263E441}"/>
              </a:ext>
            </a:extLst>
          </p:cNvPr>
          <p:cNvSpPr txBox="1"/>
          <p:nvPr/>
        </p:nvSpPr>
        <p:spPr>
          <a:xfrm>
            <a:off x="5711046" y="5319909"/>
            <a:ext cx="958605" cy="338554"/>
          </a:xfrm>
          <a:prstGeom prst="rect">
            <a:avLst/>
          </a:prstGeom>
          <a:noFill/>
        </p:spPr>
        <p:txBody>
          <a:bodyPr wrap="square" rtlCol="0" anchor="t">
            <a:spAutoFit/>
          </a:bodyPr>
          <a:lstStyle/>
          <a:p>
            <a:pPr algn="ctr"/>
            <a:r>
              <a:rPr lang="en-US" sz="1600">
                <a:solidFill>
                  <a:srgbClr val="515151"/>
                </a:solidFill>
                <a:ea typeface="Roboto Medium" panose="02000000000000000000" pitchFamily="2" charset="0"/>
              </a:rPr>
              <a:t>2024</a:t>
            </a:r>
          </a:p>
        </p:txBody>
      </p:sp>
      <p:grpSp>
        <p:nvGrpSpPr>
          <p:cNvPr id="22" name="Group 21">
            <a:extLst>
              <a:ext uri="{FF2B5EF4-FFF2-40B4-BE49-F238E27FC236}">
                <a16:creationId xmlns:a16="http://schemas.microsoft.com/office/drawing/2014/main" id="{429D798F-06EA-4768-4405-A77E97030F28}"/>
              </a:ext>
            </a:extLst>
          </p:cNvPr>
          <p:cNvGrpSpPr/>
          <p:nvPr/>
        </p:nvGrpSpPr>
        <p:grpSpPr>
          <a:xfrm>
            <a:off x="6821932" y="1175119"/>
            <a:ext cx="1142857" cy="4046973"/>
            <a:chOff x="6821932" y="1175119"/>
            <a:chExt cx="1142857" cy="4046973"/>
          </a:xfrm>
        </p:grpSpPr>
        <p:sp>
          <p:nvSpPr>
            <p:cNvPr id="70" name="Rectangle 69">
              <a:extLst>
                <a:ext uri="{FF2B5EF4-FFF2-40B4-BE49-F238E27FC236}">
                  <a16:creationId xmlns:a16="http://schemas.microsoft.com/office/drawing/2014/main" id="{521939E9-6BE9-A238-8C31-899C52416739}"/>
                </a:ext>
              </a:extLst>
            </p:cNvPr>
            <p:cNvSpPr/>
            <p:nvPr/>
          </p:nvSpPr>
          <p:spPr>
            <a:xfrm>
              <a:off x="6821932" y="1527916"/>
              <a:ext cx="1142857" cy="3694176"/>
            </a:xfrm>
            <a:prstGeom prst="rect">
              <a:avLst/>
            </a:prstGeom>
            <a:noFill/>
            <a:ln w="19050">
              <a:solidFill>
                <a:schemeClr val="accent2"/>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TextBox 72">
              <a:extLst>
                <a:ext uri="{FF2B5EF4-FFF2-40B4-BE49-F238E27FC236}">
                  <a16:creationId xmlns:a16="http://schemas.microsoft.com/office/drawing/2014/main" id="{02DCD2B9-48B5-18F5-7213-EADF9ADD254A}"/>
                </a:ext>
              </a:extLst>
            </p:cNvPr>
            <p:cNvSpPr txBox="1"/>
            <p:nvPr/>
          </p:nvSpPr>
          <p:spPr>
            <a:xfrm>
              <a:off x="6821932" y="1175119"/>
              <a:ext cx="828578" cy="338554"/>
            </a:xfrm>
            <a:prstGeom prst="rect">
              <a:avLst/>
            </a:prstGeom>
            <a:noFill/>
          </p:spPr>
          <p:txBody>
            <a:bodyPr wrap="square" rtlCol="0">
              <a:spAutoFit/>
            </a:bodyPr>
            <a:lstStyle/>
            <a:p>
              <a:r>
                <a:rPr lang="en-US" sz="1600">
                  <a:solidFill>
                    <a:srgbClr val="008AC6"/>
                  </a:solidFill>
                </a:rPr>
                <a:t>New</a:t>
              </a:r>
              <a:endParaRPr lang="en-US" sz="1600" baseline="30000">
                <a:solidFill>
                  <a:srgbClr val="008AC6"/>
                </a:solidFill>
              </a:endParaRPr>
            </a:p>
          </p:txBody>
        </p:sp>
        <p:pic>
          <p:nvPicPr>
            <p:cNvPr id="88" name="Picture 2" descr="Tessell | Lightspeed | Venture Capital">
              <a:extLst>
                <a:ext uri="{FF2B5EF4-FFF2-40B4-BE49-F238E27FC236}">
                  <a16:creationId xmlns:a16="http://schemas.microsoft.com/office/drawing/2014/main" id="{C4EE17DB-EF06-B7A7-9F37-05FFAA018859}"/>
                </a:ext>
              </a:extLst>
            </p:cNvPr>
            <p:cNvPicPr>
              <a:picLocks noChangeAspect="1" noChangeArrowheads="1"/>
            </p:cNvPicPr>
            <p:nvPr/>
          </p:nvPicPr>
          <p:blipFill>
            <a:blip r:embed="rId26" cstate="print">
              <a:extLst>
                <a:ext uri="{28A0092B-C50C-407E-A947-70E740481C1C}">
                  <a14:useLocalDpi xmlns:a14="http://schemas.microsoft.com/office/drawing/2010/main" val="0"/>
                </a:ext>
              </a:extLst>
            </a:blip>
            <a:srcRect/>
            <a:stretch>
              <a:fillRect/>
            </a:stretch>
          </p:blipFill>
          <p:spPr bwMode="auto">
            <a:xfrm>
              <a:off x="6930792" y="3059806"/>
              <a:ext cx="918831" cy="313021"/>
            </a:xfrm>
            <a:prstGeom prst="rect">
              <a:avLst/>
            </a:prstGeom>
            <a:noFill/>
            <a:extLst>
              <a:ext uri="{909E8E84-426E-40DD-AFC4-6F175D3DCCD1}">
                <a14:hiddenFill xmlns:a14="http://schemas.microsoft.com/office/drawing/2010/main">
                  <a:solidFill>
                    <a:srgbClr val="FFFFFF"/>
                  </a:solidFill>
                </a14:hiddenFill>
              </a:ext>
            </a:extLst>
          </p:spPr>
        </p:pic>
        <p:pic>
          <p:nvPicPr>
            <p:cNvPr id="89" name="Picture 8" descr="aiinfrastructure #hyperscalers #cloudai #networking #datacentertech… | AI  Insider">
              <a:extLst>
                <a:ext uri="{FF2B5EF4-FFF2-40B4-BE49-F238E27FC236}">
                  <a16:creationId xmlns:a16="http://schemas.microsoft.com/office/drawing/2014/main" id="{7E30A02E-ED0D-A314-5BAB-098599017E1F}"/>
                </a:ext>
              </a:extLst>
            </p:cNvPr>
            <p:cNvPicPr>
              <a:picLocks noChangeAspect="1" noChangeArrowheads="1"/>
            </p:cNvPicPr>
            <p:nvPr/>
          </p:nvPicPr>
          <p:blipFill rotWithShape="1">
            <a:blip r:embed="rId27" cstate="print">
              <a:clrChange>
                <a:clrFrom>
                  <a:srgbClr val="FDFEFF"/>
                </a:clrFrom>
                <a:clrTo>
                  <a:srgbClr val="FDFEFF">
                    <a:alpha val="0"/>
                  </a:srgbClr>
                </a:clrTo>
              </a:clrChange>
              <a:extLst>
                <a:ext uri="{28A0092B-C50C-407E-A947-70E740481C1C}">
                  <a14:useLocalDpi xmlns:a14="http://schemas.microsoft.com/office/drawing/2010/main" val="0"/>
                </a:ext>
              </a:extLst>
            </a:blip>
            <a:srcRect t="18019" b="12884"/>
            <a:stretch/>
          </p:blipFill>
          <p:spPr bwMode="auto">
            <a:xfrm>
              <a:off x="6886080" y="2178976"/>
              <a:ext cx="1033653" cy="221030"/>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UnifyApps Raises $20M Series A to Deliver AI Agents Across the Enterprise">
              <a:extLst>
                <a:ext uri="{FF2B5EF4-FFF2-40B4-BE49-F238E27FC236}">
                  <a16:creationId xmlns:a16="http://schemas.microsoft.com/office/drawing/2014/main" id="{45EA633E-7BF9-FB30-51ED-B95AE722ABEF}"/>
                </a:ext>
              </a:extLst>
            </p:cNvPr>
            <p:cNvPicPr>
              <a:picLocks noChangeAspect="1" noChangeArrowheads="1"/>
            </p:cNvPicPr>
            <p:nvPr/>
          </p:nvPicPr>
          <p:blipFill>
            <a:blip r:embed="rId28"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840366" y="4032627"/>
              <a:ext cx="1077432" cy="538716"/>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4197989936"/>
      </p:ext>
    </p:extLst>
  </p:cSld>
  <p:clrMapOvr>
    <a:masterClrMapping/>
  </p:clrMapOvr>
  <p:transition>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Object 11" hidden="1">
            <a:extLst>
              <a:ext uri="{FF2B5EF4-FFF2-40B4-BE49-F238E27FC236}">
                <a16:creationId xmlns:a16="http://schemas.microsoft.com/office/drawing/2014/main" id="{B68A42C6-2564-4228-9DEF-001CE0F1095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6" progId="TCLayout.ActiveDocument.1">
                  <p:embed/>
                </p:oleObj>
              </mc:Choice>
              <mc:Fallback>
                <p:oleObj name="think-cell Slide" r:id="rId5" imgW="395" imgH="396" progId="TCLayout.ActiveDocument.1">
                  <p:embed/>
                  <p:pic>
                    <p:nvPicPr>
                      <p:cNvPr id="12" name="Object 11" hidden="1">
                        <a:extLst>
                          <a:ext uri="{FF2B5EF4-FFF2-40B4-BE49-F238E27FC236}">
                            <a16:creationId xmlns:a16="http://schemas.microsoft.com/office/drawing/2014/main" id="{B68A42C6-2564-4228-9DEF-001CE0F10951}"/>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8" name="Rectangle 7" hidden="1">
            <a:extLst>
              <a:ext uri="{FF2B5EF4-FFF2-40B4-BE49-F238E27FC236}">
                <a16:creationId xmlns:a16="http://schemas.microsoft.com/office/drawing/2014/main" id="{77EE60C7-C88D-4A83-AED5-64D9A234F8A4}"/>
              </a:ext>
            </a:extLst>
          </p:cNvPr>
          <p:cNvSpPr/>
          <p:nvPr>
            <p:custDataLst>
              <p:tags r:id="rId2"/>
            </p:custDataLst>
          </p:nvPr>
        </p:nvSpPr>
        <p:spPr>
          <a:xfrm>
            <a:off x="0" y="0"/>
            <a:ext cx="158750" cy="1587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IN" sz="3200">
              <a:latin typeface="Roboto Condensed" panose="02000000000000000000" pitchFamily="2" charset="0"/>
              <a:ea typeface="Roboto Condensed" panose="02000000000000000000" pitchFamily="2" charset="0"/>
              <a:sym typeface="Roboto Condensed" panose="02000000000000000000" pitchFamily="2" charset="0"/>
            </a:endParaRPr>
          </a:p>
        </p:txBody>
      </p:sp>
      <p:sp>
        <p:nvSpPr>
          <p:cNvPr id="4" name="Title 3"/>
          <p:cNvSpPr>
            <a:spLocks noGrp="1"/>
          </p:cNvSpPr>
          <p:nvPr>
            <p:ph type="title"/>
          </p:nvPr>
        </p:nvSpPr>
        <p:spPr>
          <a:xfrm>
            <a:off x="670585" y="539564"/>
            <a:ext cx="7883321" cy="507062"/>
          </a:xfrm>
        </p:spPr>
        <p:txBody>
          <a:bodyPr vert="horz">
            <a:noAutofit/>
          </a:bodyPr>
          <a:lstStyle/>
          <a:p>
            <a:r>
              <a:rPr lang="en-IN" sz="3200" cap="none"/>
              <a:t>Portfolio Acceleration Services</a:t>
            </a:r>
            <a:endParaRPr lang="en-IN" sz="2400" cap="none"/>
          </a:p>
        </p:txBody>
      </p:sp>
      <p:grpSp>
        <p:nvGrpSpPr>
          <p:cNvPr id="19" name="Group 18">
            <a:extLst>
              <a:ext uri="{FF2B5EF4-FFF2-40B4-BE49-F238E27FC236}">
                <a16:creationId xmlns:a16="http://schemas.microsoft.com/office/drawing/2014/main" id="{480AA431-A914-4BC0-85C6-5BB9BD90B372}"/>
              </a:ext>
            </a:extLst>
          </p:cNvPr>
          <p:cNvGrpSpPr/>
          <p:nvPr/>
        </p:nvGrpSpPr>
        <p:grpSpPr>
          <a:xfrm>
            <a:off x="329711" y="1654712"/>
            <a:ext cx="2990467" cy="1801970"/>
            <a:chOff x="674281" y="2786750"/>
            <a:chExt cx="2990467" cy="1801970"/>
          </a:xfrm>
        </p:grpSpPr>
        <p:sp>
          <p:nvSpPr>
            <p:cNvPr id="20" name="TextBox 19">
              <a:extLst>
                <a:ext uri="{FF2B5EF4-FFF2-40B4-BE49-F238E27FC236}">
                  <a16:creationId xmlns:a16="http://schemas.microsoft.com/office/drawing/2014/main" id="{051E0F90-7DC3-49FD-B1EA-365C5FD51521}"/>
                </a:ext>
              </a:extLst>
            </p:cNvPr>
            <p:cNvSpPr txBox="1"/>
            <p:nvPr/>
          </p:nvSpPr>
          <p:spPr>
            <a:xfrm>
              <a:off x="674281" y="4003945"/>
              <a:ext cx="2990467" cy="584775"/>
            </a:xfrm>
            <a:prstGeom prst="rect">
              <a:avLst/>
            </a:prstGeom>
            <a:noFill/>
            <a:ln>
              <a:noFill/>
            </a:ln>
          </p:spPr>
          <p:txBody>
            <a:bodyPr wrap="square" rtlCol="0" anchor="ctr">
              <a:spAutoFit/>
            </a:bodyPr>
            <a:lstStyle/>
            <a:p>
              <a:pPr algn="ctr"/>
              <a:r>
                <a:rPr lang="en-US" sz="1600" b="1">
                  <a:solidFill>
                    <a:srgbClr val="47A2CB"/>
                  </a:solidFill>
                  <a:ea typeface="Roboto Condensed" pitchFamily="2" charset="0"/>
                  <a:cs typeface="Helvetica" panose="020B0604020202020204" pitchFamily="34" charset="0"/>
                </a:rPr>
                <a:t>Talent Recruitment</a:t>
              </a:r>
            </a:p>
            <a:p>
              <a:pPr algn="ctr"/>
              <a:endParaRPr lang="en-US" sz="1600">
                <a:solidFill>
                  <a:srgbClr val="47A2CB"/>
                </a:solidFill>
                <a:ea typeface="Roboto Condensed" pitchFamily="2" charset="0"/>
                <a:cs typeface="Helvetica" panose="020B0604020202020204" pitchFamily="34" charset="0"/>
              </a:endParaRPr>
            </a:p>
          </p:txBody>
        </p:sp>
        <p:sp>
          <p:nvSpPr>
            <p:cNvPr id="21" name="Oval 20">
              <a:extLst>
                <a:ext uri="{FF2B5EF4-FFF2-40B4-BE49-F238E27FC236}">
                  <a16:creationId xmlns:a16="http://schemas.microsoft.com/office/drawing/2014/main" id="{DFD6AF21-A5A0-4FF6-B759-1FB946E0B377}"/>
                </a:ext>
              </a:extLst>
            </p:cNvPr>
            <p:cNvSpPr/>
            <p:nvPr/>
          </p:nvSpPr>
          <p:spPr>
            <a:xfrm>
              <a:off x="1609046" y="2786750"/>
              <a:ext cx="1063638" cy="1063638"/>
            </a:xfrm>
            <a:prstGeom prst="ellipse">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solidFill>
                  <a:srgbClr val="515151"/>
                </a:solidFill>
              </a:endParaRPr>
            </a:p>
          </p:txBody>
        </p:sp>
        <p:pic>
          <p:nvPicPr>
            <p:cNvPr id="22" name="Picture 21">
              <a:extLst>
                <a:ext uri="{FF2B5EF4-FFF2-40B4-BE49-F238E27FC236}">
                  <a16:creationId xmlns:a16="http://schemas.microsoft.com/office/drawing/2014/main" id="{9AA6E5BC-A901-46DD-B09E-F79BADA9CBD0}"/>
                </a:ext>
              </a:extLst>
            </p:cNvPr>
            <p:cNvPicPr>
              <a:picLocks noChangeAspect="1"/>
            </p:cNvPicPr>
            <p:nvPr/>
          </p:nvPicPr>
          <p:blipFill>
            <a:blip r:embed="rId7" cstate="print">
              <a:clrChange>
                <a:clrFrom>
                  <a:srgbClr val="000000">
                    <a:alpha val="0"/>
                  </a:srgbClr>
                </a:clrFrom>
                <a:clrTo>
                  <a:srgbClr val="000000">
                    <a:alpha val="0"/>
                  </a:srgbClr>
                </a:clrTo>
              </a:clrChange>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1819948" y="2946320"/>
              <a:ext cx="677136" cy="677136"/>
            </a:xfrm>
            <a:prstGeom prst="rect">
              <a:avLst/>
            </a:prstGeom>
            <a:noFill/>
          </p:spPr>
        </p:pic>
      </p:grpSp>
      <p:grpSp>
        <p:nvGrpSpPr>
          <p:cNvPr id="38" name="Group 37">
            <a:extLst>
              <a:ext uri="{FF2B5EF4-FFF2-40B4-BE49-F238E27FC236}">
                <a16:creationId xmlns:a16="http://schemas.microsoft.com/office/drawing/2014/main" id="{51F55023-C574-4F84-9BD7-FB6F8D6BC28E}"/>
              </a:ext>
            </a:extLst>
          </p:cNvPr>
          <p:cNvGrpSpPr/>
          <p:nvPr/>
        </p:nvGrpSpPr>
        <p:grpSpPr>
          <a:xfrm>
            <a:off x="3066737" y="1654712"/>
            <a:ext cx="3070578" cy="1801970"/>
            <a:chOff x="5734421" y="2786750"/>
            <a:chExt cx="3070578" cy="1801970"/>
          </a:xfrm>
        </p:grpSpPr>
        <p:sp>
          <p:nvSpPr>
            <p:cNvPr id="39" name="TextBox 38">
              <a:extLst>
                <a:ext uri="{FF2B5EF4-FFF2-40B4-BE49-F238E27FC236}">
                  <a16:creationId xmlns:a16="http://schemas.microsoft.com/office/drawing/2014/main" id="{8AD3537E-6C67-4FE1-A0C0-8981C47B46CE}"/>
                </a:ext>
              </a:extLst>
            </p:cNvPr>
            <p:cNvSpPr txBox="1"/>
            <p:nvPr/>
          </p:nvSpPr>
          <p:spPr>
            <a:xfrm>
              <a:off x="5734421" y="4003945"/>
              <a:ext cx="3070578" cy="584775"/>
            </a:xfrm>
            <a:prstGeom prst="rect">
              <a:avLst/>
            </a:prstGeom>
            <a:noFill/>
            <a:ln>
              <a:noFill/>
            </a:ln>
          </p:spPr>
          <p:txBody>
            <a:bodyPr wrap="square" rtlCol="0" anchor="ctr">
              <a:spAutoFit/>
            </a:bodyPr>
            <a:lstStyle/>
            <a:p>
              <a:pPr algn="ctr"/>
              <a:r>
                <a:rPr lang="en-US" sz="1600" b="1">
                  <a:solidFill>
                    <a:srgbClr val="47A2CB"/>
                  </a:solidFill>
                  <a:ea typeface="Roboto Condensed" pitchFamily="2" charset="0"/>
                  <a:cs typeface="Helvetica" panose="020B0604020202020204" pitchFamily="34" charset="0"/>
                </a:rPr>
                <a:t>Scaling GTM</a:t>
              </a:r>
            </a:p>
            <a:p>
              <a:pPr algn="ctr"/>
              <a:endParaRPr lang="en-US" sz="1600">
                <a:solidFill>
                  <a:srgbClr val="47A2CB"/>
                </a:solidFill>
                <a:ea typeface="Roboto Condensed" pitchFamily="2" charset="0"/>
                <a:cs typeface="Helvetica" panose="020B0604020202020204" pitchFamily="34" charset="0"/>
              </a:endParaRPr>
            </a:p>
          </p:txBody>
        </p:sp>
        <p:sp>
          <p:nvSpPr>
            <p:cNvPr id="40" name="Oval 39">
              <a:extLst>
                <a:ext uri="{FF2B5EF4-FFF2-40B4-BE49-F238E27FC236}">
                  <a16:creationId xmlns:a16="http://schemas.microsoft.com/office/drawing/2014/main" id="{E5675E81-BC6F-41F4-ABD6-A6FF7BFDD772}"/>
                </a:ext>
              </a:extLst>
            </p:cNvPr>
            <p:cNvSpPr/>
            <p:nvPr/>
          </p:nvSpPr>
          <p:spPr>
            <a:xfrm>
              <a:off x="6733898" y="2786750"/>
              <a:ext cx="1063638" cy="1063638"/>
            </a:xfrm>
            <a:prstGeom prst="ellipse">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solidFill>
                  <a:srgbClr val="515151"/>
                </a:solidFill>
              </a:endParaRPr>
            </a:p>
          </p:txBody>
        </p:sp>
        <p:pic>
          <p:nvPicPr>
            <p:cNvPr id="41" name="Picture 21" descr="Image result for handshake icon">
              <a:extLst>
                <a:ext uri="{FF2B5EF4-FFF2-40B4-BE49-F238E27FC236}">
                  <a16:creationId xmlns:a16="http://schemas.microsoft.com/office/drawing/2014/main" id="{78408C87-9633-4CD9-839F-68B2131937CC}"/>
                </a:ext>
              </a:extLst>
            </p:cNvPr>
            <p:cNvPicPr>
              <a:picLocks noChangeAspect="1" noChangeArrowheads="1"/>
            </p:cNvPicPr>
            <p:nvPr/>
          </p:nvPicPr>
          <p:blipFill>
            <a:blip r:embed="rId8" cstate="print">
              <a:clrChange>
                <a:clrFrom>
                  <a:srgbClr val="000000">
                    <a:alpha val="0"/>
                  </a:srgbClr>
                </a:clrFrom>
                <a:clrTo>
                  <a:srgbClr val="000000">
                    <a:alpha val="0"/>
                  </a:srgbClr>
                </a:clrTo>
              </a:clrChange>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878964" y="3154513"/>
              <a:ext cx="798872" cy="507062"/>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5" name="Group 24">
            <a:extLst>
              <a:ext uri="{FF2B5EF4-FFF2-40B4-BE49-F238E27FC236}">
                <a16:creationId xmlns:a16="http://schemas.microsoft.com/office/drawing/2014/main" id="{6BCF8D7E-92F6-455C-92A2-B2B3E5CDE5F6}"/>
              </a:ext>
            </a:extLst>
          </p:cNvPr>
          <p:cNvGrpSpPr/>
          <p:nvPr/>
        </p:nvGrpSpPr>
        <p:grpSpPr>
          <a:xfrm>
            <a:off x="5883874" y="1654712"/>
            <a:ext cx="2990467" cy="1801970"/>
            <a:chOff x="3068414" y="2786750"/>
            <a:chExt cx="2990467" cy="1801970"/>
          </a:xfrm>
        </p:grpSpPr>
        <p:sp>
          <p:nvSpPr>
            <p:cNvPr id="26" name="TextBox 25">
              <a:extLst>
                <a:ext uri="{FF2B5EF4-FFF2-40B4-BE49-F238E27FC236}">
                  <a16:creationId xmlns:a16="http://schemas.microsoft.com/office/drawing/2014/main" id="{8DEABB55-A9C4-47B7-8C31-8DC89B54B43A}"/>
                </a:ext>
              </a:extLst>
            </p:cNvPr>
            <p:cNvSpPr txBox="1"/>
            <p:nvPr/>
          </p:nvSpPr>
          <p:spPr>
            <a:xfrm>
              <a:off x="3068414" y="4003945"/>
              <a:ext cx="2990467" cy="584775"/>
            </a:xfrm>
            <a:prstGeom prst="rect">
              <a:avLst/>
            </a:prstGeom>
            <a:noFill/>
            <a:ln>
              <a:noFill/>
            </a:ln>
          </p:spPr>
          <p:txBody>
            <a:bodyPr wrap="square" rtlCol="0" anchor="ctr">
              <a:spAutoFit/>
            </a:bodyPr>
            <a:lstStyle/>
            <a:p>
              <a:pPr algn="ctr"/>
              <a:r>
                <a:rPr lang="en-US" sz="1600" b="1">
                  <a:solidFill>
                    <a:srgbClr val="47A2CB"/>
                  </a:solidFill>
                  <a:ea typeface="Roboto Condensed" pitchFamily="2" charset="0"/>
                  <a:cs typeface="Helvetica" panose="020B0604020202020204" pitchFamily="34" charset="0"/>
                </a:rPr>
                <a:t>Advisory Board</a:t>
              </a:r>
            </a:p>
            <a:p>
              <a:pPr algn="ctr"/>
              <a:endParaRPr lang="en-US" sz="1600">
                <a:solidFill>
                  <a:srgbClr val="47A2CB"/>
                </a:solidFill>
                <a:ea typeface="Roboto Condensed" pitchFamily="2" charset="0"/>
                <a:cs typeface="Helvetica" panose="020B0604020202020204" pitchFamily="34" charset="0"/>
              </a:endParaRPr>
            </a:p>
          </p:txBody>
        </p:sp>
        <p:sp>
          <p:nvSpPr>
            <p:cNvPr id="27" name="Oval 26">
              <a:extLst>
                <a:ext uri="{FF2B5EF4-FFF2-40B4-BE49-F238E27FC236}">
                  <a16:creationId xmlns:a16="http://schemas.microsoft.com/office/drawing/2014/main" id="{69D26A8F-42D2-4B7D-B238-4036FF4DC14A}"/>
                </a:ext>
              </a:extLst>
            </p:cNvPr>
            <p:cNvSpPr/>
            <p:nvPr/>
          </p:nvSpPr>
          <p:spPr>
            <a:xfrm>
              <a:off x="4003179" y="2786750"/>
              <a:ext cx="1063638" cy="1063638"/>
            </a:xfrm>
            <a:prstGeom prst="ellipse">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solidFill>
                  <a:srgbClr val="515151"/>
                </a:solidFill>
              </a:endParaRPr>
            </a:p>
          </p:txBody>
        </p:sp>
        <p:pic>
          <p:nvPicPr>
            <p:cNvPr id="28" name="Picture 27">
              <a:extLst>
                <a:ext uri="{FF2B5EF4-FFF2-40B4-BE49-F238E27FC236}">
                  <a16:creationId xmlns:a16="http://schemas.microsoft.com/office/drawing/2014/main" id="{D85807D5-14AC-4C4F-9A15-5DB65FA4CE19}"/>
                </a:ext>
              </a:extLst>
            </p:cNvPr>
            <p:cNvPicPr>
              <a:picLocks noChangeAspect="1"/>
            </p:cNvPicPr>
            <p:nvPr/>
          </p:nvPicPr>
          <p:blipFill>
            <a:blip r:embed="rId9" cstate="print">
              <a:duotone>
                <a:schemeClr val="accent6">
                  <a:shade val="45000"/>
                  <a:satMod val="135000"/>
                </a:schemeClr>
                <a:prstClr val="white"/>
              </a:duotone>
              <a:clrChange>
                <a:clrFrom>
                  <a:srgbClr val="000000">
                    <a:alpha val="0"/>
                  </a:srgbClr>
                </a:clrFrom>
                <a:clrTo>
                  <a:srgbClr val="000000">
                    <a:alpha val="0"/>
                  </a:srgbClr>
                </a:clrTo>
              </a:clrChange>
              <a:extLst>
                <a:ext uri="{28A0092B-C50C-407E-A947-70E740481C1C}">
                  <a14:useLocalDpi xmlns:a14="http://schemas.microsoft.com/office/drawing/2010/main" val="0"/>
                </a:ext>
              </a:extLst>
            </a:blip>
            <a:stretch>
              <a:fillRect/>
            </a:stretch>
          </p:blipFill>
          <p:spPr>
            <a:xfrm>
              <a:off x="4220004" y="3050830"/>
              <a:ext cx="600837" cy="600837"/>
            </a:xfrm>
            <a:prstGeom prst="rect">
              <a:avLst/>
            </a:prstGeom>
            <a:noFill/>
          </p:spPr>
        </p:pic>
      </p:grpSp>
      <p:sp>
        <p:nvSpPr>
          <p:cNvPr id="3" name="Rectangle 2">
            <a:extLst>
              <a:ext uri="{FF2B5EF4-FFF2-40B4-BE49-F238E27FC236}">
                <a16:creationId xmlns:a16="http://schemas.microsoft.com/office/drawing/2014/main" id="{416A2674-3DB0-5D53-11F1-979EA1F1DCC0}"/>
              </a:ext>
            </a:extLst>
          </p:cNvPr>
          <p:cNvSpPr/>
          <p:nvPr/>
        </p:nvSpPr>
        <p:spPr>
          <a:xfrm>
            <a:off x="916725" y="5585059"/>
            <a:ext cx="7484534" cy="330199"/>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t>Silicon Valley and Bangalore</a:t>
            </a:r>
          </a:p>
        </p:txBody>
      </p:sp>
      <p:sp>
        <p:nvSpPr>
          <p:cNvPr id="9" name="Oval 8">
            <a:extLst>
              <a:ext uri="{FF2B5EF4-FFF2-40B4-BE49-F238E27FC236}">
                <a16:creationId xmlns:a16="http://schemas.microsoft.com/office/drawing/2014/main" id="{7583785B-10E3-2BD2-F382-95E0BCEFF9B5}"/>
              </a:ext>
            </a:extLst>
          </p:cNvPr>
          <p:cNvSpPr/>
          <p:nvPr/>
        </p:nvSpPr>
        <p:spPr>
          <a:xfrm>
            <a:off x="1605597" y="1176793"/>
            <a:ext cx="381395" cy="37538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1</a:t>
            </a:r>
          </a:p>
        </p:txBody>
      </p:sp>
      <p:sp>
        <p:nvSpPr>
          <p:cNvPr id="10" name="Oval 9">
            <a:extLst>
              <a:ext uri="{FF2B5EF4-FFF2-40B4-BE49-F238E27FC236}">
                <a16:creationId xmlns:a16="http://schemas.microsoft.com/office/drawing/2014/main" id="{74AF13E5-9257-CAA4-CDE0-8909D325377A}"/>
              </a:ext>
            </a:extLst>
          </p:cNvPr>
          <p:cNvSpPr/>
          <p:nvPr/>
        </p:nvSpPr>
        <p:spPr>
          <a:xfrm>
            <a:off x="4407335" y="1176791"/>
            <a:ext cx="381395" cy="37538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2</a:t>
            </a:r>
          </a:p>
        </p:txBody>
      </p:sp>
      <p:sp>
        <p:nvSpPr>
          <p:cNvPr id="11" name="Oval 10">
            <a:extLst>
              <a:ext uri="{FF2B5EF4-FFF2-40B4-BE49-F238E27FC236}">
                <a16:creationId xmlns:a16="http://schemas.microsoft.com/office/drawing/2014/main" id="{602E79DB-6577-4A05-0DAC-EE41F8F3C48E}"/>
              </a:ext>
            </a:extLst>
          </p:cNvPr>
          <p:cNvSpPr/>
          <p:nvPr/>
        </p:nvSpPr>
        <p:spPr>
          <a:xfrm>
            <a:off x="7188409" y="1176792"/>
            <a:ext cx="381395" cy="37538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3</a:t>
            </a:r>
          </a:p>
        </p:txBody>
      </p:sp>
      <p:sp>
        <p:nvSpPr>
          <p:cNvPr id="5" name="TextBox 4">
            <a:extLst>
              <a:ext uri="{FF2B5EF4-FFF2-40B4-BE49-F238E27FC236}">
                <a16:creationId xmlns:a16="http://schemas.microsoft.com/office/drawing/2014/main" id="{449B9C4B-1127-DE3C-B6B4-A483C689242F}"/>
              </a:ext>
            </a:extLst>
          </p:cNvPr>
          <p:cNvSpPr txBox="1"/>
          <p:nvPr/>
        </p:nvSpPr>
        <p:spPr>
          <a:xfrm>
            <a:off x="1011152" y="3290200"/>
            <a:ext cx="1710938" cy="1220847"/>
          </a:xfrm>
          <a:prstGeom prst="rect">
            <a:avLst/>
          </a:prstGeom>
          <a:noFill/>
        </p:spPr>
        <p:txBody>
          <a:bodyPr wrap="square" rtlCol="0">
            <a:spAutoFit/>
          </a:bodyPr>
          <a:lstStyle/>
          <a:p>
            <a:pPr>
              <a:spcBef>
                <a:spcPts val="400"/>
              </a:spcBef>
              <a:spcAft>
                <a:spcPts val="400"/>
              </a:spcAft>
            </a:pPr>
            <a:r>
              <a:rPr lang="en-US" sz="1200">
                <a:solidFill>
                  <a:schemeClr val="accent5"/>
                </a:solidFill>
                <a:ea typeface="Roboto Medium" panose="02000000000000000000" pitchFamily="2" charset="0"/>
              </a:rPr>
              <a:t>Spearheaded by:</a:t>
            </a:r>
          </a:p>
          <a:p>
            <a:pPr marL="171450" indent="-171450">
              <a:spcBef>
                <a:spcPts val="400"/>
              </a:spcBef>
              <a:spcAft>
                <a:spcPts val="400"/>
              </a:spcAft>
              <a:buFont typeface="Arial" panose="020B0604020202020204" pitchFamily="34" charset="0"/>
              <a:buChar char="•"/>
            </a:pPr>
            <a:r>
              <a:rPr lang="en-US" sz="1200">
                <a:solidFill>
                  <a:schemeClr val="accent5"/>
                </a:solidFill>
                <a:ea typeface="Roboto Medium" panose="02000000000000000000" pitchFamily="2" charset="0"/>
                <a:hlinkClick r:id="rId10"/>
              </a:rPr>
              <a:t>Girish Mirchandani</a:t>
            </a:r>
            <a:r>
              <a:rPr lang="en-US" sz="1200">
                <a:solidFill>
                  <a:schemeClr val="accent5"/>
                </a:solidFill>
                <a:ea typeface="Roboto Medium" panose="02000000000000000000" pitchFamily="2" charset="0"/>
              </a:rPr>
              <a:t>, ex-Pure Storage, HFA</a:t>
            </a:r>
          </a:p>
          <a:p>
            <a:pPr marL="171450" indent="-171450">
              <a:spcBef>
                <a:spcPts val="400"/>
              </a:spcBef>
              <a:spcAft>
                <a:spcPts val="400"/>
              </a:spcAft>
              <a:buFont typeface="Arial" panose="020B0604020202020204" pitchFamily="34" charset="0"/>
              <a:buChar char="•"/>
            </a:pPr>
            <a:r>
              <a:rPr lang="en-US" sz="1200">
                <a:solidFill>
                  <a:schemeClr val="accent5"/>
                </a:solidFill>
                <a:ea typeface="Roboto Medium" panose="02000000000000000000" pitchFamily="2" charset="0"/>
                <a:hlinkClick r:id="rId11"/>
              </a:rPr>
              <a:t>Karan </a:t>
            </a:r>
            <a:r>
              <a:rPr lang="en-US" sz="1200" err="1">
                <a:solidFill>
                  <a:schemeClr val="accent5"/>
                </a:solidFill>
                <a:ea typeface="Roboto Medium" panose="02000000000000000000" pitchFamily="2" charset="0"/>
                <a:hlinkClick r:id="rId11"/>
              </a:rPr>
              <a:t>Gurunathan</a:t>
            </a:r>
            <a:r>
              <a:rPr lang="en-US" sz="1200">
                <a:solidFill>
                  <a:schemeClr val="accent5"/>
                </a:solidFill>
                <a:ea typeface="Roboto Medium" panose="02000000000000000000" pitchFamily="2" charset="0"/>
              </a:rPr>
              <a:t>,   ex-Google, Flipkart</a:t>
            </a:r>
          </a:p>
        </p:txBody>
      </p:sp>
      <p:sp>
        <p:nvSpPr>
          <p:cNvPr id="6" name="TextBox 5">
            <a:extLst>
              <a:ext uri="{FF2B5EF4-FFF2-40B4-BE49-F238E27FC236}">
                <a16:creationId xmlns:a16="http://schemas.microsoft.com/office/drawing/2014/main" id="{9D212B7D-B146-1E2C-4943-43A7FB2E435D}"/>
              </a:ext>
            </a:extLst>
          </p:cNvPr>
          <p:cNvSpPr txBox="1"/>
          <p:nvPr/>
        </p:nvSpPr>
        <p:spPr>
          <a:xfrm>
            <a:off x="3757908" y="3290200"/>
            <a:ext cx="1946657" cy="1856919"/>
          </a:xfrm>
          <a:prstGeom prst="rect">
            <a:avLst/>
          </a:prstGeom>
          <a:noFill/>
        </p:spPr>
        <p:txBody>
          <a:bodyPr wrap="square" rtlCol="0">
            <a:spAutoFit/>
          </a:bodyPr>
          <a:lstStyle/>
          <a:p>
            <a:pPr>
              <a:spcBef>
                <a:spcPts val="400"/>
              </a:spcBef>
              <a:spcAft>
                <a:spcPts val="400"/>
              </a:spcAft>
            </a:pPr>
            <a:r>
              <a:rPr lang="en-US" sz="1200">
                <a:solidFill>
                  <a:schemeClr val="accent5"/>
                </a:solidFill>
                <a:ea typeface="Roboto Medium" panose="02000000000000000000" pitchFamily="2" charset="0"/>
              </a:rPr>
              <a:t>Initiatives include customer intros to enterprises, channel partners across US/India, competitive research, M&amp;A targets, sales playbook, customer feedback, cost benchmarking</a:t>
            </a:r>
          </a:p>
          <a:p>
            <a:pPr>
              <a:spcBef>
                <a:spcPts val="400"/>
              </a:spcBef>
              <a:spcAft>
                <a:spcPts val="400"/>
              </a:spcAft>
            </a:pPr>
            <a:r>
              <a:rPr lang="en-US" sz="1200">
                <a:solidFill>
                  <a:schemeClr val="accent5"/>
                </a:solidFill>
                <a:ea typeface="Roboto Medium" panose="02000000000000000000" pitchFamily="2" charset="0"/>
              </a:rPr>
              <a:t>Spearheaded by </a:t>
            </a:r>
            <a:r>
              <a:rPr lang="en-US" sz="1200">
                <a:solidFill>
                  <a:schemeClr val="accent5"/>
                </a:solidFill>
                <a:ea typeface="Roboto Medium" panose="02000000000000000000" pitchFamily="2" charset="0"/>
                <a:hlinkClick r:id="rId12"/>
              </a:rPr>
              <a:t>Peter Kim</a:t>
            </a:r>
            <a:r>
              <a:rPr lang="en-US" sz="1200">
                <a:solidFill>
                  <a:schemeClr val="accent5"/>
                </a:solidFill>
                <a:ea typeface="Roboto Medium" panose="02000000000000000000" pitchFamily="2" charset="0"/>
              </a:rPr>
              <a:t>, ex-LinkedIn, Relativity</a:t>
            </a:r>
          </a:p>
        </p:txBody>
      </p:sp>
      <p:sp>
        <p:nvSpPr>
          <p:cNvPr id="7" name="TextBox 6">
            <a:extLst>
              <a:ext uri="{FF2B5EF4-FFF2-40B4-BE49-F238E27FC236}">
                <a16:creationId xmlns:a16="http://schemas.microsoft.com/office/drawing/2014/main" id="{736F747E-7476-3227-318B-1B8DDD51A76A}"/>
              </a:ext>
            </a:extLst>
          </p:cNvPr>
          <p:cNvSpPr txBox="1"/>
          <p:nvPr/>
        </p:nvSpPr>
        <p:spPr>
          <a:xfrm>
            <a:off x="6710778" y="3290199"/>
            <a:ext cx="1710938" cy="2164695"/>
          </a:xfrm>
          <a:prstGeom prst="rect">
            <a:avLst/>
          </a:prstGeom>
          <a:noFill/>
        </p:spPr>
        <p:txBody>
          <a:bodyPr wrap="square" rtlCol="0">
            <a:spAutoFit/>
          </a:bodyPr>
          <a:lstStyle/>
          <a:p>
            <a:pPr>
              <a:spcBef>
                <a:spcPts val="400"/>
              </a:spcBef>
              <a:spcAft>
                <a:spcPts val="400"/>
              </a:spcAft>
            </a:pPr>
            <a:r>
              <a:rPr lang="en-US" sz="1200">
                <a:solidFill>
                  <a:schemeClr val="accent5"/>
                </a:solidFill>
                <a:ea typeface="Roboto Medium" panose="02000000000000000000" pitchFamily="2" charset="0"/>
              </a:rPr>
              <a:t>Members like:</a:t>
            </a:r>
          </a:p>
          <a:p>
            <a:pPr marL="171450" indent="-171450">
              <a:spcBef>
                <a:spcPts val="400"/>
              </a:spcBef>
              <a:spcAft>
                <a:spcPts val="400"/>
              </a:spcAft>
              <a:buFont typeface="Arial" panose="020B0604020202020204" pitchFamily="34" charset="0"/>
              <a:buChar char="•"/>
            </a:pPr>
            <a:r>
              <a:rPr lang="en-US" sz="1200">
                <a:solidFill>
                  <a:schemeClr val="accent5"/>
                </a:solidFill>
                <a:ea typeface="Roboto Medium" panose="02000000000000000000" pitchFamily="2" charset="0"/>
                <a:hlinkClick r:id="rId13"/>
              </a:rPr>
              <a:t>Patrick Wendell</a:t>
            </a:r>
            <a:r>
              <a:rPr lang="en-US" sz="1200">
                <a:solidFill>
                  <a:schemeClr val="accent5"/>
                </a:solidFill>
                <a:ea typeface="Roboto Medium" panose="02000000000000000000" pitchFamily="2" charset="0"/>
              </a:rPr>
              <a:t>, co-founder Databricks</a:t>
            </a:r>
          </a:p>
          <a:p>
            <a:pPr marL="171450" indent="-171450">
              <a:spcBef>
                <a:spcPts val="400"/>
              </a:spcBef>
              <a:spcAft>
                <a:spcPts val="400"/>
              </a:spcAft>
              <a:buFont typeface="Arial" panose="020B0604020202020204" pitchFamily="34" charset="0"/>
              <a:buChar char="•"/>
            </a:pPr>
            <a:r>
              <a:rPr lang="en-US" sz="1200">
                <a:solidFill>
                  <a:schemeClr val="accent5"/>
                </a:solidFill>
                <a:ea typeface="Roboto Medium" panose="02000000000000000000" pitchFamily="2" charset="0"/>
                <a:hlinkClick r:id="rId14"/>
              </a:rPr>
              <a:t>Manoj Apte</a:t>
            </a:r>
            <a:r>
              <a:rPr lang="en-US" sz="1200">
                <a:solidFill>
                  <a:schemeClr val="accent5"/>
                </a:solidFill>
                <a:ea typeface="Roboto Medium" panose="02000000000000000000" pitchFamily="2" charset="0"/>
              </a:rPr>
              <a:t>, ex-CSO Zscaler</a:t>
            </a:r>
          </a:p>
          <a:p>
            <a:pPr marL="171450" indent="-171450">
              <a:spcBef>
                <a:spcPts val="400"/>
              </a:spcBef>
              <a:spcAft>
                <a:spcPts val="400"/>
              </a:spcAft>
              <a:buFont typeface="Arial" panose="020B0604020202020204" pitchFamily="34" charset="0"/>
              <a:buChar char="•"/>
            </a:pPr>
            <a:r>
              <a:rPr lang="en-US" sz="1200">
                <a:solidFill>
                  <a:schemeClr val="accent5"/>
                </a:solidFill>
                <a:ea typeface="Roboto Medium" panose="02000000000000000000" pitchFamily="2" charset="0"/>
                <a:hlinkClick r:id="rId15"/>
              </a:rPr>
              <a:t>Bill </a:t>
            </a:r>
            <a:r>
              <a:rPr lang="en-US" sz="1200" err="1">
                <a:solidFill>
                  <a:schemeClr val="accent5"/>
                </a:solidFill>
                <a:ea typeface="Roboto Medium" panose="02000000000000000000" pitchFamily="2" charset="0"/>
                <a:hlinkClick r:id="rId15"/>
              </a:rPr>
              <a:t>Macaitis</a:t>
            </a:r>
            <a:r>
              <a:rPr lang="en-US" sz="1200">
                <a:solidFill>
                  <a:schemeClr val="accent5"/>
                </a:solidFill>
                <a:ea typeface="Roboto Medium" panose="02000000000000000000" pitchFamily="2" charset="0"/>
              </a:rPr>
              <a:t>, ex-CMO, CRO Slack, Zendesk</a:t>
            </a:r>
          </a:p>
          <a:p>
            <a:pPr marL="171450" indent="-171450">
              <a:spcBef>
                <a:spcPts val="400"/>
              </a:spcBef>
              <a:spcAft>
                <a:spcPts val="400"/>
              </a:spcAft>
              <a:buFont typeface="Arial" panose="020B0604020202020204" pitchFamily="34" charset="0"/>
              <a:buChar char="•"/>
            </a:pPr>
            <a:r>
              <a:rPr lang="en-US" sz="1200">
                <a:solidFill>
                  <a:schemeClr val="accent5"/>
                </a:solidFill>
                <a:ea typeface="Roboto Medium" panose="02000000000000000000" pitchFamily="2" charset="0"/>
                <a:hlinkClick r:id="rId16"/>
              </a:rPr>
              <a:t>Sid Malik</a:t>
            </a:r>
            <a:r>
              <a:rPr lang="en-US" sz="1200">
                <a:solidFill>
                  <a:schemeClr val="accent5"/>
                </a:solidFill>
                <a:ea typeface="Roboto Medium" panose="02000000000000000000" pitchFamily="2" charset="0"/>
              </a:rPr>
              <a:t>, ex-CRO </a:t>
            </a:r>
            <a:r>
              <a:rPr lang="en-US" sz="1200" err="1">
                <a:solidFill>
                  <a:schemeClr val="accent5"/>
                </a:solidFill>
                <a:ea typeface="Roboto Medium" panose="02000000000000000000" pitchFamily="2" charset="0"/>
              </a:rPr>
              <a:t>Freshworks</a:t>
            </a:r>
            <a:endParaRPr lang="en-US" sz="1200">
              <a:solidFill>
                <a:schemeClr val="accent5"/>
              </a:solidFill>
              <a:ea typeface="Roboto Medium" panose="02000000000000000000" pitchFamily="2" charset="0"/>
            </a:endParaRPr>
          </a:p>
        </p:txBody>
      </p:sp>
    </p:spTree>
    <p:extLst>
      <p:ext uri="{BB962C8B-B14F-4D97-AF65-F5344CB8AC3E}">
        <p14:creationId xmlns:p14="http://schemas.microsoft.com/office/powerpoint/2010/main" val="947122234"/>
      </p:ext>
    </p:extLst>
  </p:cSld>
  <p:clrMapOvr>
    <a:masterClrMapping/>
  </p:clrMapOvr>
  <p:transition>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70" imgH="469" progId="TCLayout.ActiveDocument.1">
                  <p:embed/>
                </p:oleObj>
              </mc:Choice>
              <mc:Fallback>
                <p:oleObj name="think-cell Slide" r:id="rId5" imgW="470" imgH="469" progId="TCLayout.ActiveDocument.1">
                  <p:embed/>
                  <p:pic>
                    <p:nvPicPr>
                      <p:cNvPr id="5" name="Object 4"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4" name="Rectangle 3" hidden="1"/>
          <p:cNvSpPr/>
          <p:nvPr>
            <p:custDataLst>
              <p:tags r:id="rId2"/>
            </p:custDataLst>
          </p:nvPr>
        </p:nvSpPr>
        <p:spPr>
          <a:xfrm>
            <a:off x="0" y="0"/>
            <a:ext cx="158750" cy="1587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marR="0" lvl="0" indent="0" algn="ctr" defTabSz="914400" rtl="0" eaLnBrk="1" fontAlgn="auto" latinLnBrk="0" hangingPunct="1">
              <a:lnSpc>
                <a:spcPct val="90000"/>
              </a:lnSpc>
              <a:spcBef>
                <a:spcPct val="0"/>
              </a:spcBef>
              <a:spcAft>
                <a:spcPct val="0"/>
              </a:spcAft>
              <a:buClrTx/>
              <a:buSzTx/>
              <a:buFontTx/>
              <a:buNone/>
              <a:tabLst/>
              <a:defRPr/>
            </a:pPr>
            <a:endParaRPr kumimoji="0" lang="en-IN" sz="1400" b="0" i="0" u="none" strike="noStrike" kern="1200" cap="none" spc="0" normalizeH="0" baseline="0" noProof="0">
              <a:ln>
                <a:noFill/>
              </a:ln>
              <a:solidFill>
                <a:prstClr val="white"/>
              </a:solidFill>
              <a:effectLst/>
              <a:uLnTx/>
              <a:uFillTx/>
              <a:latin typeface="Roboto "/>
              <a:ea typeface="Roboto Condensed" panose="02000000000000000000" pitchFamily="2" charset="0"/>
              <a:cs typeface="+mn-cs"/>
              <a:sym typeface="+mj-lt"/>
            </a:endParaRPr>
          </a:p>
        </p:txBody>
      </p:sp>
      <p:sp>
        <p:nvSpPr>
          <p:cNvPr id="2" name="Title 1"/>
          <p:cNvSpPr>
            <a:spLocks noGrp="1"/>
          </p:cNvSpPr>
          <p:nvPr>
            <p:ph type="title"/>
          </p:nvPr>
        </p:nvSpPr>
        <p:spPr>
          <a:xfrm>
            <a:off x="668496" y="522849"/>
            <a:ext cx="7536955" cy="507062"/>
          </a:xfrm>
        </p:spPr>
        <p:txBody>
          <a:bodyPr vert="horz">
            <a:noAutofit/>
          </a:bodyPr>
          <a:lstStyle/>
          <a:p>
            <a:r>
              <a:rPr lang="en-US" sz="3200" cap="none">
                <a:solidFill>
                  <a:schemeClr val="accent5"/>
                </a:solidFill>
              </a:rPr>
              <a:t>Investment Case Study: Turing</a:t>
            </a:r>
          </a:p>
        </p:txBody>
      </p:sp>
      <p:sp>
        <p:nvSpPr>
          <p:cNvPr id="9" name="Text Placeholder 2">
            <a:extLst>
              <a:ext uri="{FF2B5EF4-FFF2-40B4-BE49-F238E27FC236}">
                <a16:creationId xmlns:a16="http://schemas.microsoft.com/office/drawing/2014/main" id="{557C7979-598A-4F16-9BA1-1EAD2D811665}"/>
              </a:ext>
            </a:extLst>
          </p:cNvPr>
          <p:cNvSpPr txBox="1">
            <a:spLocks/>
          </p:cNvSpPr>
          <p:nvPr/>
        </p:nvSpPr>
        <p:spPr>
          <a:xfrm>
            <a:off x="3864852" y="1279593"/>
            <a:ext cx="5155687" cy="609930"/>
          </a:xfrm>
          <a:prstGeom prst="rect">
            <a:avLst/>
          </a:prstGeom>
          <a:ln>
            <a:noFill/>
          </a:ln>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78AC4"/>
              </a:buClr>
              <a:buSzPct val="100000"/>
              <a:buFont typeface="Arial" pitchFamily="34" charset="0"/>
              <a:buChar char="•"/>
              <a:defRPr sz="2400" b="1" kern="1200">
                <a:solidFill>
                  <a:schemeClr val="tx1"/>
                </a:solidFill>
                <a:latin typeface="+mj-lt"/>
                <a:ea typeface="Roboto Condensed" panose="02000000000000000000" pitchFamily="2" charset="0"/>
                <a:cs typeface="+mn-cs"/>
              </a:defRPr>
            </a:lvl1pPr>
            <a:lvl2pPr marL="714375" indent="-295275" algn="l" defTabSz="914400" rtl="0" eaLnBrk="1" latinLnBrk="0" hangingPunct="1">
              <a:lnSpc>
                <a:spcPct val="90000"/>
              </a:lnSpc>
              <a:spcBef>
                <a:spcPts val="500"/>
              </a:spcBef>
              <a:buClr>
                <a:srgbClr val="078AC4"/>
              </a:buClr>
              <a:buSzPct val="100000"/>
              <a:buFont typeface="Calibri" pitchFamily="34" charset="0"/>
              <a:buChar char="‒"/>
              <a:defRPr sz="2000" kern="1200">
                <a:solidFill>
                  <a:schemeClr val="accent5"/>
                </a:solidFill>
                <a:latin typeface="+mj-lt"/>
                <a:ea typeface="Roboto Condensed" panose="02000000000000000000" pitchFamily="2" charset="0"/>
                <a:cs typeface="+mn-cs"/>
              </a:defRPr>
            </a:lvl2pPr>
            <a:lvl3pPr marL="625475" indent="-163513" algn="l" defTabSz="914400" rtl="0" eaLnBrk="1" latinLnBrk="0" hangingPunct="1">
              <a:lnSpc>
                <a:spcPct val="90000"/>
              </a:lnSpc>
              <a:spcBef>
                <a:spcPts val="500"/>
              </a:spcBef>
              <a:buSzPct val="100000"/>
              <a:buFont typeface="Roboto Condensed" panose="02000000000000000000" pitchFamily="2" charset="0"/>
              <a:buChar char="­"/>
              <a:defRPr sz="1400" kern="1200">
                <a:solidFill>
                  <a:schemeClr val="accent5"/>
                </a:solidFill>
                <a:latin typeface="+mj-lt"/>
                <a:ea typeface="Roboto Condensed" panose="02000000000000000000" pitchFamily="2" charset="0"/>
                <a:cs typeface="+mn-cs"/>
              </a:defRPr>
            </a:lvl3pPr>
            <a:lvl4pPr marL="1162050" indent="-266700" algn="l" defTabSz="914400" rtl="0" eaLnBrk="1" latinLnBrk="0" hangingPunct="1">
              <a:lnSpc>
                <a:spcPct val="90000"/>
              </a:lnSpc>
              <a:spcBef>
                <a:spcPts val="500"/>
              </a:spcBef>
              <a:buClr>
                <a:srgbClr val="078AC4"/>
              </a:buClr>
              <a:buSzPct val="100000"/>
              <a:buFont typeface="Arial" pitchFamily="34" charset="0"/>
              <a:buChar char="•"/>
              <a:tabLst>
                <a:tab pos="809625" algn="l"/>
              </a:tabLst>
              <a:defRPr sz="1800" kern="1200">
                <a:solidFill>
                  <a:schemeClr val="accent5"/>
                </a:solidFill>
                <a:latin typeface="+mj-lt"/>
                <a:ea typeface="Roboto Condensed" panose="02000000000000000000" pitchFamily="2" charset="0"/>
                <a:cs typeface="+mn-cs"/>
              </a:defRPr>
            </a:lvl4pPr>
            <a:lvl5pPr marL="857250" indent="-115888" algn="l" defTabSz="914400" rtl="0" eaLnBrk="1" latinLnBrk="0" hangingPunct="1">
              <a:lnSpc>
                <a:spcPct val="90000"/>
              </a:lnSpc>
              <a:spcBef>
                <a:spcPts val="500"/>
              </a:spcBef>
              <a:buSzPct val="100000"/>
              <a:buFont typeface="Roboto Condensed" panose="02000000000000000000" pitchFamily="2" charset="0"/>
              <a:buChar char="­"/>
              <a:defRPr sz="1200" kern="1200">
                <a:solidFill>
                  <a:schemeClr val="accent5"/>
                </a:solidFill>
                <a:latin typeface="+mj-lt"/>
                <a:ea typeface="Roboto Condensed"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7625" indent="0" algn="ctr">
              <a:lnSpc>
                <a:spcPct val="150000"/>
              </a:lnSpc>
              <a:spcBef>
                <a:spcPts val="0"/>
              </a:spcBef>
              <a:buClr>
                <a:srgbClr val="919191">
                  <a:lumMod val="50000"/>
                </a:srgbClr>
              </a:buClr>
              <a:buNone/>
            </a:pPr>
            <a:r>
              <a:rPr lang="en-US" sz="2000" b="0">
                <a:solidFill>
                  <a:schemeClr val="tx1">
                    <a:lumMod val="65000"/>
                    <a:lumOff val="35000"/>
                  </a:schemeClr>
                </a:solidFill>
                <a:latin typeface="+mn-lt"/>
                <a:ea typeface="Roboto Condensed Light" panose="02000000000000000000" pitchFamily="2" charset="0"/>
                <a:cs typeface="Helvetica"/>
              </a:rPr>
              <a:t>AI-enabled Software Services  </a:t>
            </a:r>
          </a:p>
        </p:txBody>
      </p:sp>
      <p:sp>
        <p:nvSpPr>
          <p:cNvPr id="19" name="Text Placeholder 2">
            <a:extLst>
              <a:ext uri="{FF2B5EF4-FFF2-40B4-BE49-F238E27FC236}">
                <a16:creationId xmlns:a16="http://schemas.microsoft.com/office/drawing/2014/main" id="{696918EF-D0CF-430D-8E47-58D5A1C50CB6}"/>
              </a:ext>
            </a:extLst>
          </p:cNvPr>
          <p:cNvSpPr txBox="1">
            <a:spLocks/>
          </p:cNvSpPr>
          <p:nvPr/>
        </p:nvSpPr>
        <p:spPr>
          <a:xfrm>
            <a:off x="889000" y="2641113"/>
            <a:ext cx="2987075" cy="3359589"/>
          </a:xfrm>
          <a:prstGeom prst="rect">
            <a:avLst/>
          </a:prstGeom>
          <a:ln>
            <a:noFill/>
          </a:ln>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78AC4"/>
              </a:buClr>
              <a:buSzPct val="100000"/>
              <a:buFont typeface="Arial" pitchFamily="34" charset="0"/>
              <a:buChar char="•"/>
              <a:defRPr sz="2400" b="1" kern="1200">
                <a:solidFill>
                  <a:schemeClr val="tx1"/>
                </a:solidFill>
                <a:latin typeface="+mj-lt"/>
                <a:ea typeface="Roboto Condensed" panose="02000000000000000000" pitchFamily="2" charset="0"/>
                <a:cs typeface="+mn-cs"/>
              </a:defRPr>
            </a:lvl1pPr>
            <a:lvl2pPr marL="714375" indent="-295275" algn="l" defTabSz="914400" rtl="0" eaLnBrk="1" latinLnBrk="0" hangingPunct="1">
              <a:lnSpc>
                <a:spcPct val="90000"/>
              </a:lnSpc>
              <a:spcBef>
                <a:spcPts val="500"/>
              </a:spcBef>
              <a:buClr>
                <a:srgbClr val="078AC4"/>
              </a:buClr>
              <a:buSzPct val="100000"/>
              <a:buFont typeface="Calibri" pitchFamily="34" charset="0"/>
              <a:buChar char="‒"/>
              <a:defRPr sz="2000" kern="1200">
                <a:solidFill>
                  <a:schemeClr val="accent5"/>
                </a:solidFill>
                <a:latin typeface="+mj-lt"/>
                <a:ea typeface="Roboto Condensed" panose="02000000000000000000" pitchFamily="2" charset="0"/>
                <a:cs typeface="+mn-cs"/>
              </a:defRPr>
            </a:lvl2pPr>
            <a:lvl3pPr marL="625475" indent="-163513" algn="l" defTabSz="914400" rtl="0" eaLnBrk="1" latinLnBrk="0" hangingPunct="1">
              <a:lnSpc>
                <a:spcPct val="90000"/>
              </a:lnSpc>
              <a:spcBef>
                <a:spcPts val="500"/>
              </a:spcBef>
              <a:buSzPct val="100000"/>
              <a:buFont typeface="Roboto Condensed" panose="02000000000000000000" pitchFamily="2" charset="0"/>
              <a:buChar char="­"/>
              <a:defRPr sz="1400" kern="1200">
                <a:solidFill>
                  <a:schemeClr val="accent5"/>
                </a:solidFill>
                <a:latin typeface="+mj-lt"/>
                <a:ea typeface="Roboto Condensed" panose="02000000000000000000" pitchFamily="2" charset="0"/>
                <a:cs typeface="+mn-cs"/>
              </a:defRPr>
            </a:lvl3pPr>
            <a:lvl4pPr marL="1162050" indent="-266700" algn="l" defTabSz="914400" rtl="0" eaLnBrk="1" latinLnBrk="0" hangingPunct="1">
              <a:lnSpc>
                <a:spcPct val="90000"/>
              </a:lnSpc>
              <a:spcBef>
                <a:spcPts val="500"/>
              </a:spcBef>
              <a:buClr>
                <a:srgbClr val="078AC4"/>
              </a:buClr>
              <a:buSzPct val="100000"/>
              <a:buFont typeface="Arial" pitchFamily="34" charset="0"/>
              <a:buChar char="•"/>
              <a:tabLst>
                <a:tab pos="809625" algn="l"/>
              </a:tabLst>
              <a:defRPr sz="1800" kern="1200">
                <a:solidFill>
                  <a:schemeClr val="accent5"/>
                </a:solidFill>
                <a:latin typeface="+mj-lt"/>
                <a:ea typeface="Roboto Condensed" panose="02000000000000000000" pitchFamily="2" charset="0"/>
                <a:cs typeface="+mn-cs"/>
              </a:defRPr>
            </a:lvl4pPr>
            <a:lvl5pPr marL="857250" indent="-115888" algn="l" defTabSz="914400" rtl="0" eaLnBrk="1" latinLnBrk="0" hangingPunct="1">
              <a:lnSpc>
                <a:spcPct val="90000"/>
              </a:lnSpc>
              <a:spcBef>
                <a:spcPts val="500"/>
              </a:spcBef>
              <a:buSzPct val="100000"/>
              <a:buFont typeface="Roboto Condensed" panose="02000000000000000000" pitchFamily="2" charset="0"/>
              <a:buChar char="­"/>
              <a:defRPr sz="1200" kern="1200">
                <a:solidFill>
                  <a:schemeClr val="accent5"/>
                </a:solidFill>
                <a:latin typeface="+mj-lt"/>
                <a:ea typeface="Roboto Condensed"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33375" indent="-285750">
              <a:lnSpc>
                <a:spcPct val="200000"/>
              </a:lnSpc>
              <a:spcBef>
                <a:spcPts val="0"/>
              </a:spcBef>
              <a:buClr>
                <a:srgbClr val="007434"/>
              </a:buClr>
              <a:buFont typeface="Wingdings" panose="05000000000000000000" pitchFamily="2" charset="2"/>
              <a:buChar char="ü"/>
            </a:pPr>
            <a:r>
              <a:rPr lang="en-US" sz="1600" b="0">
                <a:solidFill>
                  <a:schemeClr val="tx1">
                    <a:lumMod val="65000"/>
                    <a:lumOff val="35000"/>
                  </a:schemeClr>
                </a:solidFill>
                <a:latin typeface="+mn-lt"/>
                <a:ea typeface="Roboto Condensed Light" panose="02000000000000000000" pitchFamily="2" charset="0"/>
                <a:cs typeface="Helvetica"/>
              </a:rPr>
              <a:t>Massive Services Market </a:t>
            </a:r>
          </a:p>
          <a:p>
            <a:pPr marL="333375" indent="-285750">
              <a:lnSpc>
                <a:spcPct val="200000"/>
              </a:lnSpc>
              <a:spcBef>
                <a:spcPts val="0"/>
              </a:spcBef>
              <a:buClr>
                <a:srgbClr val="007434"/>
              </a:buClr>
              <a:buFont typeface="Wingdings" panose="05000000000000000000" pitchFamily="2" charset="2"/>
              <a:buChar char="ü"/>
            </a:pPr>
            <a:r>
              <a:rPr lang="en-US" sz="1600" b="0">
                <a:solidFill>
                  <a:schemeClr val="tx1">
                    <a:lumMod val="65000"/>
                    <a:lumOff val="35000"/>
                  </a:schemeClr>
                </a:solidFill>
                <a:latin typeface="+mn-lt"/>
                <a:ea typeface="Roboto Condensed Light" panose="02000000000000000000" pitchFamily="2" charset="0"/>
                <a:cs typeface="Helvetica"/>
              </a:rPr>
              <a:t>Best in Class Product</a:t>
            </a:r>
          </a:p>
          <a:p>
            <a:pPr marL="333375" indent="-285750">
              <a:lnSpc>
                <a:spcPct val="200000"/>
              </a:lnSpc>
              <a:spcBef>
                <a:spcPts val="0"/>
              </a:spcBef>
              <a:buClr>
                <a:srgbClr val="007434"/>
              </a:buClr>
              <a:buFont typeface="Wingdings" panose="05000000000000000000" pitchFamily="2" charset="2"/>
              <a:buChar char="ü"/>
            </a:pPr>
            <a:r>
              <a:rPr lang="en-US" sz="1600" b="0">
                <a:solidFill>
                  <a:schemeClr val="tx1">
                    <a:lumMod val="65000"/>
                    <a:lumOff val="35000"/>
                  </a:schemeClr>
                </a:solidFill>
                <a:latin typeface="+mn-lt"/>
                <a:ea typeface="Roboto Condensed Light" panose="02000000000000000000" pitchFamily="2" charset="0"/>
                <a:cs typeface="Helvetica"/>
              </a:rPr>
              <a:t>High Customer Traction</a:t>
            </a:r>
          </a:p>
          <a:p>
            <a:pPr marL="333375" indent="-285750">
              <a:lnSpc>
                <a:spcPct val="200000"/>
              </a:lnSpc>
              <a:spcBef>
                <a:spcPts val="0"/>
              </a:spcBef>
              <a:buClr>
                <a:srgbClr val="007434"/>
              </a:buClr>
              <a:buFont typeface="Wingdings" panose="05000000000000000000" pitchFamily="2" charset="2"/>
              <a:buChar char="ü"/>
            </a:pPr>
            <a:r>
              <a:rPr lang="en-US" sz="1600" b="0">
                <a:solidFill>
                  <a:schemeClr val="tx1">
                    <a:lumMod val="65000"/>
                    <a:lumOff val="35000"/>
                  </a:schemeClr>
                </a:solidFill>
                <a:latin typeface="+mn-lt"/>
                <a:ea typeface="Roboto Condensed Light" panose="02000000000000000000" pitchFamily="2" charset="0"/>
                <a:cs typeface="Helvetica"/>
              </a:rPr>
              <a:t>Robust Unit Economics </a:t>
            </a:r>
          </a:p>
          <a:p>
            <a:pPr marL="333375" indent="-285750">
              <a:lnSpc>
                <a:spcPct val="200000"/>
              </a:lnSpc>
              <a:spcBef>
                <a:spcPts val="0"/>
              </a:spcBef>
              <a:buClr>
                <a:srgbClr val="007434"/>
              </a:buClr>
              <a:buFont typeface="Wingdings" panose="05000000000000000000" pitchFamily="2" charset="2"/>
              <a:buChar char="ü"/>
            </a:pPr>
            <a:r>
              <a:rPr lang="en-US" sz="1600" b="0">
                <a:solidFill>
                  <a:schemeClr val="tx1">
                    <a:lumMod val="65000"/>
                    <a:lumOff val="35000"/>
                  </a:schemeClr>
                </a:solidFill>
                <a:latin typeface="+mn-lt"/>
                <a:ea typeface="Roboto Condensed Light" panose="02000000000000000000" pitchFamily="2" charset="0"/>
                <a:cs typeface="Helvetica"/>
              </a:rPr>
              <a:t>Strong Founding Team</a:t>
            </a:r>
          </a:p>
        </p:txBody>
      </p:sp>
      <p:sp>
        <p:nvSpPr>
          <p:cNvPr id="22" name="Rectangle 21">
            <a:extLst>
              <a:ext uri="{FF2B5EF4-FFF2-40B4-BE49-F238E27FC236}">
                <a16:creationId xmlns:a16="http://schemas.microsoft.com/office/drawing/2014/main" id="{D828A56E-34CC-427C-AEA2-C8489BECF9F6}"/>
              </a:ext>
            </a:extLst>
          </p:cNvPr>
          <p:cNvSpPr/>
          <p:nvPr/>
        </p:nvSpPr>
        <p:spPr>
          <a:xfrm>
            <a:off x="4516601" y="2137724"/>
            <a:ext cx="3977050" cy="4413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IN" b="1">
                <a:solidFill>
                  <a:srgbClr val="515151"/>
                </a:solidFill>
                <a:cs typeface="Helvetica" panose="020B0604020202020204" pitchFamily="34" charset="0"/>
              </a:rPr>
              <a:t>Partnership for Growth</a:t>
            </a:r>
          </a:p>
        </p:txBody>
      </p:sp>
      <p:cxnSp>
        <p:nvCxnSpPr>
          <p:cNvPr id="23" name="Straight Connector 22">
            <a:extLst>
              <a:ext uri="{FF2B5EF4-FFF2-40B4-BE49-F238E27FC236}">
                <a16:creationId xmlns:a16="http://schemas.microsoft.com/office/drawing/2014/main" id="{9AEA1823-D662-4583-BC7D-3387307A115C}"/>
              </a:ext>
            </a:extLst>
          </p:cNvPr>
          <p:cNvCxnSpPr>
            <a:cxnSpLocks/>
          </p:cNvCxnSpPr>
          <p:nvPr/>
        </p:nvCxnSpPr>
        <p:spPr>
          <a:xfrm>
            <a:off x="4474293" y="2570160"/>
            <a:ext cx="4046839" cy="8889"/>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1EDE4FCF-B3D2-4FA1-89D8-93EC6E8392CE}"/>
              </a:ext>
            </a:extLst>
          </p:cNvPr>
          <p:cNvSpPr/>
          <p:nvPr/>
        </p:nvSpPr>
        <p:spPr>
          <a:xfrm>
            <a:off x="961390" y="2137724"/>
            <a:ext cx="3977050" cy="4413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IN" b="1">
                <a:solidFill>
                  <a:srgbClr val="515151"/>
                </a:solidFill>
                <a:cs typeface="Helvetica" panose="020B0604020202020204" pitchFamily="34" charset="0"/>
              </a:rPr>
              <a:t>Our Thesis</a:t>
            </a:r>
          </a:p>
        </p:txBody>
      </p:sp>
      <p:cxnSp>
        <p:nvCxnSpPr>
          <p:cNvPr id="25" name="Straight Connector 24">
            <a:extLst>
              <a:ext uri="{FF2B5EF4-FFF2-40B4-BE49-F238E27FC236}">
                <a16:creationId xmlns:a16="http://schemas.microsoft.com/office/drawing/2014/main" id="{8CE4C1E3-F2A7-491E-A285-E079C988AF9B}"/>
              </a:ext>
            </a:extLst>
          </p:cNvPr>
          <p:cNvCxnSpPr/>
          <p:nvPr/>
        </p:nvCxnSpPr>
        <p:spPr>
          <a:xfrm>
            <a:off x="968535" y="2570160"/>
            <a:ext cx="2975206"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344699DF-7636-422E-8AAF-9F5654C91527}"/>
              </a:ext>
            </a:extLst>
          </p:cNvPr>
          <p:cNvSpPr txBox="1"/>
          <p:nvPr/>
        </p:nvSpPr>
        <p:spPr>
          <a:xfrm>
            <a:off x="597690" y="5478100"/>
            <a:ext cx="7947310" cy="584775"/>
          </a:xfrm>
          <a:prstGeom prst="rect">
            <a:avLst/>
          </a:prstGeom>
          <a:noFill/>
        </p:spPr>
        <p:txBody>
          <a:bodyPr wrap="square" rtlCol="0">
            <a:spAutoFit/>
          </a:bodyPr>
          <a:lstStyle/>
          <a:p>
            <a:pPr algn="ctr"/>
            <a:r>
              <a:rPr lang="en-IN" sz="1600" b="1" i="1">
                <a:solidFill>
                  <a:schemeClr val="accent5"/>
                </a:solidFill>
                <a:ea typeface="Roboto Black" panose="02000000000000000000" pitchFamily="2" charset="0"/>
              </a:rPr>
              <a:t>We have operationally supported Turing’s growth journey by leveraging our domain expertise</a:t>
            </a:r>
          </a:p>
          <a:p>
            <a:pPr algn="ctr"/>
            <a:r>
              <a:rPr lang="en-IN" sz="1600" b="1" i="1">
                <a:solidFill>
                  <a:schemeClr val="accent5"/>
                </a:solidFill>
                <a:ea typeface="Roboto Black" panose="02000000000000000000" pitchFamily="2" charset="0"/>
              </a:rPr>
              <a:t> from previous lead investments in Cognizant, GlobalLogic and </a:t>
            </a:r>
            <a:r>
              <a:rPr lang="en-IN" sz="1600" b="1" i="1" err="1">
                <a:solidFill>
                  <a:schemeClr val="accent5"/>
                </a:solidFill>
                <a:ea typeface="Roboto Black" panose="02000000000000000000" pitchFamily="2" charset="0"/>
              </a:rPr>
              <a:t>marketRx</a:t>
            </a:r>
            <a:endParaRPr lang="en-IN" sz="1600" b="1" i="1">
              <a:solidFill>
                <a:schemeClr val="accent5"/>
              </a:solidFill>
              <a:ea typeface="Roboto Black" panose="02000000000000000000" pitchFamily="2" charset="0"/>
            </a:endParaRPr>
          </a:p>
        </p:txBody>
      </p:sp>
      <p:pic>
        <p:nvPicPr>
          <p:cNvPr id="1026" name="Picture 2" descr="Turing Launches New Tech Consulting &amp; Services Model Powered by AI |  PressRelease.com">
            <a:extLst>
              <a:ext uri="{FF2B5EF4-FFF2-40B4-BE49-F238E27FC236}">
                <a16:creationId xmlns:a16="http://schemas.microsoft.com/office/drawing/2014/main" id="{3E743844-C182-6950-110A-8C347A746C3A}"/>
              </a:ext>
            </a:extLst>
          </p:cNvPr>
          <p:cNvPicPr>
            <a:picLocks noChangeAspect="1" noChangeArrowheads="1"/>
          </p:cNvPicPr>
          <p:nvPr/>
        </p:nvPicPr>
        <p:blipFill>
          <a:blip r:embed="rId7"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89000" y="1300058"/>
            <a:ext cx="3054741" cy="633734"/>
          </a:xfrm>
          <a:prstGeom prst="rect">
            <a:avLst/>
          </a:prstGeom>
          <a:noFill/>
          <a:extLst>
            <a:ext uri="{909E8E84-426E-40DD-AFC4-6F175D3DCCD1}">
              <a14:hiddenFill xmlns:a14="http://schemas.microsoft.com/office/drawing/2010/main">
                <a:solidFill>
                  <a:srgbClr val="FFFFFF"/>
                </a:solidFill>
              </a14:hiddenFill>
            </a:ext>
          </a:extLst>
        </p:spPr>
      </p:pic>
      <p:cxnSp>
        <p:nvCxnSpPr>
          <p:cNvPr id="1045" name="Straight Arrow Connector 1044">
            <a:extLst>
              <a:ext uri="{FF2B5EF4-FFF2-40B4-BE49-F238E27FC236}">
                <a16:creationId xmlns:a16="http://schemas.microsoft.com/office/drawing/2014/main" id="{7E6B8FA3-7712-E13D-8C53-6D91620DC5B9}"/>
              </a:ext>
            </a:extLst>
          </p:cNvPr>
          <p:cNvCxnSpPr>
            <a:cxnSpLocks/>
          </p:cNvCxnSpPr>
          <p:nvPr/>
        </p:nvCxnSpPr>
        <p:spPr>
          <a:xfrm>
            <a:off x="4474293" y="3800062"/>
            <a:ext cx="4019358" cy="656"/>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grpSp>
        <p:nvGrpSpPr>
          <p:cNvPr id="1046" name="Group 1045">
            <a:extLst>
              <a:ext uri="{FF2B5EF4-FFF2-40B4-BE49-F238E27FC236}">
                <a16:creationId xmlns:a16="http://schemas.microsoft.com/office/drawing/2014/main" id="{865F3FC2-9F0A-6812-9D60-BF6429711F15}"/>
              </a:ext>
            </a:extLst>
          </p:cNvPr>
          <p:cNvGrpSpPr/>
          <p:nvPr/>
        </p:nvGrpSpPr>
        <p:grpSpPr>
          <a:xfrm>
            <a:off x="4430037" y="3733707"/>
            <a:ext cx="909998" cy="502006"/>
            <a:chOff x="657651" y="2747216"/>
            <a:chExt cx="909998" cy="502006"/>
          </a:xfrm>
        </p:grpSpPr>
        <p:sp>
          <p:nvSpPr>
            <p:cNvPr id="1047" name="Oval 1046">
              <a:extLst>
                <a:ext uri="{FF2B5EF4-FFF2-40B4-BE49-F238E27FC236}">
                  <a16:creationId xmlns:a16="http://schemas.microsoft.com/office/drawing/2014/main" id="{37C0B3E3-A3DB-3DD3-B751-9BA4569E9F75}"/>
                </a:ext>
              </a:extLst>
            </p:cNvPr>
            <p:cNvSpPr/>
            <p:nvPr/>
          </p:nvSpPr>
          <p:spPr>
            <a:xfrm>
              <a:off x="657651" y="2747216"/>
              <a:ext cx="143125" cy="14963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48" name="Straight Connector 1047">
              <a:extLst>
                <a:ext uri="{FF2B5EF4-FFF2-40B4-BE49-F238E27FC236}">
                  <a16:creationId xmlns:a16="http://schemas.microsoft.com/office/drawing/2014/main" id="{CD20858E-F556-FDEC-9983-3FB609D4EA43}"/>
                </a:ext>
              </a:extLst>
            </p:cNvPr>
            <p:cNvCxnSpPr>
              <a:cxnSpLocks/>
            </p:cNvCxnSpPr>
            <p:nvPr/>
          </p:nvCxnSpPr>
          <p:spPr>
            <a:xfrm>
              <a:off x="729213" y="2894132"/>
              <a:ext cx="0" cy="35509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1049" name="TextBox 1048">
              <a:extLst>
                <a:ext uri="{FF2B5EF4-FFF2-40B4-BE49-F238E27FC236}">
                  <a16:creationId xmlns:a16="http://schemas.microsoft.com/office/drawing/2014/main" id="{E41EA152-F6D7-D0F6-9037-D6DD5CBBD6EA}"/>
                </a:ext>
              </a:extLst>
            </p:cNvPr>
            <p:cNvSpPr txBox="1"/>
            <p:nvPr/>
          </p:nvSpPr>
          <p:spPr>
            <a:xfrm>
              <a:off x="862799" y="2818335"/>
              <a:ext cx="704850" cy="261610"/>
            </a:xfrm>
            <a:prstGeom prst="rect">
              <a:avLst/>
            </a:prstGeom>
            <a:noFill/>
          </p:spPr>
          <p:txBody>
            <a:bodyPr wrap="square" rtlCol="0">
              <a:spAutoFit/>
            </a:bodyPr>
            <a:lstStyle/>
            <a:p>
              <a:r>
                <a:rPr lang="en-US" sz="1100">
                  <a:solidFill>
                    <a:schemeClr val="accent5"/>
                  </a:solidFill>
                  <a:latin typeface="Roboto Medium" panose="02000000000000000000" pitchFamily="2" charset="0"/>
                  <a:ea typeface="Roboto Medium" panose="02000000000000000000" pitchFamily="2" charset="0"/>
                </a:rPr>
                <a:t>2020</a:t>
              </a:r>
            </a:p>
          </p:txBody>
        </p:sp>
      </p:grpSp>
      <p:grpSp>
        <p:nvGrpSpPr>
          <p:cNvPr id="1050" name="Group 1049">
            <a:extLst>
              <a:ext uri="{FF2B5EF4-FFF2-40B4-BE49-F238E27FC236}">
                <a16:creationId xmlns:a16="http://schemas.microsoft.com/office/drawing/2014/main" id="{22FABE8D-D287-954C-976C-92E26297B58C}"/>
              </a:ext>
            </a:extLst>
          </p:cNvPr>
          <p:cNvGrpSpPr/>
          <p:nvPr/>
        </p:nvGrpSpPr>
        <p:grpSpPr>
          <a:xfrm>
            <a:off x="5231075" y="3336471"/>
            <a:ext cx="851635" cy="738775"/>
            <a:chOff x="2500975" y="2343683"/>
            <a:chExt cx="851635" cy="738775"/>
          </a:xfrm>
        </p:grpSpPr>
        <p:sp>
          <p:nvSpPr>
            <p:cNvPr id="1051" name="Oval 1050">
              <a:extLst>
                <a:ext uri="{FF2B5EF4-FFF2-40B4-BE49-F238E27FC236}">
                  <a16:creationId xmlns:a16="http://schemas.microsoft.com/office/drawing/2014/main" id="{D5F1F9FB-BB51-5023-2E94-1C8E5339C86A}"/>
                </a:ext>
              </a:extLst>
            </p:cNvPr>
            <p:cNvSpPr/>
            <p:nvPr/>
          </p:nvSpPr>
          <p:spPr>
            <a:xfrm>
              <a:off x="2500975" y="2738755"/>
              <a:ext cx="143125" cy="14963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52" name="Straight Connector 1051">
              <a:extLst>
                <a:ext uri="{FF2B5EF4-FFF2-40B4-BE49-F238E27FC236}">
                  <a16:creationId xmlns:a16="http://schemas.microsoft.com/office/drawing/2014/main" id="{ACDEDC6A-8FAC-1644-83DB-D15EF4BE2398}"/>
                </a:ext>
              </a:extLst>
            </p:cNvPr>
            <p:cNvCxnSpPr>
              <a:cxnSpLocks/>
            </p:cNvCxnSpPr>
            <p:nvPr/>
          </p:nvCxnSpPr>
          <p:spPr>
            <a:xfrm>
              <a:off x="2572537" y="2343683"/>
              <a:ext cx="0" cy="383922"/>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1053" name="TextBox 1052">
              <a:extLst>
                <a:ext uri="{FF2B5EF4-FFF2-40B4-BE49-F238E27FC236}">
                  <a16:creationId xmlns:a16="http://schemas.microsoft.com/office/drawing/2014/main" id="{8577A508-5D08-9C65-F791-3DBA2C68DB20}"/>
                </a:ext>
              </a:extLst>
            </p:cNvPr>
            <p:cNvSpPr txBox="1"/>
            <p:nvPr/>
          </p:nvSpPr>
          <p:spPr>
            <a:xfrm>
              <a:off x="2647760" y="2820848"/>
              <a:ext cx="704850" cy="261610"/>
            </a:xfrm>
            <a:prstGeom prst="rect">
              <a:avLst/>
            </a:prstGeom>
            <a:noFill/>
          </p:spPr>
          <p:txBody>
            <a:bodyPr wrap="square" rtlCol="0">
              <a:spAutoFit/>
            </a:bodyPr>
            <a:lstStyle/>
            <a:p>
              <a:r>
                <a:rPr lang="en-US" sz="1100">
                  <a:solidFill>
                    <a:schemeClr val="accent5"/>
                  </a:solidFill>
                  <a:latin typeface="Roboto Medium" panose="02000000000000000000" pitchFamily="2" charset="0"/>
                  <a:ea typeface="Roboto Medium" panose="02000000000000000000" pitchFamily="2" charset="0"/>
                </a:rPr>
                <a:t>2021</a:t>
              </a:r>
            </a:p>
          </p:txBody>
        </p:sp>
      </p:grpSp>
      <p:grpSp>
        <p:nvGrpSpPr>
          <p:cNvPr id="1054" name="Group 1053">
            <a:extLst>
              <a:ext uri="{FF2B5EF4-FFF2-40B4-BE49-F238E27FC236}">
                <a16:creationId xmlns:a16="http://schemas.microsoft.com/office/drawing/2014/main" id="{EEA73FCC-E526-0E4B-4D04-94A8A04FA7CB}"/>
              </a:ext>
            </a:extLst>
          </p:cNvPr>
          <p:cNvGrpSpPr/>
          <p:nvPr/>
        </p:nvGrpSpPr>
        <p:grpSpPr>
          <a:xfrm>
            <a:off x="5923970" y="3744296"/>
            <a:ext cx="865040" cy="494133"/>
            <a:chOff x="4205951" y="2757805"/>
            <a:chExt cx="865040" cy="494133"/>
          </a:xfrm>
        </p:grpSpPr>
        <p:sp>
          <p:nvSpPr>
            <p:cNvPr id="1055" name="Oval 1054">
              <a:extLst>
                <a:ext uri="{FF2B5EF4-FFF2-40B4-BE49-F238E27FC236}">
                  <a16:creationId xmlns:a16="http://schemas.microsoft.com/office/drawing/2014/main" id="{ED6B47BB-81C0-5136-2C2F-AD1AA5580A7B}"/>
                </a:ext>
              </a:extLst>
            </p:cNvPr>
            <p:cNvSpPr/>
            <p:nvPr/>
          </p:nvSpPr>
          <p:spPr>
            <a:xfrm>
              <a:off x="4205951" y="2757805"/>
              <a:ext cx="143125" cy="14963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56" name="Straight Connector 1055">
              <a:extLst>
                <a:ext uri="{FF2B5EF4-FFF2-40B4-BE49-F238E27FC236}">
                  <a16:creationId xmlns:a16="http://schemas.microsoft.com/office/drawing/2014/main" id="{5B7C96EB-2BF1-67EF-87FF-D2CAE31E0C20}"/>
                </a:ext>
              </a:extLst>
            </p:cNvPr>
            <p:cNvCxnSpPr>
              <a:cxnSpLocks/>
            </p:cNvCxnSpPr>
            <p:nvPr/>
          </p:nvCxnSpPr>
          <p:spPr>
            <a:xfrm>
              <a:off x="4277513" y="2896848"/>
              <a:ext cx="0" cy="35509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1057" name="TextBox 1056">
              <a:extLst>
                <a:ext uri="{FF2B5EF4-FFF2-40B4-BE49-F238E27FC236}">
                  <a16:creationId xmlns:a16="http://schemas.microsoft.com/office/drawing/2014/main" id="{7C17668D-1CF3-7FA5-87B1-8AFBC098C58F}"/>
                </a:ext>
              </a:extLst>
            </p:cNvPr>
            <p:cNvSpPr txBox="1"/>
            <p:nvPr/>
          </p:nvSpPr>
          <p:spPr>
            <a:xfrm>
              <a:off x="4339424" y="2818335"/>
              <a:ext cx="731567" cy="261610"/>
            </a:xfrm>
            <a:prstGeom prst="rect">
              <a:avLst/>
            </a:prstGeom>
            <a:noFill/>
          </p:spPr>
          <p:txBody>
            <a:bodyPr wrap="square" rtlCol="0">
              <a:spAutoFit/>
            </a:bodyPr>
            <a:lstStyle/>
            <a:p>
              <a:r>
                <a:rPr lang="en-US" sz="1100">
                  <a:solidFill>
                    <a:schemeClr val="accent5"/>
                  </a:solidFill>
                  <a:latin typeface="Roboto Medium" panose="02000000000000000000" pitchFamily="2" charset="0"/>
                  <a:ea typeface="Roboto Medium" panose="02000000000000000000" pitchFamily="2" charset="0"/>
                </a:rPr>
                <a:t>2022</a:t>
              </a:r>
            </a:p>
          </p:txBody>
        </p:sp>
      </p:grpSp>
      <p:grpSp>
        <p:nvGrpSpPr>
          <p:cNvPr id="1058" name="Group 1057">
            <a:extLst>
              <a:ext uri="{FF2B5EF4-FFF2-40B4-BE49-F238E27FC236}">
                <a16:creationId xmlns:a16="http://schemas.microsoft.com/office/drawing/2014/main" id="{55480926-F960-EEA8-3404-F970B6CBBF82}"/>
              </a:ext>
            </a:extLst>
          </p:cNvPr>
          <p:cNvGrpSpPr/>
          <p:nvPr/>
        </p:nvGrpSpPr>
        <p:grpSpPr>
          <a:xfrm>
            <a:off x="6626780" y="3345288"/>
            <a:ext cx="839370" cy="721031"/>
            <a:chOff x="5920453" y="2341481"/>
            <a:chExt cx="839370" cy="721031"/>
          </a:xfrm>
        </p:grpSpPr>
        <p:sp>
          <p:nvSpPr>
            <p:cNvPr id="1059" name="Oval 1058">
              <a:extLst>
                <a:ext uri="{FF2B5EF4-FFF2-40B4-BE49-F238E27FC236}">
                  <a16:creationId xmlns:a16="http://schemas.microsoft.com/office/drawing/2014/main" id="{57F7ACE9-EBB2-CDA2-BC64-70595137C20D}"/>
                </a:ext>
              </a:extLst>
            </p:cNvPr>
            <p:cNvSpPr/>
            <p:nvPr/>
          </p:nvSpPr>
          <p:spPr>
            <a:xfrm>
              <a:off x="5920453" y="2738755"/>
              <a:ext cx="143125" cy="14963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60" name="Straight Connector 1059">
              <a:extLst>
                <a:ext uri="{FF2B5EF4-FFF2-40B4-BE49-F238E27FC236}">
                  <a16:creationId xmlns:a16="http://schemas.microsoft.com/office/drawing/2014/main" id="{15BC1916-A4A2-57B6-A85C-F38EC9A9B9F9}"/>
                </a:ext>
              </a:extLst>
            </p:cNvPr>
            <p:cNvCxnSpPr>
              <a:cxnSpLocks/>
            </p:cNvCxnSpPr>
            <p:nvPr/>
          </p:nvCxnSpPr>
          <p:spPr>
            <a:xfrm>
              <a:off x="5992015" y="2341481"/>
              <a:ext cx="0" cy="390599"/>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1061" name="TextBox 1060">
              <a:extLst>
                <a:ext uri="{FF2B5EF4-FFF2-40B4-BE49-F238E27FC236}">
                  <a16:creationId xmlns:a16="http://schemas.microsoft.com/office/drawing/2014/main" id="{7FAD699F-F96A-6BD6-9F67-BA10D23740D4}"/>
                </a:ext>
              </a:extLst>
            </p:cNvPr>
            <p:cNvSpPr txBox="1"/>
            <p:nvPr/>
          </p:nvSpPr>
          <p:spPr>
            <a:xfrm>
              <a:off x="6054973" y="2800902"/>
              <a:ext cx="704850" cy="261610"/>
            </a:xfrm>
            <a:prstGeom prst="rect">
              <a:avLst/>
            </a:prstGeom>
            <a:noFill/>
          </p:spPr>
          <p:txBody>
            <a:bodyPr wrap="square" rtlCol="0">
              <a:spAutoFit/>
            </a:bodyPr>
            <a:lstStyle/>
            <a:p>
              <a:r>
                <a:rPr lang="en-US" sz="1100">
                  <a:solidFill>
                    <a:schemeClr val="accent5"/>
                  </a:solidFill>
                  <a:latin typeface="Roboto Medium" panose="02000000000000000000" pitchFamily="2" charset="0"/>
                  <a:ea typeface="Roboto Medium" panose="02000000000000000000" pitchFamily="2" charset="0"/>
                </a:rPr>
                <a:t>2023</a:t>
              </a:r>
            </a:p>
          </p:txBody>
        </p:sp>
      </p:grpSp>
      <p:grpSp>
        <p:nvGrpSpPr>
          <p:cNvPr id="1062" name="Group 1061">
            <a:extLst>
              <a:ext uri="{FF2B5EF4-FFF2-40B4-BE49-F238E27FC236}">
                <a16:creationId xmlns:a16="http://schemas.microsoft.com/office/drawing/2014/main" id="{1E0B717C-6181-282C-A24C-BA6D78C644A0}"/>
              </a:ext>
            </a:extLst>
          </p:cNvPr>
          <p:cNvGrpSpPr/>
          <p:nvPr/>
        </p:nvGrpSpPr>
        <p:grpSpPr>
          <a:xfrm>
            <a:off x="7433855" y="3725246"/>
            <a:ext cx="867423" cy="504793"/>
            <a:chOff x="7506378" y="2738755"/>
            <a:chExt cx="867423" cy="504793"/>
          </a:xfrm>
        </p:grpSpPr>
        <p:sp>
          <p:nvSpPr>
            <p:cNvPr id="1063" name="Oval 1062">
              <a:extLst>
                <a:ext uri="{FF2B5EF4-FFF2-40B4-BE49-F238E27FC236}">
                  <a16:creationId xmlns:a16="http://schemas.microsoft.com/office/drawing/2014/main" id="{8FFC2BC5-9FBF-8A2F-0F6A-897F28FE2581}"/>
                </a:ext>
              </a:extLst>
            </p:cNvPr>
            <p:cNvSpPr/>
            <p:nvPr/>
          </p:nvSpPr>
          <p:spPr>
            <a:xfrm>
              <a:off x="7506378" y="2738755"/>
              <a:ext cx="143125" cy="14963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64" name="Straight Connector 1063">
              <a:extLst>
                <a:ext uri="{FF2B5EF4-FFF2-40B4-BE49-F238E27FC236}">
                  <a16:creationId xmlns:a16="http://schemas.microsoft.com/office/drawing/2014/main" id="{7562DECD-E240-1417-48ED-A4A57AA9F600}"/>
                </a:ext>
              </a:extLst>
            </p:cNvPr>
            <p:cNvCxnSpPr>
              <a:cxnSpLocks/>
            </p:cNvCxnSpPr>
            <p:nvPr/>
          </p:nvCxnSpPr>
          <p:spPr>
            <a:xfrm>
              <a:off x="7580330" y="2888458"/>
              <a:ext cx="0" cy="35509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1065" name="TextBox 1064">
              <a:extLst>
                <a:ext uri="{FF2B5EF4-FFF2-40B4-BE49-F238E27FC236}">
                  <a16:creationId xmlns:a16="http://schemas.microsoft.com/office/drawing/2014/main" id="{CA5FA995-46FC-F52E-8CB9-7886B6B9C3D9}"/>
                </a:ext>
              </a:extLst>
            </p:cNvPr>
            <p:cNvSpPr txBox="1"/>
            <p:nvPr/>
          </p:nvSpPr>
          <p:spPr>
            <a:xfrm>
              <a:off x="7582702" y="2818335"/>
              <a:ext cx="791099" cy="261610"/>
            </a:xfrm>
            <a:prstGeom prst="rect">
              <a:avLst/>
            </a:prstGeom>
            <a:noFill/>
          </p:spPr>
          <p:txBody>
            <a:bodyPr wrap="square" rtlCol="0">
              <a:spAutoFit/>
            </a:bodyPr>
            <a:lstStyle/>
            <a:p>
              <a:r>
                <a:rPr lang="en-US" sz="1100">
                  <a:solidFill>
                    <a:schemeClr val="accent5"/>
                  </a:solidFill>
                  <a:latin typeface="Roboto Medium" panose="02000000000000000000" pitchFamily="2" charset="0"/>
                  <a:ea typeface="Roboto Medium" panose="02000000000000000000" pitchFamily="2" charset="0"/>
                </a:rPr>
                <a:t>2024-25</a:t>
              </a:r>
            </a:p>
          </p:txBody>
        </p:sp>
      </p:grpSp>
      <p:sp>
        <p:nvSpPr>
          <p:cNvPr id="1066" name="TextBox 1065">
            <a:extLst>
              <a:ext uri="{FF2B5EF4-FFF2-40B4-BE49-F238E27FC236}">
                <a16:creationId xmlns:a16="http://schemas.microsoft.com/office/drawing/2014/main" id="{67530AAE-A456-AF9D-28C1-F080FA51698C}"/>
              </a:ext>
            </a:extLst>
          </p:cNvPr>
          <p:cNvSpPr txBox="1"/>
          <p:nvPr/>
        </p:nvSpPr>
        <p:spPr>
          <a:xfrm>
            <a:off x="4453088" y="2647646"/>
            <a:ext cx="1693604" cy="1446550"/>
          </a:xfrm>
          <a:prstGeom prst="rect">
            <a:avLst/>
          </a:prstGeom>
          <a:noFill/>
        </p:spPr>
        <p:txBody>
          <a:bodyPr wrap="square" rtlCol="0">
            <a:spAutoFit/>
          </a:bodyPr>
          <a:lstStyle/>
          <a:p>
            <a:r>
              <a:rPr lang="en-US" sz="1100" b="1">
                <a:solidFill>
                  <a:schemeClr val="accent5"/>
                </a:solidFill>
                <a:ea typeface="Roboto Black" panose="02000000000000000000" pitchFamily="2" charset="0"/>
              </a:rPr>
              <a:t>From $10M to $50M ARR</a:t>
            </a:r>
          </a:p>
          <a:p>
            <a:r>
              <a:rPr lang="en-US" sz="1100">
                <a:solidFill>
                  <a:schemeClr val="tx1">
                    <a:lumMod val="65000"/>
                    <a:lumOff val="35000"/>
                  </a:schemeClr>
                </a:solidFill>
                <a:ea typeface="Roboto Medium" panose="02000000000000000000" pitchFamily="2" charset="0"/>
              </a:rPr>
              <a:t>Strategically shifted customer mix from SMB to Enterprises; Built channel partnerships</a:t>
            </a:r>
          </a:p>
          <a:p>
            <a:endParaRPr lang="en-US" sz="1100">
              <a:solidFill>
                <a:schemeClr val="accent5"/>
              </a:solidFill>
              <a:ea typeface="Roboto Medium" panose="02000000000000000000" pitchFamily="2" charset="0"/>
            </a:endParaRPr>
          </a:p>
          <a:p>
            <a:endParaRPr lang="en-US" sz="1100">
              <a:solidFill>
                <a:schemeClr val="tx1">
                  <a:lumMod val="65000"/>
                  <a:lumOff val="35000"/>
                </a:schemeClr>
              </a:solidFill>
            </a:endParaRPr>
          </a:p>
          <a:p>
            <a:endParaRPr lang="en-US" sz="1100">
              <a:solidFill>
                <a:schemeClr val="accent5"/>
              </a:solidFill>
              <a:ea typeface="Roboto Medium" panose="02000000000000000000" pitchFamily="2" charset="0"/>
            </a:endParaRPr>
          </a:p>
        </p:txBody>
      </p:sp>
      <p:sp>
        <p:nvSpPr>
          <p:cNvPr id="1067" name="TextBox 1066">
            <a:extLst>
              <a:ext uri="{FF2B5EF4-FFF2-40B4-BE49-F238E27FC236}">
                <a16:creationId xmlns:a16="http://schemas.microsoft.com/office/drawing/2014/main" id="{444E6331-C708-54FA-790A-A9E9362BBDAB}"/>
              </a:ext>
            </a:extLst>
          </p:cNvPr>
          <p:cNvSpPr txBox="1"/>
          <p:nvPr/>
        </p:nvSpPr>
        <p:spPr>
          <a:xfrm>
            <a:off x="5479054" y="4224082"/>
            <a:ext cx="1670160" cy="600164"/>
          </a:xfrm>
          <a:prstGeom prst="rect">
            <a:avLst/>
          </a:prstGeom>
          <a:noFill/>
        </p:spPr>
        <p:txBody>
          <a:bodyPr wrap="square" rtlCol="0">
            <a:spAutoFit/>
          </a:bodyPr>
          <a:lstStyle/>
          <a:p>
            <a:r>
              <a:rPr lang="en-US" sz="1100" b="1">
                <a:solidFill>
                  <a:schemeClr val="accent5"/>
                </a:solidFill>
                <a:ea typeface="Roboto Black" panose="02000000000000000000" pitchFamily="2" charset="0"/>
              </a:rPr>
              <a:t>Series C</a:t>
            </a:r>
          </a:p>
          <a:p>
            <a:r>
              <a:rPr lang="en-US" sz="1100">
                <a:solidFill>
                  <a:schemeClr val="accent5"/>
                </a:solidFill>
                <a:ea typeface="Roboto Medium" panose="02000000000000000000" pitchFamily="2" charset="0"/>
              </a:rPr>
              <a:t>Invested $72M</a:t>
            </a:r>
          </a:p>
          <a:p>
            <a:r>
              <a:rPr lang="en-US" sz="1100">
                <a:solidFill>
                  <a:schemeClr val="accent5"/>
                </a:solidFill>
                <a:ea typeface="Roboto Medium" panose="02000000000000000000" pitchFamily="2" charset="0"/>
              </a:rPr>
              <a:t>Lead investor</a:t>
            </a:r>
          </a:p>
        </p:txBody>
      </p:sp>
      <p:sp>
        <p:nvSpPr>
          <p:cNvPr id="1068" name="TextBox 1067">
            <a:extLst>
              <a:ext uri="{FF2B5EF4-FFF2-40B4-BE49-F238E27FC236}">
                <a16:creationId xmlns:a16="http://schemas.microsoft.com/office/drawing/2014/main" id="{A10671BE-3AAD-B8AD-D2B8-E3F3CFDE213F}"/>
              </a:ext>
            </a:extLst>
          </p:cNvPr>
          <p:cNvSpPr txBox="1"/>
          <p:nvPr/>
        </p:nvSpPr>
        <p:spPr>
          <a:xfrm>
            <a:off x="6994145" y="4240565"/>
            <a:ext cx="1848103" cy="600164"/>
          </a:xfrm>
          <a:prstGeom prst="rect">
            <a:avLst/>
          </a:prstGeom>
          <a:noFill/>
        </p:spPr>
        <p:txBody>
          <a:bodyPr wrap="square" rtlCol="0">
            <a:spAutoFit/>
          </a:bodyPr>
          <a:lstStyle/>
          <a:p>
            <a:r>
              <a:rPr lang="en-US" sz="1100" b="1">
                <a:solidFill>
                  <a:schemeClr val="accent5"/>
                </a:solidFill>
                <a:ea typeface="Roboto Black" panose="02000000000000000000" pitchFamily="2" charset="0"/>
              </a:rPr>
              <a:t>From $100M to $300M ARR</a:t>
            </a:r>
          </a:p>
          <a:p>
            <a:r>
              <a:rPr lang="en-US" sz="1100">
                <a:solidFill>
                  <a:schemeClr val="accent5"/>
                </a:solidFill>
                <a:ea typeface="Roboto Medium" panose="02000000000000000000" pitchFamily="2" charset="0"/>
              </a:rPr>
              <a:t>Expanded focus to LLM data services</a:t>
            </a:r>
          </a:p>
        </p:txBody>
      </p:sp>
      <p:sp>
        <p:nvSpPr>
          <p:cNvPr id="1069" name="TextBox 1068">
            <a:extLst>
              <a:ext uri="{FF2B5EF4-FFF2-40B4-BE49-F238E27FC236}">
                <a16:creationId xmlns:a16="http://schemas.microsoft.com/office/drawing/2014/main" id="{3A23E3D3-7AA5-140C-9B9B-A4A52BD2EE55}"/>
              </a:ext>
            </a:extLst>
          </p:cNvPr>
          <p:cNvSpPr txBox="1"/>
          <p:nvPr/>
        </p:nvSpPr>
        <p:spPr>
          <a:xfrm>
            <a:off x="6147342" y="2711654"/>
            <a:ext cx="1693605" cy="600164"/>
          </a:xfrm>
          <a:prstGeom prst="rect">
            <a:avLst/>
          </a:prstGeom>
          <a:noFill/>
        </p:spPr>
        <p:txBody>
          <a:bodyPr wrap="square" rtlCol="0">
            <a:spAutoFit/>
          </a:bodyPr>
          <a:lstStyle/>
          <a:p>
            <a:r>
              <a:rPr lang="en-US" sz="1100" b="1">
                <a:solidFill>
                  <a:schemeClr val="accent5"/>
                </a:solidFill>
                <a:ea typeface="Roboto Black" panose="02000000000000000000" pitchFamily="2" charset="0"/>
              </a:rPr>
              <a:t>From $50M to $100M ARR</a:t>
            </a:r>
          </a:p>
          <a:p>
            <a:r>
              <a:rPr lang="en-US" sz="1100">
                <a:solidFill>
                  <a:schemeClr val="accent5"/>
                </a:solidFill>
                <a:ea typeface="Roboto Medium" panose="02000000000000000000" pitchFamily="2" charset="0"/>
              </a:rPr>
              <a:t>Restructured GTM to win </a:t>
            </a:r>
          </a:p>
          <a:p>
            <a:r>
              <a:rPr lang="en-US" sz="1100">
                <a:solidFill>
                  <a:schemeClr val="accent5"/>
                </a:solidFill>
                <a:ea typeface="Roboto Medium" panose="02000000000000000000" pitchFamily="2" charset="0"/>
              </a:rPr>
              <a:t>$10M+ contracts</a:t>
            </a:r>
          </a:p>
        </p:txBody>
      </p:sp>
      <p:sp>
        <p:nvSpPr>
          <p:cNvPr id="1072" name="TextBox 1071">
            <a:extLst>
              <a:ext uri="{FF2B5EF4-FFF2-40B4-BE49-F238E27FC236}">
                <a16:creationId xmlns:a16="http://schemas.microsoft.com/office/drawing/2014/main" id="{4FF8F296-B843-CE57-30AC-FF88B7D2BB2B}"/>
              </a:ext>
            </a:extLst>
          </p:cNvPr>
          <p:cNvSpPr txBox="1"/>
          <p:nvPr/>
        </p:nvSpPr>
        <p:spPr>
          <a:xfrm>
            <a:off x="4107137" y="4245285"/>
            <a:ext cx="1431649" cy="938719"/>
          </a:xfrm>
          <a:prstGeom prst="rect">
            <a:avLst/>
          </a:prstGeom>
          <a:noFill/>
        </p:spPr>
        <p:txBody>
          <a:bodyPr wrap="square" rtlCol="0">
            <a:spAutoFit/>
          </a:bodyPr>
          <a:lstStyle/>
          <a:p>
            <a:r>
              <a:rPr lang="en-US" sz="1100" b="1">
                <a:solidFill>
                  <a:schemeClr val="accent5"/>
                </a:solidFill>
                <a:ea typeface="Roboto Black" panose="02000000000000000000" pitchFamily="2" charset="0"/>
              </a:rPr>
              <a:t>Series B</a:t>
            </a:r>
          </a:p>
          <a:p>
            <a:r>
              <a:rPr lang="en-US" sz="1100">
                <a:solidFill>
                  <a:schemeClr val="accent5"/>
                </a:solidFill>
                <a:ea typeface="Roboto Medium" panose="02000000000000000000" pitchFamily="2" charset="0"/>
              </a:rPr>
              <a:t>Invested $28M</a:t>
            </a:r>
          </a:p>
          <a:p>
            <a:r>
              <a:rPr lang="en-US" sz="1100">
                <a:solidFill>
                  <a:schemeClr val="accent5"/>
                </a:solidFill>
                <a:ea typeface="Roboto Medium" panose="02000000000000000000" pitchFamily="2" charset="0"/>
              </a:rPr>
              <a:t>Added intelligence across vetting and matching process</a:t>
            </a:r>
          </a:p>
        </p:txBody>
      </p:sp>
      <p:grpSp>
        <p:nvGrpSpPr>
          <p:cNvPr id="3" name="Group 2">
            <a:extLst>
              <a:ext uri="{FF2B5EF4-FFF2-40B4-BE49-F238E27FC236}">
                <a16:creationId xmlns:a16="http://schemas.microsoft.com/office/drawing/2014/main" id="{27D9860F-3012-63F4-0614-E8F3E32C7518}"/>
              </a:ext>
            </a:extLst>
          </p:cNvPr>
          <p:cNvGrpSpPr/>
          <p:nvPr/>
        </p:nvGrpSpPr>
        <p:grpSpPr>
          <a:xfrm>
            <a:off x="8166085" y="3341430"/>
            <a:ext cx="839370" cy="721031"/>
            <a:chOff x="5920453" y="2341481"/>
            <a:chExt cx="839370" cy="721031"/>
          </a:xfrm>
        </p:grpSpPr>
        <p:sp>
          <p:nvSpPr>
            <p:cNvPr id="6" name="Oval 5">
              <a:extLst>
                <a:ext uri="{FF2B5EF4-FFF2-40B4-BE49-F238E27FC236}">
                  <a16:creationId xmlns:a16="http://schemas.microsoft.com/office/drawing/2014/main" id="{8E9CAA57-409D-C28B-A1FA-B2648728209D}"/>
                </a:ext>
              </a:extLst>
            </p:cNvPr>
            <p:cNvSpPr/>
            <p:nvPr/>
          </p:nvSpPr>
          <p:spPr>
            <a:xfrm>
              <a:off x="5920453" y="2738755"/>
              <a:ext cx="143125" cy="14963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961EB0FF-3329-2525-9AD1-DA4E7FC1A126}"/>
                </a:ext>
              </a:extLst>
            </p:cNvPr>
            <p:cNvCxnSpPr>
              <a:cxnSpLocks/>
            </p:cNvCxnSpPr>
            <p:nvPr/>
          </p:nvCxnSpPr>
          <p:spPr>
            <a:xfrm>
              <a:off x="5992015" y="2341481"/>
              <a:ext cx="0" cy="390599"/>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29E9D151-58DF-E701-C8FD-C5F8F22A6456}"/>
                </a:ext>
              </a:extLst>
            </p:cNvPr>
            <p:cNvSpPr txBox="1"/>
            <p:nvPr/>
          </p:nvSpPr>
          <p:spPr>
            <a:xfrm>
              <a:off x="6054973" y="2800902"/>
              <a:ext cx="704850" cy="261610"/>
            </a:xfrm>
            <a:prstGeom prst="rect">
              <a:avLst/>
            </a:prstGeom>
            <a:noFill/>
          </p:spPr>
          <p:txBody>
            <a:bodyPr wrap="square" rtlCol="0">
              <a:spAutoFit/>
            </a:bodyPr>
            <a:lstStyle/>
            <a:p>
              <a:r>
                <a:rPr lang="en-US" sz="1100">
                  <a:solidFill>
                    <a:schemeClr val="accent5"/>
                  </a:solidFill>
                  <a:latin typeface="Roboto Medium" panose="02000000000000000000" pitchFamily="2" charset="0"/>
                  <a:ea typeface="Roboto Medium" panose="02000000000000000000" pitchFamily="2" charset="0"/>
                </a:rPr>
                <a:t>2026</a:t>
              </a:r>
            </a:p>
          </p:txBody>
        </p:sp>
      </p:grpSp>
      <p:sp>
        <p:nvSpPr>
          <p:cNvPr id="10" name="TextBox 9">
            <a:extLst>
              <a:ext uri="{FF2B5EF4-FFF2-40B4-BE49-F238E27FC236}">
                <a16:creationId xmlns:a16="http://schemas.microsoft.com/office/drawing/2014/main" id="{90D7345F-EB7C-394D-C4CD-9A295D73AF06}"/>
              </a:ext>
            </a:extLst>
          </p:cNvPr>
          <p:cNvSpPr txBox="1"/>
          <p:nvPr/>
        </p:nvSpPr>
        <p:spPr>
          <a:xfrm>
            <a:off x="7750656" y="2680364"/>
            <a:ext cx="1457352" cy="769441"/>
          </a:xfrm>
          <a:prstGeom prst="rect">
            <a:avLst/>
          </a:prstGeom>
          <a:noFill/>
        </p:spPr>
        <p:txBody>
          <a:bodyPr wrap="square" rtlCol="0">
            <a:spAutoFit/>
          </a:bodyPr>
          <a:lstStyle/>
          <a:p>
            <a:r>
              <a:rPr lang="en-US" sz="1100" b="1">
                <a:solidFill>
                  <a:schemeClr val="accent5"/>
                </a:solidFill>
                <a:ea typeface="Roboto Black" panose="02000000000000000000" pitchFamily="2" charset="0"/>
              </a:rPr>
              <a:t>IPO ready</a:t>
            </a:r>
          </a:p>
          <a:p>
            <a:r>
              <a:rPr lang="en-US" sz="1100">
                <a:solidFill>
                  <a:schemeClr val="accent5"/>
                </a:solidFill>
                <a:ea typeface="Roboto Medium" panose="02000000000000000000" pitchFamily="2" charset="0"/>
              </a:rPr>
              <a:t>Helped turn company profitable and ready for IPO</a:t>
            </a:r>
          </a:p>
        </p:txBody>
      </p:sp>
    </p:spTree>
    <p:extLst>
      <p:ext uri="{BB962C8B-B14F-4D97-AF65-F5344CB8AC3E}">
        <p14:creationId xmlns:p14="http://schemas.microsoft.com/office/powerpoint/2010/main" val="15974601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70" imgH="469" progId="TCLayout.ActiveDocument.1">
                  <p:embed/>
                </p:oleObj>
              </mc:Choice>
              <mc:Fallback>
                <p:oleObj name="think-cell Slide" r:id="rId5" imgW="470" imgH="469" progId="TCLayout.ActiveDocument.1">
                  <p:embed/>
                  <p:pic>
                    <p:nvPicPr>
                      <p:cNvPr id="5" name="Object 4"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4" name="Rectangle 3" hidden="1"/>
          <p:cNvSpPr/>
          <p:nvPr>
            <p:custDataLst>
              <p:tags r:id="rId2"/>
            </p:custDataLst>
          </p:nvPr>
        </p:nvSpPr>
        <p:spPr>
          <a:xfrm>
            <a:off x="0" y="0"/>
            <a:ext cx="158750" cy="1587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marR="0" lvl="0" indent="0" algn="ctr" defTabSz="914400" rtl="0" eaLnBrk="1" fontAlgn="auto" latinLnBrk="0" hangingPunct="1">
              <a:lnSpc>
                <a:spcPct val="90000"/>
              </a:lnSpc>
              <a:spcBef>
                <a:spcPct val="0"/>
              </a:spcBef>
              <a:spcAft>
                <a:spcPct val="0"/>
              </a:spcAft>
              <a:buClrTx/>
              <a:buSzTx/>
              <a:buFontTx/>
              <a:buNone/>
              <a:tabLst/>
              <a:defRPr/>
            </a:pPr>
            <a:endParaRPr kumimoji="0" lang="en-IN" sz="1400" b="0" i="0" u="none" strike="noStrike" kern="1200" cap="none" spc="0" normalizeH="0" baseline="0" noProof="0">
              <a:ln>
                <a:noFill/>
              </a:ln>
              <a:solidFill>
                <a:prstClr val="white"/>
              </a:solidFill>
              <a:effectLst/>
              <a:uLnTx/>
              <a:uFillTx/>
              <a:latin typeface="Roboto "/>
              <a:ea typeface="Roboto Condensed" panose="02000000000000000000" pitchFamily="2" charset="0"/>
              <a:cs typeface="+mn-cs"/>
              <a:sym typeface="+mj-lt"/>
            </a:endParaRPr>
          </a:p>
        </p:txBody>
      </p:sp>
      <p:sp>
        <p:nvSpPr>
          <p:cNvPr id="2" name="Title 1"/>
          <p:cNvSpPr>
            <a:spLocks noGrp="1"/>
          </p:cNvSpPr>
          <p:nvPr>
            <p:ph type="title"/>
          </p:nvPr>
        </p:nvSpPr>
        <p:spPr/>
        <p:txBody>
          <a:bodyPr vert="horz">
            <a:noAutofit/>
          </a:bodyPr>
          <a:lstStyle/>
          <a:p>
            <a:r>
              <a:rPr lang="en-US" sz="3200" cap="none">
                <a:solidFill>
                  <a:schemeClr val="accent5"/>
                </a:solidFill>
              </a:rPr>
              <a:t>Disclaimer</a:t>
            </a:r>
          </a:p>
        </p:txBody>
      </p:sp>
      <p:sp>
        <p:nvSpPr>
          <p:cNvPr id="19" name="Text Placeholder 2">
            <a:extLst>
              <a:ext uri="{FF2B5EF4-FFF2-40B4-BE49-F238E27FC236}">
                <a16:creationId xmlns:a16="http://schemas.microsoft.com/office/drawing/2014/main" id="{696918EF-D0CF-430D-8E47-58D5A1C50CB6}"/>
              </a:ext>
            </a:extLst>
          </p:cNvPr>
          <p:cNvSpPr txBox="1">
            <a:spLocks/>
          </p:cNvSpPr>
          <p:nvPr/>
        </p:nvSpPr>
        <p:spPr>
          <a:xfrm>
            <a:off x="667206" y="1108038"/>
            <a:ext cx="7886700" cy="4896521"/>
          </a:xfrm>
          <a:prstGeom prst="rect">
            <a:avLst/>
          </a:prstGeom>
          <a:ln>
            <a:noFill/>
          </a:ln>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78AC4"/>
              </a:buClr>
              <a:buSzPct val="100000"/>
              <a:buFont typeface="Arial" pitchFamily="34" charset="0"/>
              <a:buChar char="•"/>
              <a:defRPr sz="2400" b="1" kern="1200">
                <a:solidFill>
                  <a:schemeClr val="tx1"/>
                </a:solidFill>
                <a:latin typeface="+mj-lt"/>
                <a:ea typeface="Roboto Condensed" panose="02000000000000000000" pitchFamily="2" charset="0"/>
                <a:cs typeface="+mn-cs"/>
              </a:defRPr>
            </a:lvl1pPr>
            <a:lvl2pPr marL="714375" indent="-295275" algn="l" defTabSz="914400" rtl="0" eaLnBrk="1" latinLnBrk="0" hangingPunct="1">
              <a:lnSpc>
                <a:spcPct val="90000"/>
              </a:lnSpc>
              <a:spcBef>
                <a:spcPts val="500"/>
              </a:spcBef>
              <a:buClr>
                <a:srgbClr val="078AC4"/>
              </a:buClr>
              <a:buSzPct val="100000"/>
              <a:buFont typeface="Calibri" pitchFamily="34" charset="0"/>
              <a:buChar char="‒"/>
              <a:defRPr sz="2000" kern="1200">
                <a:solidFill>
                  <a:schemeClr val="accent5"/>
                </a:solidFill>
                <a:latin typeface="+mj-lt"/>
                <a:ea typeface="Roboto Condensed" panose="02000000000000000000" pitchFamily="2" charset="0"/>
                <a:cs typeface="+mn-cs"/>
              </a:defRPr>
            </a:lvl2pPr>
            <a:lvl3pPr marL="625475" indent="-163513" algn="l" defTabSz="914400" rtl="0" eaLnBrk="1" latinLnBrk="0" hangingPunct="1">
              <a:lnSpc>
                <a:spcPct val="90000"/>
              </a:lnSpc>
              <a:spcBef>
                <a:spcPts val="500"/>
              </a:spcBef>
              <a:buSzPct val="100000"/>
              <a:buFont typeface="Roboto Condensed" panose="02000000000000000000" pitchFamily="2" charset="0"/>
              <a:buChar char="­"/>
              <a:defRPr sz="1400" kern="1200">
                <a:solidFill>
                  <a:schemeClr val="accent5"/>
                </a:solidFill>
                <a:latin typeface="+mj-lt"/>
                <a:ea typeface="Roboto Condensed" panose="02000000000000000000" pitchFamily="2" charset="0"/>
                <a:cs typeface="+mn-cs"/>
              </a:defRPr>
            </a:lvl3pPr>
            <a:lvl4pPr marL="1162050" indent="-266700" algn="l" defTabSz="914400" rtl="0" eaLnBrk="1" latinLnBrk="0" hangingPunct="1">
              <a:lnSpc>
                <a:spcPct val="90000"/>
              </a:lnSpc>
              <a:spcBef>
                <a:spcPts val="500"/>
              </a:spcBef>
              <a:buClr>
                <a:srgbClr val="078AC4"/>
              </a:buClr>
              <a:buSzPct val="100000"/>
              <a:buFont typeface="Arial" pitchFamily="34" charset="0"/>
              <a:buChar char="•"/>
              <a:tabLst>
                <a:tab pos="809625" algn="l"/>
              </a:tabLst>
              <a:defRPr sz="1800" kern="1200">
                <a:solidFill>
                  <a:schemeClr val="accent5"/>
                </a:solidFill>
                <a:latin typeface="+mj-lt"/>
                <a:ea typeface="Roboto Condensed" panose="02000000000000000000" pitchFamily="2" charset="0"/>
                <a:cs typeface="+mn-cs"/>
              </a:defRPr>
            </a:lvl4pPr>
            <a:lvl5pPr marL="857250" indent="-115888" algn="l" defTabSz="914400" rtl="0" eaLnBrk="1" latinLnBrk="0" hangingPunct="1">
              <a:lnSpc>
                <a:spcPct val="90000"/>
              </a:lnSpc>
              <a:spcBef>
                <a:spcPts val="500"/>
              </a:spcBef>
              <a:buSzPct val="100000"/>
              <a:buFont typeface="Roboto Condensed" panose="02000000000000000000" pitchFamily="2" charset="0"/>
              <a:buChar char="­"/>
              <a:defRPr sz="1200" kern="1200">
                <a:solidFill>
                  <a:schemeClr val="accent5"/>
                </a:solidFill>
                <a:latin typeface="+mj-lt"/>
                <a:ea typeface="Roboto Condensed"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7625" indent="0">
              <a:lnSpc>
                <a:spcPct val="100000"/>
              </a:lnSpc>
              <a:spcBef>
                <a:spcPts val="0"/>
              </a:spcBef>
              <a:buClr>
                <a:srgbClr val="919191">
                  <a:lumMod val="50000"/>
                </a:srgbClr>
              </a:buClr>
              <a:buNone/>
            </a:pPr>
            <a:r>
              <a:rPr lang="en-US" sz="900">
                <a:solidFill>
                  <a:schemeClr val="tx1">
                    <a:lumMod val="65000"/>
                    <a:lumOff val="35000"/>
                  </a:schemeClr>
                </a:solidFill>
                <a:latin typeface="+mn-lt"/>
                <a:ea typeface="Roboto Condensed Light" panose="02000000000000000000" pitchFamily="2" charset="0"/>
                <a:cs typeface="Helvetica"/>
              </a:rPr>
              <a:t>QUALIFICATIONS:</a:t>
            </a:r>
          </a:p>
          <a:p>
            <a:pPr marL="47625" indent="0">
              <a:lnSpc>
                <a:spcPct val="100000"/>
              </a:lnSpc>
              <a:spcBef>
                <a:spcPts val="0"/>
              </a:spcBef>
              <a:buClr>
                <a:srgbClr val="919191">
                  <a:lumMod val="50000"/>
                </a:srgbClr>
              </a:buClr>
              <a:buNone/>
            </a:pPr>
            <a:endParaRPr lang="en-US" sz="900" b="0">
              <a:solidFill>
                <a:schemeClr val="tx1">
                  <a:lumMod val="65000"/>
                  <a:lumOff val="35000"/>
                </a:schemeClr>
              </a:solidFill>
              <a:latin typeface="+mn-lt"/>
              <a:ea typeface="Roboto Condensed Light" panose="02000000000000000000" pitchFamily="2" charset="0"/>
              <a:cs typeface="Helvetica"/>
            </a:endParaRPr>
          </a:p>
          <a:p>
            <a:pPr marL="47625" indent="0">
              <a:lnSpc>
                <a:spcPct val="100000"/>
              </a:lnSpc>
              <a:spcBef>
                <a:spcPts val="0"/>
              </a:spcBef>
              <a:buClr>
                <a:srgbClr val="919191">
                  <a:lumMod val="50000"/>
                </a:srgbClr>
              </a:buClr>
              <a:buNone/>
            </a:pPr>
            <a:r>
              <a:rPr lang="en-US" sz="900" b="0">
                <a:solidFill>
                  <a:schemeClr val="tx1">
                    <a:lumMod val="65000"/>
                    <a:lumOff val="35000"/>
                  </a:schemeClr>
                </a:solidFill>
                <a:latin typeface="+mn-lt"/>
                <a:ea typeface="Roboto Condensed Light" panose="02000000000000000000" pitchFamily="2" charset="0"/>
                <a:cs typeface="Helvetica"/>
              </a:rPr>
              <a:t>This presentation contains information about </a:t>
            </a:r>
            <a:r>
              <a:rPr lang="en-US" sz="900" b="0" err="1">
                <a:solidFill>
                  <a:schemeClr val="tx1">
                    <a:lumMod val="65000"/>
                    <a:lumOff val="35000"/>
                  </a:schemeClr>
                </a:solidFill>
                <a:latin typeface="+mn-lt"/>
                <a:ea typeface="Roboto Condensed Light" panose="02000000000000000000" pitchFamily="2" charset="0"/>
                <a:cs typeface="Helvetica"/>
              </a:rPr>
              <a:t>WestBridge</a:t>
            </a:r>
            <a:r>
              <a:rPr lang="en-US" sz="900" b="0">
                <a:solidFill>
                  <a:schemeClr val="tx1">
                    <a:lumMod val="65000"/>
                    <a:lumOff val="35000"/>
                  </a:schemeClr>
                </a:solidFill>
                <a:latin typeface="+mn-lt"/>
                <a:ea typeface="Roboto Condensed Light" panose="02000000000000000000" pitchFamily="2" charset="0"/>
                <a:cs typeface="Helvetica"/>
              </a:rPr>
              <a:t> Crossover Fund, LLC and its subsidiaries as determined for purposes of US GAAP (the “Fund”) and some of its select portfolio companies and has been prepared solely for your information purposes only. This is not a solicitation or an offer to buy any security or instrument or to participate in any trading strategy of any </a:t>
            </a:r>
            <a:r>
              <a:rPr lang="en-US" sz="900" b="0" err="1">
                <a:solidFill>
                  <a:schemeClr val="tx1">
                    <a:lumMod val="65000"/>
                    <a:lumOff val="35000"/>
                  </a:schemeClr>
                </a:solidFill>
                <a:latin typeface="+mn-lt"/>
                <a:ea typeface="Roboto Condensed Light" panose="02000000000000000000" pitchFamily="2" charset="0"/>
                <a:cs typeface="Helvetica"/>
              </a:rPr>
              <a:t>WestBridge</a:t>
            </a:r>
            <a:r>
              <a:rPr lang="en-US" sz="900" b="0">
                <a:solidFill>
                  <a:schemeClr val="tx1">
                    <a:lumMod val="65000"/>
                    <a:lumOff val="35000"/>
                  </a:schemeClr>
                </a:solidFill>
                <a:latin typeface="+mn-lt"/>
                <a:ea typeface="Roboto Condensed Light" panose="02000000000000000000" pitchFamily="2" charset="0"/>
                <a:cs typeface="Helvetica"/>
              </a:rPr>
              <a:t> Fund.</a:t>
            </a:r>
          </a:p>
          <a:p>
            <a:pPr marL="47625" indent="0">
              <a:lnSpc>
                <a:spcPct val="100000"/>
              </a:lnSpc>
              <a:spcBef>
                <a:spcPts val="0"/>
              </a:spcBef>
              <a:buClr>
                <a:srgbClr val="919191">
                  <a:lumMod val="50000"/>
                </a:srgbClr>
              </a:buClr>
              <a:buNone/>
            </a:pPr>
            <a:endParaRPr lang="en-US" sz="900" b="0">
              <a:solidFill>
                <a:schemeClr val="tx1">
                  <a:lumMod val="65000"/>
                  <a:lumOff val="35000"/>
                </a:schemeClr>
              </a:solidFill>
              <a:latin typeface="+mn-lt"/>
              <a:ea typeface="Roboto Condensed Light" panose="02000000000000000000" pitchFamily="2" charset="0"/>
              <a:cs typeface="Helvetica"/>
            </a:endParaRPr>
          </a:p>
          <a:p>
            <a:pPr marL="47625" indent="0">
              <a:lnSpc>
                <a:spcPct val="100000"/>
              </a:lnSpc>
              <a:spcBef>
                <a:spcPts val="0"/>
              </a:spcBef>
              <a:buClr>
                <a:srgbClr val="919191">
                  <a:lumMod val="50000"/>
                </a:srgbClr>
              </a:buClr>
              <a:buNone/>
            </a:pPr>
            <a:r>
              <a:rPr lang="en-US" sz="900" b="0">
                <a:solidFill>
                  <a:schemeClr val="tx1">
                    <a:lumMod val="65000"/>
                    <a:lumOff val="35000"/>
                  </a:schemeClr>
                </a:solidFill>
                <a:latin typeface="+mn-lt"/>
                <a:ea typeface="Roboto Condensed Light" panose="02000000000000000000" pitchFamily="2" charset="0"/>
                <a:cs typeface="Helvetica"/>
              </a:rPr>
              <a:t>The contents of this presentation shall be maintained in strict confidence by all recipients. Any reproduction or distribution of this presentation, in whole or in part, or the disclosure of its contents, without the prior written consent of the Fund is strictly prohibited. Any reproduction or distribution of this presentation, in whole or in part, or the disclosure of its contents, without the prior written consent of </a:t>
            </a:r>
            <a:r>
              <a:rPr lang="en-US" sz="900" b="0" err="1">
                <a:solidFill>
                  <a:schemeClr val="tx1">
                    <a:lumMod val="65000"/>
                    <a:lumOff val="35000"/>
                  </a:schemeClr>
                </a:solidFill>
                <a:latin typeface="+mn-lt"/>
                <a:ea typeface="Roboto Condensed Light" panose="02000000000000000000" pitchFamily="2" charset="0"/>
                <a:cs typeface="Helvetica"/>
              </a:rPr>
              <a:t>WestBridge</a:t>
            </a:r>
            <a:r>
              <a:rPr lang="en-US" sz="900" b="0">
                <a:solidFill>
                  <a:schemeClr val="tx1">
                    <a:lumMod val="65000"/>
                    <a:lumOff val="35000"/>
                  </a:schemeClr>
                </a:solidFill>
                <a:latin typeface="+mn-lt"/>
                <a:ea typeface="Roboto Condensed Light" panose="02000000000000000000" pitchFamily="2" charset="0"/>
                <a:cs typeface="Helvetica"/>
              </a:rPr>
              <a:t> is strictly prohibited.</a:t>
            </a:r>
          </a:p>
          <a:p>
            <a:pPr marL="47625" indent="0">
              <a:lnSpc>
                <a:spcPct val="100000"/>
              </a:lnSpc>
              <a:spcBef>
                <a:spcPts val="0"/>
              </a:spcBef>
              <a:buClr>
                <a:srgbClr val="919191">
                  <a:lumMod val="50000"/>
                </a:srgbClr>
              </a:buClr>
              <a:buNone/>
            </a:pPr>
            <a:endParaRPr lang="en-US" sz="900" b="0">
              <a:solidFill>
                <a:schemeClr val="tx1">
                  <a:lumMod val="65000"/>
                  <a:lumOff val="35000"/>
                </a:schemeClr>
              </a:solidFill>
              <a:latin typeface="+mn-lt"/>
              <a:ea typeface="Roboto Condensed Light" panose="02000000000000000000" pitchFamily="2" charset="0"/>
              <a:cs typeface="Helvetica"/>
            </a:endParaRPr>
          </a:p>
          <a:p>
            <a:pPr marL="47625" indent="0">
              <a:lnSpc>
                <a:spcPct val="100000"/>
              </a:lnSpc>
              <a:spcBef>
                <a:spcPts val="0"/>
              </a:spcBef>
              <a:buClr>
                <a:srgbClr val="919191">
                  <a:lumMod val="50000"/>
                </a:srgbClr>
              </a:buClr>
              <a:buNone/>
            </a:pPr>
            <a:r>
              <a:rPr lang="en-US" sz="900" b="0">
                <a:solidFill>
                  <a:schemeClr val="tx1">
                    <a:lumMod val="65000"/>
                    <a:lumOff val="35000"/>
                  </a:schemeClr>
                </a:solidFill>
                <a:latin typeface="+mn-lt"/>
                <a:ea typeface="Roboto Condensed Light" panose="02000000000000000000" pitchFamily="2" charset="0"/>
                <a:cs typeface="Helvetica"/>
              </a:rPr>
              <a:t>The information set forth herein does not purport to be complete and no obligation to update or otherwise revise such information is being assumed. Moreover, certain information contained herein has been obtained from published and non-published sources prepared by other parties and intermediaries, which in certain cases has not been updated through the date hereof. While such sources are believed to be reliable for the purposes used herein, </a:t>
            </a:r>
            <a:r>
              <a:rPr lang="en-US" sz="900" b="0" err="1">
                <a:solidFill>
                  <a:schemeClr val="tx1">
                    <a:lumMod val="65000"/>
                    <a:lumOff val="35000"/>
                  </a:schemeClr>
                </a:solidFill>
                <a:latin typeface="+mn-lt"/>
                <a:ea typeface="Roboto Condensed Light" panose="02000000000000000000" pitchFamily="2" charset="0"/>
                <a:cs typeface="Helvetica"/>
              </a:rPr>
              <a:t>WestBridge</a:t>
            </a:r>
            <a:r>
              <a:rPr lang="en-US" sz="900" b="0">
                <a:solidFill>
                  <a:schemeClr val="tx1">
                    <a:lumMod val="65000"/>
                    <a:lumOff val="35000"/>
                  </a:schemeClr>
                </a:solidFill>
                <a:latin typeface="+mn-lt"/>
                <a:ea typeface="Roboto Condensed Light" panose="02000000000000000000" pitchFamily="2" charset="0"/>
                <a:cs typeface="Helvetica"/>
              </a:rPr>
              <a:t> does not assume any responsibility for the accuracy or completeness of such information.  Further, no third party has assumed responsibility for independently verifying the information contained herein and accordingly, no such persons make any representation with respect to the accuracy, completeness or reasonableness of the information provided herein.  Unless otherwise indicated, market analyses and conclusions are based upon opinions or assumptions that </a:t>
            </a:r>
            <a:r>
              <a:rPr lang="en-US" sz="900" b="0" err="1">
                <a:solidFill>
                  <a:schemeClr val="tx1">
                    <a:lumMod val="65000"/>
                    <a:lumOff val="35000"/>
                  </a:schemeClr>
                </a:solidFill>
                <a:latin typeface="+mn-lt"/>
                <a:ea typeface="Roboto Condensed Light" panose="02000000000000000000" pitchFamily="2" charset="0"/>
                <a:cs typeface="Helvetica"/>
              </a:rPr>
              <a:t>WestBridge</a:t>
            </a:r>
            <a:r>
              <a:rPr lang="en-US" sz="900" b="0">
                <a:solidFill>
                  <a:schemeClr val="tx1">
                    <a:lumMod val="65000"/>
                    <a:lumOff val="35000"/>
                  </a:schemeClr>
                </a:solidFill>
                <a:latin typeface="+mn-lt"/>
                <a:ea typeface="Roboto Condensed Light" panose="02000000000000000000" pitchFamily="2" charset="0"/>
                <a:cs typeface="Helvetica"/>
              </a:rPr>
              <a:t> considers to be reasonable.</a:t>
            </a:r>
          </a:p>
          <a:p>
            <a:pPr marL="47625" indent="0">
              <a:lnSpc>
                <a:spcPct val="100000"/>
              </a:lnSpc>
              <a:spcBef>
                <a:spcPts val="0"/>
              </a:spcBef>
              <a:buClr>
                <a:srgbClr val="919191">
                  <a:lumMod val="50000"/>
                </a:srgbClr>
              </a:buClr>
              <a:buNone/>
            </a:pPr>
            <a:endParaRPr lang="en-US" sz="900" b="0">
              <a:solidFill>
                <a:schemeClr val="tx1">
                  <a:lumMod val="65000"/>
                  <a:lumOff val="35000"/>
                </a:schemeClr>
              </a:solidFill>
              <a:latin typeface="+mn-lt"/>
              <a:ea typeface="Roboto Condensed Light" panose="02000000000000000000" pitchFamily="2" charset="0"/>
              <a:cs typeface="Helvetica"/>
            </a:endParaRPr>
          </a:p>
          <a:p>
            <a:pPr marL="47625" indent="0">
              <a:lnSpc>
                <a:spcPct val="100000"/>
              </a:lnSpc>
              <a:spcBef>
                <a:spcPts val="0"/>
              </a:spcBef>
              <a:buClr>
                <a:srgbClr val="919191">
                  <a:lumMod val="50000"/>
                </a:srgbClr>
              </a:buClr>
              <a:buNone/>
            </a:pPr>
            <a:r>
              <a:rPr lang="en-US" sz="900" b="0">
                <a:solidFill>
                  <a:schemeClr val="tx1">
                    <a:lumMod val="65000"/>
                    <a:lumOff val="35000"/>
                  </a:schemeClr>
                </a:solidFill>
                <a:latin typeface="+mn-lt"/>
                <a:ea typeface="Roboto Condensed Light" panose="02000000000000000000" pitchFamily="2" charset="0"/>
                <a:cs typeface="Helvetica"/>
              </a:rPr>
              <a:t>Multiple slides show </a:t>
            </a:r>
            <a:r>
              <a:rPr lang="en-US" sz="900" b="0" err="1">
                <a:solidFill>
                  <a:schemeClr val="tx1">
                    <a:lumMod val="65000"/>
                    <a:lumOff val="35000"/>
                  </a:schemeClr>
                </a:solidFill>
                <a:latin typeface="+mn-lt"/>
                <a:ea typeface="Roboto Condensed Light" panose="02000000000000000000" pitchFamily="2" charset="0"/>
                <a:cs typeface="Helvetica"/>
              </a:rPr>
              <a:t>WestBridge’s</a:t>
            </a:r>
            <a:r>
              <a:rPr lang="en-US" sz="900" b="0">
                <a:solidFill>
                  <a:schemeClr val="tx1">
                    <a:lumMod val="65000"/>
                    <a:lumOff val="35000"/>
                  </a:schemeClr>
                </a:solidFill>
                <a:latin typeface="+mn-lt"/>
                <a:ea typeface="Roboto Condensed Light" panose="02000000000000000000" pitchFamily="2" charset="0"/>
                <a:cs typeface="Helvetica"/>
              </a:rPr>
              <a:t> investment thesis, opinions and beliefs as of the date of this presentation. Any use of adjectives such as “best in class”, “massive”, “robust”, “superior”, “strong”, “dominant” etc. only reflect </a:t>
            </a:r>
            <a:r>
              <a:rPr lang="en-US" sz="900" b="0" err="1">
                <a:solidFill>
                  <a:schemeClr val="tx1">
                    <a:lumMod val="65000"/>
                    <a:lumOff val="35000"/>
                  </a:schemeClr>
                </a:solidFill>
                <a:latin typeface="+mn-lt"/>
                <a:ea typeface="Roboto Condensed Light" panose="02000000000000000000" pitchFamily="2" charset="0"/>
                <a:cs typeface="Helvetica"/>
              </a:rPr>
              <a:t>WestBridge’s</a:t>
            </a:r>
            <a:r>
              <a:rPr lang="en-US" sz="900" b="0">
                <a:solidFill>
                  <a:schemeClr val="tx1">
                    <a:lumMod val="65000"/>
                    <a:lumOff val="35000"/>
                  </a:schemeClr>
                </a:solidFill>
                <a:latin typeface="+mn-lt"/>
                <a:ea typeface="Roboto Condensed Light" panose="02000000000000000000" pitchFamily="2" charset="0"/>
                <a:cs typeface="Helvetica"/>
              </a:rPr>
              <a:t> belief and view of a particular aspect of the portfolio company as shown in such slides. </a:t>
            </a:r>
          </a:p>
          <a:p>
            <a:pPr marL="47625" indent="0">
              <a:lnSpc>
                <a:spcPct val="100000"/>
              </a:lnSpc>
              <a:spcBef>
                <a:spcPts val="0"/>
              </a:spcBef>
              <a:buClr>
                <a:srgbClr val="919191">
                  <a:lumMod val="50000"/>
                </a:srgbClr>
              </a:buClr>
              <a:buNone/>
            </a:pPr>
            <a:endParaRPr lang="en-US" sz="900" b="0">
              <a:solidFill>
                <a:schemeClr val="tx1">
                  <a:lumMod val="65000"/>
                  <a:lumOff val="35000"/>
                </a:schemeClr>
              </a:solidFill>
              <a:latin typeface="+mn-lt"/>
              <a:ea typeface="Roboto Condensed Light" panose="02000000000000000000" pitchFamily="2" charset="0"/>
              <a:cs typeface="Helvetica"/>
            </a:endParaRPr>
          </a:p>
          <a:p>
            <a:pPr marL="47625" indent="0">
              <a:lnSpc>
                <a:spcPct val="100000"/>
              </a:lnSpc>
              <a:spcBef>
                <a:spcPts val="0"/>
              </a:spcBef>
              <a:buClr>
                <a:srgbClr val="919191">
                  <a:lumMod val="50000"/>
                </a:srgbClr>
              </a:buClr>
              <a:buNone/>
            </a:pPr>
            <a:r>
              <a:rPr lang="en-US" sz="900" b="0">
                <a:solidFill>
                  <a:schemeClr val="tx1">
                    <a:lumMod val="65000"/>
                    <a:lumOff val="35000"/>
                  </a:schemeClr>
                </a:solidFill>
                <a:latin typeface="+mn-lt"/>
                <a:ea typeface="Roboto Condensed Light" panose="02000000000000000000" pitchFamily="2" charset="0"/>
                <a:cs typeface="Helvetica"/>
              </a:rPr>
              <a:t>There is no guarantee that any investment will perform as projected. Further, the information contained herein does not take into account the particular investment objectives or financial circumstances of any particular investor. </a:t>
            </a:r>
          </a:p>
          <a:p>
            <a:pPr marL="47625" indent="0">
              <a:lnSpc>
                <a:spcPct val="100000"/>
              </a:lnSpc>
              <a:spcBef>
                <a:spcPts val="0"/>
              </a:spcBef>
              <a:buClr>
                <a:srgbClr val="919191">
                  <a:lumMod val="50000"/>
                </a:srgbClr>
              </a:buClr>
              <a:buNone/>
            </a:pPr>
            <a:endParaRPr lang="en-US" sz="900" b="0">
              <a:solidFill>
                <a:schemeClr val="tx1">
                  <a:lumMod val="65000"/>
                  <a:lumOff val="35000"/>
                </a:schemeClr>
              </a:solidFill>
              <a:latin typeface="+mn-lt"/>
              <a:ea typeface="Roboto Condensed Light" panose="02000000000000000000" pitchFamily="2" charset="0"/>
              <a:cs typeface="Helvetica"/>
            </a:endParaRPr>
          </a:p>
          <a:p>
            <a:pPr marL="47625" indent="0">
              <a:lnSpc>
                <a:spcPct val="100000"/>
              </a:lnSpc>
              <a:spcBef>
                <a:spcPts val="0"/>
              </a:spcBef>
              <a:buClr>
                <a:srgbClr val="919191">
                  <a:lumMod val="50000"/>
                </a:srgbClr>
              </a:buClr>
              <a:buNone/>
            </a:pPr>
            <a:r>
              <a:rPr lang="en-US" sz="900" b="0">
                <a:solidFill>
                  <a:schemeClr val="tx1">
                    <a:lumMod val="65000"/>
                    <a:lumOff val="35000"/>
                  </a:schemeClr>
                </a:solidFill>
                <a:latin typeface="+mn-lt"/>
                <a:ea typeface="Roboto Condensed Light" panose="02000000000000000000" pitchFamily="2" charset="0"/>
                <a:cs typeface="Helvetica"/>
              </a:rPr>
              <a:t>Certain statements, projections or other estimates herein (including estimates of value, returns or performance) are forward looking statements and are based upon certain assumptions. Other events that were not taken into account may occur and may significantly affect the analysis. Any assumptions should not be construed to be indicative of the actual events that will occur. Past performance is not indicative of future performance or results.</a:t>
            </a:r>
          </a:p>
          <a:p>
            <a:pPr marL="47625" indent="0">
              <a:lnSpc>
                <a:spcPct val="100000"/>
              </a:lnSpc>
              <a:spcBef>
                <a:spcPts val="0"/>
              </a:spcBef>
              <a:buClr>
                <a:srgbClr val="919191">
                  <a:lumMod val="50000"/>
                </a:srgbClr>
              </a:buClr>
              <a:buNone/>
            </a:pPr>
            <a:endParaRPr lang="en-US" sz="900" b="0">
              <a:solidFill>
                <a:schemeClr val="tx1">
                  <a:lumMod val="65000"/>
                  <a:lumOff val="35000"/>
                </a:schemeClr>
              </a:solidFill>
              <a:latin typeface="+mn-lt"/>
              <a:ea typeface="Roboto Condensed Light" panose="02000000000000000000" pitchFamily="2" charset="0"/>
              <a:cs typeface="Helvetica"/>
            </a:endParaRPr>
          </a:p>
          <a:p>
            <a:pPr marL="47625" indent="0">
              <a:lnSpc>
                <a:spcPct val="100000"/>
              </a:lnSpc>
              <a:spcBef>
                <a:spcPts val="0"/>
              </a:spcBef>
              <a:buClr>
                <a:srgbClr val="919191">
                  <a:lumMod val="50000"/>
                </a:srgbClr>
              </a:buClr>
              <a:buNone/>
            </a:pPr>
            <a:r>
              <a:rPr lang="en-US" sz="900" b="0">
                <a:solidFill>
                  <a:schemeClr val="tx1">
                    <a:lumMod val="65000"/>
                    <a:lumOff val="35000"/>
                  </a:schemeClr>
                </a:solidFill>
                <a:latin typeface="+mn-lt"/>
                <a:ea typeface="Roboto Condensed Light" panose="02000000000000000000" pitchFamily="2" charset="0"/>
                <a:cs typeface="Helvetica"/>
              </a:rPr>
              <a:t>No person may treat this presentation as constituting either an offer to sell, or as solicitation of an offer to buy, any interest in the Fund nor does this constitute investment advice or as an offer to participate in the trading strategy of any </a:t>
            </a:r>
            <a:r>
              <a:rPr lang="en-US" sz="900" b="0" err="1">
                <a:solidFill>
                  <a:schemeClr val="tx1">
                    <a:lumMod val="65000"/>
                    <a:lumOff val="35000"/>
                  </a:schemeClr>
                </a:solidFill>
                <a:latin typeface="+mn-lt"/>
                <a:ea typeface="Roboto Condensed Light" panose="02000000000000000000" pitchFamily="2" charset="0"/>
                <a:cs typeface="Helvetica"/>
              </a:rPr>
              <a:t>WestBridge</a:t>
            </a:r>
            <a:r>
              <a:rPr lang="en-US" sz="900" b="0">
                <a:solidFill>
                  <a:schemeClr val="tx1">
                    <a:lumMod val="65000"/>
                    <a:lumOff val="35000"/>
                  </a:schemeClr>
                </a:solidFill>
                <a:latin typeface="+mn-lt"/>
                <a:ea typeface="Roboto Condensed Light" panose="02000000000000000000" pitchFamily="2" charset="0"/>
                <a:cs typeface="Helvetica"/>
              </a:rPr>
              <a:t> Fund.</a:t>
            </a:r>
          </a:p>
          <a:p>
            <a:pPr marL="47625" indent="0">
              <a:lnSpc>
                <a:spcPct val="100000"/>
              </a:lnSpc>
              <a:spcBef>
                <a:spcPts val="0"/>
              </a:spcBef>
              <a:buClr>
                <a:srgbClr val="919191">
                  <a:lumMod val="50000"/>
                </a:srgbClr>
              </a:buClr>
              <a:buNone/>
            </a:pPr>
            <a:endParaRPr lang="en-US" sz="900" b="0">
              <a:solidFill>
                <a:schemeClr val="tx1">
                  <a:lumMod val="65000"/>
                  <a:lumOff val="35000"/>
                </a:schemeClr>
              </a:solidFill>
              <a:latin typeface="+mn-lt"/>
              <a:ea typeface="Roboto Condensed Light" panose="02000000000000000000" pitchFamily="2" charset="0"/>
              <a:cs typeface="Helvetica"/>
            </a:endParaRPr>
          </a:p>
          <a:p>
            <a:pPr marL="47625" indent="0">
              <a:lnSpc>
                <a:spcPct val="100000"/>
              </a:lnSpc>
              <a:spcBef>
                <a:spcPts val="0"/>
              </a:spcBef>
              <a:buClr>
                <a:srgbClr val="919191">
                  <a:lumMod val="50000"/>
                </a:srgbClr>
              </a:buClr>
              <a:buNone/>
            </a:pPr>
            <a:r>
              <a:rPr lang="en-US" sz="900" b="0">
                <a:solidFill>
                  <a:schemeClr val="tx1">
                    <a:lumMod val="65000"/>
                    <a:lumOff val="35000"/>
                  </a:schemeClr>
                </a:solidFill>
                <a:latin typeface="+mn-lt"/>
                <a:ea typeface="Roboto Condensed Light" panose="02000000000000000000" pitchFamily="2" charset="0"/>
                <a:cs typeface="Helvetica"/>
              </a:rPr>
              <a:t>Please note that the </a:t>
            </a:r>
            <a:r>
              <a:rPr lang="en-US" sz="900" b="0" err="1">
                <a:solidFill>
                  <a:schemeClr val="tx1">
                    <a:lumMod val="65000"/>
                    <a:lumOff val="35000"/>
                  </a:schemeClr>
                </a:solidFill>
                <a:latin typeface="+mn-lt"/>
                <a:ea typeface="Roboto Condensed Light" panose="02000000000000000000" pitchFamily="2" charset="0"/>
                <a:cs typeface="Helvetica"/>
              </a:rPr>
              <a:t>WestBridge</a:t>
            </a:r>
            <a:r>
              <a:rPr lang="en-US" sz="900" b="0">
                <a:solidFill>
                  <a:schemeClr val="tx1">
                    <a:lumMod val="65000"/>
                    <a:lumOff val="35000"/>
                  </a:schemeClr>
                </a:solidFill>
                <a:latin typeface="+mn-lt"/>
                <a:ea typeface="Roboto Condensed Light" panose="02000000000000000000" pitchFamily="2" charset="0"/>
                <a:cs typeface="Helvetica"/>
              </a:rPr>
              <a:t> Funds are high-risk investment vehicles and investments therein are available only to qualified individuals or entities that are willing to assume above-average risk and have limited liquidity with a portion of their net-worth. There can be no guarantee that the investment objectives of any </a:t>
            </a:r>
            <a:r>
              <a:rPr lang="en-US" sz="900" b="0" err="1">
                <a:solidFill>
                  <a:schemeClr val="tx1">
                    <a:lumMod val="65000"/>
                    <a:lumOff val="35000"/>
                  </a:schemeClr>
                </a:solidFill>
                <a:latin typeface="+mn-lt"/>
                <a:ea typeface="Roboto Condensed Light" panose="02000000000000000000" pitchFamily="2" charset="0"/>
                <a:cs typeface="Helvetica"/>
              </a:rPr>
              <a:t>WestBridge</a:t>
            </a:r>
            <a:r>
              <a:rPr lang="en-US" sz="900" b="0">
                <a:solidFill>
                  <a:schemeClr val="tx1">
                    <a:lumMod val="65000"/>
                    <a:lumOff val="35000"/>
                  </a:schemeClr>
                </a:solidFill>
                <a:latin typeface="+mn-lt"/>
                <a:ea typeface="Roboto Condensed Light" panose="02000000000000000000" pitchFamily="2" charset="0"/>
                <a:cs typeface="Helvetica"/>
              </a:rPr>
              <a:t> Fund will be achieved, and an entire loss of principal may occur. Please do refer to the relevant </a:t>
            </a:r>
            <a:r>
              <a:rPr lang="en-US" sz="900" b="0" err="1">
                <a:solidFill>
                  <a:schemeClr val="tx1">
                    <a:lumMod val="65000"/>
                    <a:lumOff val="35000"/>
                  </a:schemeClr>
                </a:solidFill>
                <a:latin typeface="+mn-lt"/>
                <a:ea typeface="Roboto Condensed Light" panose="02000000000000000000" pitchFamily="2" charset="0"/>
                <a:cs typeface="Helvetica"/>
              </a:rPr>
              <a:t>WestBridge</a:t>
            </a:r>
            <a:r>
              <a:rPr lang="en-US" sz="900" b="0">
                <a:solidFill>
                  <a:schemeClr val="tx1">
                    <a:lumMod val="65000"/>
                    <a:lumOff val="35000"/>
                  </a:schemeClr>
                </a:solidFill>
                <a:latin typeface="+mn-lt"/>
                <a:ea typeface="Roboto Condensed Light" panose="02000000000000000000" pitchFamily="2" charset="0"/>
                <a:cs typeface="Helvetica"/>
              </a:rPr>
              <a:t> Fund’s final confidential offering memorandum, shareholders’ agreement, Form ADV of </a:t>
            </a:r>
            <a:r>
              <a:rPr lang="en-US" sz="900" b="0" err="1">
                <a:solidFill>
                  <a:schemeClr val="tx1">
                    <a:lumMod val="65000"/>
                    <a:lumOff val="35000"/>
                  </a:schemeClr>
                </a:solidFill>
                <a:latin typeface="+mn-lt"/>
                <a:ea typeface="Roboto Condensed Light" panose="02000000000000000000" pitchFamily="2" charset="0"/>
                <a:cs typeface="Helvetica"/>
              </a:rPr>
              <a:t>WestBridge</a:t>
            </a:r>
            <a:r>
              <a:rPr lang="en-US" sz="900" b="0">
                <a:solidFill>
                  <a:schemeClr val="tx1">
                    <a:lumMod val="65000"/>
                    <a:lumOff val="35000"/>
                  </a:schemeClr>
                </a:solidFill>
                <a:latin typeface="+mn-lt"/>
                <a:ea typeface="Roboto Condensed Light" panose="02000000000000000000" pitchFamily="2" charset="0"/>
                <a:cs typeface="Helvetica"/>
              </a:rPr>
              <a:t> Capital and other related documents for additional information regarding risks and conflicts of interests. No guarantee of investment performance is being provided and no inference to the contrary should be made.</a:t>
            </a:r>
          </a:p>
        </p:txBody>
      </p:sp>
    </p:spTree>
    <p:extLst>
      <p:ext uri="{BB962C8B-B14F-4D97-AF65-F5344CB8AC3E}">
        <p14:creationId xmlns:p14="http://schemas.microsoft.com/office/powerpoint/2010/main" val="10607262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EE4P_STYLE_ID" val="1d665b89-7fc5-40a7-a5b1-3a52b3ba010e"/>
  <p:tag name="EE4P_LANGUAGE_ID" val="1033"/>
  <p:tag name="THINKCELLPRESENTATIONDONOTDELETE" val="&lt;?xml version=&quot;1.0&quot; encoding=&quot;UTF-16&quot; standalone=&quot;yes&quot;?&gt;&lt;root reqver=&quot;28224&quot;&gt;&lt;version val=&quot;35542&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m/%#d/%Y&lt;/m_strFormatTime&gt;&lt;m_yearfmt&gt;&lt;begin val=&quot;0&quot;/&gt;&lt;end val=&quot;0&quot;/&gt;&lt;/m_yearfmt&gt;&lt;/m_precDefaultDate&gt;&lt;m_precDefaultDay&gt;&lt;m_bNumberIsYear val=&quot;0&quot;/&gt;&lt;m_strFormatTime&gt;%#d&lt;/m_strFormatTime&gt;&lt;m_yearfmt&gt;&lt;begin val=&quot;0&quot;/&gt;&lt;end val=&quot;4&quot;/&gt;&lt;/m_yearfmt&gt;&lt;/m_precDefaultDay&gt;&lt;m_precDefaultWeek&gt;&lt;m_bNumberIsYear val=&quot;0&quot;/&gt;&lt;m_strFormatTime&gt;%4&lt;/m_strFormatTime&gt;&lt;m_yearfmt&gt;&lt;begin val=&quot;0&quot;/&gt;&lt;end val=&quot;4&quot;/&gt;&lt;/m_yearfmt&gt;&lt;/m_precDefaultWeek&gt;&lt;m_precDefaultMonth&gt;&lt;m_bNumberIsYear val=&quot;0&quot;/&gt;&lt;m_strFormatTime&gt;%1&lt;/m_strFormatTime&gt;&lt;m_yearfmt&gt;&lt;begin val=&quot;0&quot;/&gt;&lt;end val=&quot;4&quot;/&gt;&lt;/m_yearfmt&gt;&lt;/m_precDefaultMonth&gt;&lt;m_precDefaultQuarter&gt;&lt;m_bNumberIsYear val=&quot;0&quot;/&gt;&lt;m_strFormatTime&gt;Q%5&lt;/m_strFormatTime&gt;&lt;m_yearfmt&gt;&lt;begin val=&quot;0&quot;/&gt;&lt;end val=&quot;4&quot;/&gt;&lt;/m_yearfmt&gt;&lt;/m_precDefaultQuarter&gt;&lt;m_precDefaultYear&gt;&lt;m_yearfmt&gt;&lt;begin val=&quot;0&quot;/&gt;&lt;end val=&quot;4&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6&quot;&gt;&lt;elem m_fUsage=&quot;3.98157852063961037459E+00&quot;&gt;&lt;m_msothmcolidx val=&quot;0&quot;/&gt;&lt;m_rgb r=&quot;40&quot; g=&quot;A3&quot; b=&quot;1F&quot;/&gt;&lt;/elem&gt;&lt;elem m_fUsage=&quot;2.23126962719908483734E+00&quot;&gt;&lt;m_msothmcolidx val=&quot;0&quot;/&gt;&lt;m_rgb r=&quot;0C&quot; g=&quot;03&quot; b=&quot;A9&quot;/&gt;&lt;/elem&gt;&lt;elem m_fUsage=&quot;1.28142705909131526809E+00&quot;&gt;&lt;m_msothmcolidx val=&quot;0&quot;/&gt;&lt;m_rgb r=&quot;E6&quot; g=&quot;AC&quot; b=&quot;00&quot;/&gt;&lt;/elem&gt;&lt;elem m_fUsage=&quot;1.18764294576409978887E+00&quot;&gt;&lt;m_msothmcolidx val=&quot;0&quot;/&gt;&lt;m_rgb r=&quot;EF&quot; g=&quot;EF&quot; b=&quot;EF&quot;/&gt;&lt;/elem&gt;&lt;elem m_fUsage=&quot;1.03831641805279994983E+00&quot;&gt;&lt;m_msothmcolidx val=&quot;0&quot;/&gt;&lt;m_rgb r=&quot;BF&quot; g=&quot;BF&quot; b=&quot;BF&quot;/&gt;&lt;/elem&gt;&lt;elem m_fUsage=&quot;1.92485793572215374558E-01&quot;&gt;&lt;m_msothmcolidx val=&quot;0&quot;/&gt;&lt;m_rgb r=&quot;E0&quot; g=&quot;6F&quot; b=&quot;1B&quot;/&gt;&lt;/elem&gt;&lt;/m_vecMRU&gt;&lt;/m_mruColor&gt;&lt;m_eweekdayFirstOfWeek val=&quot;1&quot;/&gt;&lt;m_eweekdayFirstOfWorkweek val=&quot;2&quot;/&gt;&lt;m_eweekdayFirstOfWeekend val=&quot;7&quot;/&gt;&lt;/CPresentation&gt;&lt;/root&g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dhZmMttlSk22OTNkIpKBPw"/>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MVBzAtG7RIyo.o9mj6q4B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EE4P_TEMPLATESTYLE" val="3"/>
</p:tagLst>
</file>

<file path=ppt/tags/tag8.xml><?xml version="1.0" encoding="utf-8"?>
<p:tagLst xmlns:a="http://schemas.openxmlformats.org/drawingml/2006/main" xmlns:r="http://schemas.openxmlformats.org/officeDocument/2006/relationships" xmlns:p="http://schemas.openxmlformats.org/presentationml/2006/main">
  <p:tag name="EE4P_TEMPLATESTYLE" val="3"/>
</p:tagLst>
</file>

<file path=ppt/tags/tag9.xml><?xml version="1.0" encoding="utf-8"?>
<p:tagLst xmlns:a="http://schemas.openxmlformats.org/drawingml/2006/main" xmlns:r="http://schemas.openxmlformats.org/officeDocument/2006/relationships" xmlns:p="http://schemas.openxmlformats.org/presentationml/2006/main">
  <p:tag name="EE4P_TEMPLATESTYLE" val="3"/>
</p:tagLst>
</file>

<file path=ppt/tags/tag10.xml><?xml version="1.0" encoding="utf-8"?>
<p:tagLst xmlns:a="http://schemas.openxmlformats.org/drawingml/2006/main" xmlns:r="http://schemas.openxmlformats.org/officeDocument/2006/relationships" xmlns:p="http://schemas.openxmlformats.org/presentationml/2006/main">
  <p:tag name="EE4P_TEMPLATESTYLE" val="3"/>
</p:tagLst>
</file>

<file path=ppt/tags/tag11.xml><?xml version="1.0" encoding="utf-8"?>
<p:tagLst xmlns:a="http://schemas.openxmlformats.org/drawingml/2006/main" xmlns:r="http://schemas.openxmlformats.org/officeDocument/2006/relationships" xmlns:p="http://schemas.openxmlformats.org/presentationml/2006/main">
  <p:tag name="EE4P_TEMPLATESTYLE" val="5"/>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EE4P_TEMPLATESTYLE" val="3"/>
</p:tagLst>
</file>

<file path=ppt/tags/tag14.xml><?xml version="1.0" encoding="utf-8"?>
<p:tagLst xmlns:a="http://schemas.openxmlformats.org/drawingml/2006/main" xmlns:r="http://schemas.openxmlformats.org/officeDocument/2006/relationships" xmlns:p="http://schemas.openxmlformats.org/presentationml/2006/main">
  <p:tag name="EE4P_TEMPLATESTYLE" val="3"/>
</p:tagLst>
</file>

<file path=ppt/tags/tag15.xml><?xml version="1.0" encoding="utf-8"?>
<p:tagLst xmlns:a="http://schemas.openxmlformats.org/drawingml/2006/main" xmlns:r="http://schemas.openxmlformats.org/officeDocument/2006/relationships" xmlns:p="http://schemas.openxmlformats.org/presentationml/2006/main">
  <p:tag name="EE4P_TEMPLATESTYLE" val="3"/>
</p:tagLst>
</file>

<file path=ppt/tags/tag16.xml><?xml version="1.0" encoding="utf-8"?>
<p:tagLst xmlns:a="http://schemas.openxmlformats.org/drawingml/2006/main" xmlns:r="http://schemas.openxmlformats.org/officeDocument/2006/relationships" xmlns:p="http://schemas.openxmlformats.org/presentationml/2006/main">
  <p:tag name="EE4P_TEMPLATESTYLE" val="3"/>
</p:tagLst>
</file>

<file path=ppt/tags/tag17.xml><?xml version="1.0" encoding="utf-8"?>
<p:tagLst xmlns:a="http://schemas.openxmlformats.org/drawingml/2006/main" xmlns:r="http://schemas.openxmlformats.org/officeDocument/2006/relationships" xmlns:p="http://schemas.openxmlformats.org/presentationml/2006/main">
  <p:tag name="EE4P_TEMPLATESTYLE" val="3"/>
</p:tagLst>
</file>

<file path=ppt/tags/tag18.xml><?xml version="1.0" encoding="utf-8"?>
<p:tagLst xmlns:a="http://schemas.openxmlformats.org/drawingml/2006/main" xmlns:r="http://schemas.openxmlformats.org/officeDocument/2006/relationships" xmlns:p="http://schemas.openxmlformats.org/presentationml/2006/main">
  <p:tag name="EE4P_TEMPLATESTYLE" val="3"/>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wmTaC3cYQD6V6WUcWnDzTQ"/>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wmTaC3cYQD6V6WUcWnDzTQ"/>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_.9kJ9n.Rm.MUQmO39ETIA"/>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k1nXcaziSWqH0V8UAUzTLA"/>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wmTaC3cYQD6V6WUcWnDzTQ"/>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wmTaC3cYQD6V6WUcWnDzTQ"/>
</p:tagLst>
</file>

<file path=ppt/theme/theme1.xml><?xml version="1.0" encoding="utf-8"?>
<a:theme xmlns:a="http://schemas.openxmlformats.org/drawingml/2006/main" name="Custom Design">
  <a:themeElements>
    <a:clrScheme name="west">
      <a:dk1>
        <a:srgbClr val="515151"/>
      </a:dk1>
      <a:lt1>
        <a:sysClr val="window" lastClr="FFFFFF"/>
      </a:lt1>
      <a:dk2>
        <a:srgbClr val="8EC6DF"/>
      </a:dk2>
      <a:lt2>
        <a:srgbClr val="CDD9D9"/>
      </a:lt2>
      <a:accent1>
        <a:srgbClr val="005A82"/>
      </a:accent1>
      <a:accent2>
        <a:srgbClr val="008AC6"/>
      </a:accent2>
      <a:accent3>
        <a:srgbClr val="146161"/>
      </a:accent3>
      <a:accent4>
        <a:srgbClr val="239191"/>
      </a:accent4>
      <a:accent5>
        <a:srgbClr val="515151"/>
      </a:accent5>
      <a:accent6>
        <a:srgbClr val="919191"/>
      </a:accent6>
      <a:hlink>
        <a:srgbClr val="000000"/>
      </a:hlink>
      <a:folHlink>
        <a:srgbClr val="000000"/>
      </a:folHlink>
    </a:clrScheme>
    <a:fontScheme name="west">
      <a:majorFont>
        <a:latin typeface="Roboto Condensed"/>
        <a:ea typeface=""/>
        <a:cs typeface=""/>
      </a:majorFont>
      <a:minorFont>
        <a:latin typeface="Roboto Condense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accent5"/>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dirty="0" err="1" smtClean="0">
            <a:ea typeface="Roboto Medium" panose="02000000000000000000" pitchFamily="2" charset="0"/>
          </a:defRPr>
        </a:defPPr>
      </a:lstStyle>
    </a:txDef>
  </a:objectDefaults>
  <a:extraClrSchemeLst/>
  <a:extLst>
    <a:ext uri="{05A4C25C-085E-4340-85A3-A5531E510DB2}">
      <thm15:themeFamily xmlns:thm15="http://schemas.microsoft.com/office/thememl/2012/main" name="WB INS TEMPLATE" id="{19730783-9B6F-3745-95BD-00CFDF95FC15}" vid="{768C050D-38FE-5245-8724-C79D5AFEB588}"/>
    </a:ext>
  </a:extLst>
</a:theme>
</file>

<file path=ppt/theme/theme2.xml><?xml version="1.0" encoding="utf-8"?>
<a:theme xmlns:a="http://schemas.openxmlformats.org/drawingml/2006/main" name="Office Theme">
  <a:themeElements>
    <a:clrScheme name="Duarte_2013">
      <a:dk1>
        <a:sysClr val="windowText" lastClr="000000"/>
      </a:dk1>
      <a:lt1>
        <a:sysClr val="window" lastClr="FFFFFF"/>
      </a:lt1>
      <a:dk2>
        <a:srgbClr val="AF3C19"/>
      </a:dk2>
      <a:lt2>
        <a:srgbClr val="EAE8DF"/>
      </a:lt2>
      <a:accent1>
        <a:srgbClr val="009EBA"/>
      </a:accent1>
      <a:accent2>
        <a:srgbClr val="A8C4C4"/>
      </a:accent2>
      <a:accent3>
        <a:srgbClr val="C4BDA3"/>
      </a:accent3>
      <a:accent4>
        <a:srgbClr val="8C8A7A"/>
      </a:accent4>
      <a:accent5>
        <a:srgbClr val="66523D"/>
      </a:accent5>
      <a:accent6>
        <a:srgbClr val="938D45"/>
      </a:accent6>
      <a:hlink>
        <a:srgbClr val="009EBA"/>
      </a:hlink>
      <a:folHlink>
        <a:srgbClr val="A8C4C4"/>
      </a:folHlink>
    </a:clrScheme>
    <a:fontScheme name="Duarte_2013">
      <a:majorFont>
        <a:latin typeface="Franklin Gothic Book"/>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Duarte_2013">
      <a:dk1>
        <a:sysClr val="windowText" lastClr="000000"/>
      </a:dk1>
      <a:lt1>
        <a:sysClr val="window" lastClr="FFFFFF"/>
      </a:lt1>
      <a:dk2>
        <a:srgbClr val="AF3C19"/>
      </a:dk2>
      <a:lt2>
        <a:srgbClr val="EAE8DF"/>
      </a:lt2>
      <a:accent1>
        <a:srgbClr val="009EBA"/>
      </a:accent1>
      <a:accent2>
        <a:srgbClr val="A8C4C4"/>
      </a:accent2>
      <a:accent3>
        <a:srgbClr val="C4BDA3"/>
      </a:accent3>
      <a:accent4>
        <a:srgbClr val="8C8A7A"/>
      </a:accent4>
      <a:accent5>
        <a:srgbClr val="66523D"/>
      </a:accent5>
      <a:accent6>
        <a:srgbClr val="938D45"/>
      </a:accent6>
      <a:hlink>
        <a:srgbClr val="009EBA"/>
      </a:hlink>
      <a:folHlink>
        <a:srgbClr val="A8C4C4"/>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BBSettings xmlns="http://schemas.bloomberg.com/settings/1.0">
  <Item name="DocumentId_Charts">{211C3E39-9458-4560-BDCD-4F1A9E9DF90F}</Item>
  <Item xmlns="" name="ShapesMap_Charts">{"{211C3E39-9458-4560-BDCD-4F1A9E9DF90F}":{"392":{},"6551":{},"8020":{},"8031":{},"8032":{},"8077":{},"8132":{},"8150":{},"8156":{},"8158":{},"8161":{},"8164":{},"8165":{},"8166":{},"8167":{},"8169":{},"8170":{},"8171":{},"8172":{},"8174":{},"8175":{},"8176":{},"8177":{}}}</Item>
</BBSetting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AA584B74D8D3284A8859CF69685A39F9" ma:contentTypeVersion="13" ma:contentTypeDescription="Create a new document." ma:contentTypeScope="" ma:versionID="7e058a4dee60644b5ff110de1125faab">
  <xsd:schema xmlns:xsd="http://www.w3.org/2001/XMLSchema" xmlns:xs="http://www.w3.org/2001/XMLSchema" xmlns:p="http://schemas.microsoft.com/office/2006/metadata/properties" xmlns:ns3="899c3dcb-f1a2-4d1c-9555-9f09905f7f06" xmlns:ns4="ab2d9e19-639f-4242-a2de-d48289263f32" targetNamespace="http://schemas.microsoft.com/office/2006/metadata/properties" ma:root="true" ma:fieldsID="6682b7df411ef49e0f878686dd7d04bd" ns3:_="" ns4:_="">
    <xsd:import namespace="899c3dcb-f1a2-4d1c-9555-9f09905f7f06"/>
    <xsd:import namespace="ab2d9e19-639f-4242-a2de-d48289263f32"/>
    <xsd:element name="properties">
      <xsd:complexType>
        <xsd:sequence>
          <xsd:element name="documentManagement">
            <xsd:complexType>
              <xsd:all>
                <xsd:element ref="ns3:MediaServiceMetadata" minOccurs="0"/>
                <xsd:element ref="ns3:MediaServiceFastMetadata" minOccurs="0"/>
                <xsd:element ref="ns3:_activity" minOccurs="0"/>
                <xsd:element ref="ns4:SharedWithUsers" minOccurs="0"/>
                <xsd:element ref="ns4:SharedWithDetails" minOccurs="0"/>
                <xsd:element ref="ns4:SharingHintHash" minOccurs="0"/>
                <xsd:element ref="ns3:MediaServiceObjectDetectorVersions" minOccurs="0"/>
                <xsd:element ref="ns3:MediaServiceSearchProperties" minOccurs="0"/>
                <xsd:element ref="ns3:MediaServiceDateTaken" minOccurs="0"/>
                <xsd:element ref="ns3:MediaServiceSystemTags"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99c3dcb-f1a2-4d1c-9555-9f09905f7f0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_activity" ma:index="10" nillable="true" ma:displayName="_activity" ma:hidden="true" ma:internalName="_activity">
      <xsd:simpleType>
        <xsd:restriction base="dms:Note"/>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SearchProperties" ma:index="15" nillable="true" ma:displayName="MediaServiceSearchProperties" ma:hidden="true" ma:internalName="MediaServiceSearchProperties" ma:readOnly="true">
      <xsd:simpleType>
        <xsd:restriction base="dms:Note"/>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SystemTags" ma:index="17" nillable="true" ma:displayName="MediaServiceSystemTags" ma:hidden="true" ma:internalName="MediaServiceSystemTags" ma:readOnly="true">
      <xsd:simpleType>
        <xsd:restriction base="dms:Note"/>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b2d9e19-639f-4242-a2de-d48289263f32"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SharingHintHash" ma:index="13"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p:properties xmlns:p="http://schemas.microsoft.com/office/2006/metadata/properties" xmlns:xsi="http://www.w3.org/2001/XMLSchema-instance" xmlns:pc="http://schemas.microsoft.com/office/infopath/2007/PartnerControls">
  <documentManagement>
    <_activity xmlns="899c3dcb-f1a2-4d1c-9555-9f09905f7f06" xsi:nil="true"/>
  </documentManagement>
</p:properties>
</file>

<file path=customXml/itemProps1.xml><?xml version="1.0" encoding="utf-8"?>
<ds:datastoreItem xmlns:ds="http://schemas.openxmlformats.org/officeDocument/2006/customXml" ds:itemID="{0F9F96BE-18A8-49A2-94BB-7FE139601F9F}">
  <ds:schemaRefs>
    <ds:schemaRef ds:uri="http://schemas.bloomberg.com/settings/1.0"/>
    <ds:schemaRef ds:uri=""/>
  </ds:schemaRefs>
</ds:datastoreItem>
</file>

<file path=customXml/itemProps2.xml><?xml version="1.0" encoding="utf-8"?>
<ds:datastoreItem xmlns:ds="http://schemas.openxmlformats.org/officeDocument/2006/customXml" ds:itemID="{C18E6967-5B5D-4C13-85F0-5D12E20932C3}">
  <ds:schemaRefs>
    <ds:schemaRef ds:uri="http://schemas.microsoft.com/sharepoint/v3/contenttype/forms"/>
  </ds:schemaRefs>
</ds:datastoreItem>
</file>

<file path=customXml/itemProps3.xml><?xml version="1.0" encoding="utf-8"?>
<ds:datastoreItem xmlns:ds="http://schemas.openxmlformats.org/officeDocument/2006/customXml" ds:itemID="{B1FF898D-0FB6-4376-B75C-D27E772488A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99c3dcb-f1a2-4d1c-9555-9f09905f7f06"/>
    <ds:schemaRef ds:uri="ab2d9e19-639f-4242-a2de-d48289263f3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4.xml><?xml version="1.0" encoding="utf-8"?>
<ds:datastoreItem xmlns:ds="http://schemas.openxmlformats.org/officeDocument/2006/customXml" ds:itemID="{3B43DD18-ECAF-4DA7-B533-5067A604271A}">
  <ds:schemaRefs>
    <ds:schemaRef ds:uri="http://purl.org/dc/dcmitype/"/>
    <ds:schemaRef ds:uri="http://schemas.microsoft.com/office/infopath/2007/PartnerControls"/>
    <ds:schemaRef ds:uri="http://www.w3.org/XML/1998/namespace"/>
    <ds:schemaRef ds:uri="http://schemas.microsoft.com/office/2006/documentManagement/types"/>
    <ds:schemaRef ds:uri="http://purl.org/dc/elements/1.1/"/>
    <ds:schemaRef ds:uri="http://schemas.openxmlformats.org/package/2006/metadata/core-properties"/>
    <ds:schemaRef ds:uri="http://purl.org/dc/terms/"/>
    <ds:schemaRef ds:uri="ab2d9e19-639f-4242-a2de-d48289263f32"/>
    <ds:schemaRef ds:uri="899c3dcb-f1a2-4d1c-9555-9f09905f7f06"/>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Custom Design</Template>
  <TotalTime>996</TotalTime>
  <Words>1586</Words>
  <Application>Microsoft Macintosh PowerPoint</Application>
  <PresentationFormat>On-screen Show (4:3)</PresentationFormat>
  <Paragraphs>147</Paragraphs>
  <Slides>12</Slides>
  <Notes>10</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1</vt:i4>
      </vt:variant>
      <vt:variant>
        <vt:lpstr>Slide Titles</vt:lpstr>
      </vt:variant>
      <vt:variant>
        <vt:i4>12</vt:i4>
      </vt:variant>
    </vt:vector>
  </HeadingPairs>
  <TitlesOfParts>
    <vt:vector size="24" baseType="lpstr">
      <vt:lpstr>Arial</vt:lpstr>
      <vt:lpstr>Calibri</vt:lpstr>
      <vt:lpstr>Franklin Gothic Book</vt:lpstr>
      <vt:lpstr>Helvetica</vt:lpstr>
      <vt:lpstr>Roboto </vt:lpstr>
      <vt:lpstr>Roboto Black</vt:lpstr>
      <vt:lpstr>Roboto Condensed</vt:lpstr>
      <vt:lpstr>Roboto Condensed Light</vt:lpstr>
      <vt:lpstr>Roboto Medium</vt:lpstr>
      <vt:lpstr>Wingdings</vt:lpstr>
      <vt:lpstr>Custom Design</vt:lpstr>
      <vt:lpstr>think-cell Slide</vt:lpstr>
      <vt:lpstr>Rhizome Data and Westbridge Capital</vt:lpstr>
      <vt:lpstr>About Time Someone Built Intelligence into Grid Resilience</vt:lpstr>
      <vt:lpstr>Rhizome's Intelligence Layer</vt:lpstr>
      <vt:lpstr>Some Key Observations about Market Structure </vt:lpstr>
      <vt:lpstr>Sub-Verticals Market Maps</vt:lpstr>
      <vt:lpstr>WestBridge Partnership</vt:lpstr>
      <vt:lpstr>WestBridge Capital At-a-Glance</vt:lpstr>
      <vt:lpstr>Best-in-class Cross-Border Team</vt:lpstr>
      <vt:lpstr>  Investments across Sectors and Stages</vt:lpstr>
      <vt:lpstr>Portfolio Acceleration Services</vt:lpstr>
      <vt:lpstr>Investment Case Study: Turing</vt:lpstr>
      <vt:lpstr>Disclaimer</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Seth, Purab</dc:creator>
  <cp:keywords/>
  <dc:description/>
  <cp:lastModifiedBy>Seth, Purab</cp:lastModifiedBy>
  <cp:revision>21</cp:revision>
  <cp:lastPrinted>2020-03-06T17:51:46Z</cp:lastPrinted>
  <dcterms:created xsi:type="dcterms:W3CDTF">2025-06-25T18:39:46Z</dcterms:created>
  <dcterms:modified xsi:type="dcterms:W3CDTF">2025-07-10T21:16:20Z</dcterms:modified>
  <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0x010100AA584B74D8D3284A8859CF69685A39F9</vt:lpwstr>
  </property>
</Properties>
</file>