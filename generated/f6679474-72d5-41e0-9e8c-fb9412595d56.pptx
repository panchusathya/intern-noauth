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84966" autoAdjust="0"/>
  </p:normalViewPr>
  <p:slideViewPr>
    <p:cSldViewPr snapToGrid="0" snapToObjects="1">
      <p:cViewPr varScale="1">
        <p:scale>
          <a:sx n="108" d="100"/>
          <a:sy n="108" d="100"/>
        </p:scale>
        <p:origin x="1608" y="672"/>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tags" Target="../tags/tag2.xml"/><Relationship Id="rId12" Type="http://schemas.openxmlformats.org/officeDocument/2006/relationships/tags" Target="../tags/tag3.xml"/><Relationship Id="rId13" Type="http://schemas.openxmlformats.org/officeDocument/2006/relationships/oleObject" Target="../embeddings/oleObject1.bin"/><Relationship Id="rId14" Type="http://schemas.openxmlformats.org/officeDocument/2006/relationships/image" Target="../media/image1.emf"/><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Layout" Target="../slideLayouts/slideLayout2.xml"/><Relationship Id="rId8" Type="http://schemas.openxmlformats.org/officeDocument/2006/relationships/oleObject" Target="../embeddings/oleObject3.bin"/><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1.xml"/><Relationship Id="rId9" Type="http://schemas.openxmlformats.org/officeDocument/2006/relationships/notesSlide" Target="../notesSlides/notesSlide2.xml"/><Relationship Id="rId10" Type="http://schemas.openxmlformats.org/officeDocument/2006/relationships/oleObject" Target="../embeddings/oleObject4.bin"/><Relationship Id="rId11" Type="http://schemas.openxmlformats.org/officeDocument/2006/relationships/image" Target="../media/image7.emf"/><Relationship Id="rId12" Type="http://schemas.openxmlformats.org/officeDocument/2006/relationships/image" Target="../media/image8.png"/><Relationship Id="rId13"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4.bin"/><Relationship Id="rId5" Type="http://schemas.openxmlformats.org/officeDocument/2006/relationships/image" Target="../media/image7.emf"/></Relationships>
</file>

<file path=ppt/slides/_rels/slide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5.bin"/><Relationship Id="rId5"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9.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oleObject" Target="../embeddings/oleObject7.bin"/><Relationship Id="rId6"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oleObject" Target="../embeddings/oleObject8.bin"/><Relationship Id="rId6"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oleObject" Target="../embeddings/oleObject9.bin"/><Relationship Id="rId6" Type="http://schemas.openxmlformats.org/officeDocument/2006/relationships/image" Target="../media/image11.emf"/><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image" Target="../media/image21.jpeg"/><Relationship Id="rId17" Type="http://schemas.openxmlformats.org/officeDocument/2006/relationships/image" Target="../media/image22.jpe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jpeg"/><Relationship Id="rId28"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oleObject" Target="../embeddings/oleObject10.bin"/><Relationship Id="rId6" Type="http://schemas.openxmlformats.org/officeDocument/2006/relationships/image" Target="../media/image1.emf"/><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hyperlink" Target="https://www.linkedin.com/in/gmirchandani/" TargetMode="External"/><Relationship Id="rId11" Type="http://schemas.openxmlformats.org/officeDocument/2006/relationships/hyperlink" Target="https://www.linkedin.com/in/gkarunak/" TargetMode="External"/><Relationship Id="rId12" Type="http://schemas.openxmlformats.org/officeDocument/2006/relationships/hyperlink" Target="https://www.linkedin.com/in/peterxkim/" TargetMode="External"/><Relationship Id="rId13" Type="http://schemas.openxmlformats.org/officeDocument/2006/relationships/hyperlink" Target="https://www.linkedin.com/in/patrick-wendell/" TargetMode="External"/><Relationship Id="rId14" Type="http://schemas.openxmlformats.org/officeDocument/2006/relationships/hyperlink" Target="https://www.linkedin.com/in/manojapte/" TargetMode="External"/><Relationship Id="rId15" Type="http://schemas.openxmlformats.org/officeDocument/2006/relationships/hyperlink" Target="https://www.linkedin.com/in/bmacaitis/" TargetMode="External"/><Relationship Id="rId16" Type="http://schemas.openxmlformats.org/officeDocument/2006/relationships/hyperlink" Target="https://www.linkedin.com/in/sidharthmalik/?originalSubdomain=in" TargetMode="External"/></Relationships>
</file>

<file path=ppt/slides/_rels/slide1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oleObject" Target="../embeddings/oleObject11.bin"/><Relationship Id="rId6" Type="http://schemas.openxmlformats.org/officeDocument/2006/relationships/image" Target="../media/image4.emf"/><Relationship Id="rId7" Type="http://schemas.openxmlformats.org/officeDocument/2006/relationships/image" Target="../media/image37.jpeg"/></Relationships>
</file>

<file path=ppt/slides/_rels/slide1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oleObject" Target="../embeddings/oleObject12.bin"/><Relationship Id="rId6"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t>Neurable and Westbridge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pPr algn="l"/>
            <a:r>
              <a:rPr>
                <a:solidFill>
                  <a:srgbClr val="3D3D3D"/>
                </a:solidFill>
              </a:rPr>
              <a:t>About Time Someone Built Intelligence into Brain Health</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Over half of survey respondents report experiencing burnout, with rates increasing post-pandemic from 43% to 52%, creating a massive market opportunity for cognitive health solutions.</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Workplace burnout costs the U.S. economy $190 billion annually through health-related expenses, absenteeism, reduced productivity, and occupational injuries.</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28% of workers score high in emotional exhaustion, with multivariable analysis showing this is the only burnout dimension significantly associated with productivity loss.</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The brain-computer interface market is projected to reach $8.73 billion by 2033, growing at 15.13% CAGR, with non-invasive solutions dominating 76.5% of the market.</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52% of Workers Experience Burnout</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$190B Annual Economic Impact</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28% Show High Emotional Exhaustion</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BCI Market Growing 15% CAGR</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Neurable's MW75 Neuro headphones represent the first consumer-grade brain-computer interface that seamlessly integrates EEG monitoring with premium audio, enabling real-time focus tracking and personalized brain break recommendations to combat the epidemic of workplace burnout.</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l">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Neurable's Direct Brain Monitoring</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Rely on external behavioral metrics like heart rate, sleep patterns, and step counts that provide indirect indicators of cognitive state</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Require manual input and self-reporting for focus tracking, leading to inconsistent and subjective data collection</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Offer generic productivity tips and break schedules that don't account for individual brain activity patterns</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Captures real-time EEG brain signals through soft fabric neural sensors, providing direct measurement of cognitive states and focus levels</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Uses proprietary AI to automatically detect focus patterns and cognitive load without any manual input required</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Delivers personalized brain break recommendations based on individual neural activity patterns and optimal cognitive performance windows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Traditional Wellness &amp; Productivity Tools</a:t>
            </a:r>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a:lnSpc>
                <a:spcPct val="150000"/>
              </a:lnSpc>
            </a:pPr>
            <a:r>
              <a:rPr sz="1600">
                <a:solidFill>
                  <a:srgbClr val="3D3D3D"/>
                </a:solidFill>
              </a:rPr>
              <a:t>1. The brain-computer interface market is experiencing explosive growth, projected to reach $8.73 billion by 2033 with 15.13% CAGR, driven by advances in AI and non-invasive technologies</a:t>
            </a:r>
          </a:p>
          <a:p>
            <a:pPr>
              <a:lnSpc>
                <a:spcPct val="150000"/>
              </a:lnSpc>
            </a:pPr>
            <a:r>
              <a:rPr sz="1600">
                <a:solidFill>
                  <a:srgbClr val="3D3D3D"/>
                </a:solidFill>
              </a:rPr>
              <a:t>2. North America dominates with 48% market share, led by companies like Neurable, Neuralink, and Synchron, supported by substantial R&amp;D investments and clinical trials</a:t>
            </a:r>
          </a:p>
          <a:p>
            <a:pPr>
              <a:lnSpc>
                <a:spcPct val="150000"/>
              </a:lnSpc>
            </a:pPr>
            <a:r>
              <a:rPr sz="1600">
                <a:solidFill>
                  <a:srgbClr val="3D3D3D"/>
                </a:solidFill>
              </a:rPr>
              <a:t>3. Non-invasive BCI solutions represent 76.5% of the market, with consumer headsets enabling everyday usage scenarios like productivity tracking and neurofeedback</a:t>
            </a:r>
          </a:p>
          <a:p>
            <a:pPr>
              <a:lnSpc>
                <a:spcPct val="150000"/>
              </a:lnSpc>
            </a:pPr>
            <a:r>
              <a:rPr sz="1600">
                <a:solidFill>
                  <a:srgbClr val="3D3D3D"/>
                </a:solidFill>
              </a:rPr>
              <a:t>4. Healthcare applications currently hold 45-57% market share, but entertainment, gaming, and workplace productivity segments are showing the highest growth rates</a:t>
            </a:r>
          </a:p>
          <a:p>
            <a:pPr>
              <a:lnSpc>
                <a:spcPct val="150000"/>
              </a:lnSpc>
            </a:pPr>
            <a:r>
              <a:rPr sz="1600">
                <a:solidFill>
                  <a:srgbClr val="3D3D3D"/>
                </a:solidFill>
              </a:rPr>
              <a:t>5. The shift from medical-only to consumer applications is creating new market categories, with focus tracking and cognitive enhancement emerging as key use cases</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Some Key Observations about Market Structure</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Brain-Computer Interface Market</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EEG Monitoring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Clinical-grade caps, gel electrodes, lab-only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Neurable MW75, Emotiv EPOC+, everyday wearables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Focus Tracking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logging, time-tracking apps, self-reporting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Real-time brain signal analysis, AI-powered insights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Productivity Tools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Generic break reminders, Pomodoro timers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Personalized brain break recommendations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Audio + Health</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Separate headphones and fitness trackers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Integrated audio-neurotechnology devices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Burnout Prevention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Post-symptom wellness programs, HR interventions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Proactive cognitive health monitoring</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996</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21</cp:revision>
  <cp:lastPrinted>2020-03-06T17:51:46Z</cp:lastPrinted>
  <dcterms:created xsi:type="dcterms:W3CDTF">2025-06-25T18:39:46Z</dcterms:created>
  <dcterms:modified xsi:type="dcterms:W3CDTF">2025-07-10T21:16:20Z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