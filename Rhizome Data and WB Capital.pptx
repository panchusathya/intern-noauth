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notesSlides/notesSlide4.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5.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8.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9.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5"/>
  </p:sldMasterIdLst>
  <p:notesMasterIdLst>
    <p:notesMasterId r:id="rId18"/>
  </p:notesMasterIdLst>
  <p:handoutMasterIdLst>
    <p:handoutMasterId r:id="rId19"/>
  </p:handoutMasterIdLst>
  <p:sldIdLst>
    <p:sldId id="392" r:id="rId6"/>
    <p:sldId id="2147478958" r:id="rId7"/>
    <p:sldId id="2147478970" r:id="rId8"/>
    <p:sldId id="2147478957" r:id="rId9"/>
    <p:sldId id="2147478960" r:id="rId10"/>
    <p:sldId id="2147476835" r:id="rId11"/>
    <p:sldId id="7278" r:id="rId12"/>
    <p:sldId id="2147478954" r:id="rId13"/>
    <p:sldId id="2147478955" r:id="rId14"/>
    <p:sldId id="5592" r:id="rId15"/>
    <p:sldId id="7438" r:id="rId16"/>
    <p:sldId id="5569" r:id="rId17"/>
  </p:sldIdLst>
  <p:sldSz cx="9144000" cy="6858000" type="screen4x3"/>
  <p:notesSz cx="7010400" cy="92964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999" userDrawn="1">
          <p15:clr>
            <a:srgbClr val="A4A3A4"/>
          </p15:clr>
        </p15:guide>
        <p15:guide id="3" orient="horz" pos="142" userDrawn="1">
          <p15:clr>
            <a:srgbClr val="A4A3A4"/>
          </p15:clr>
        </p15:guide>
        <p15:guide id="8" pos="3447"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067211-8BF8-00AF-0F1D-8D86840DC979}" name="Ananya Indwar" initials="" userId="S::ananya.indwar@westbridgecap.com::6a015bc6-ba20-4f9c-8df4-91712caba0d7" providerId="AD"/>
  <p188:author id="{6C24BDE1-E2CB-3645-C6AF-FB2B90DD899F}" name="Kamal Singh" initials="KS" userId="S::Kamal.Singh@westbridgecap.com::761e907a-d22e-4bf7-9ef3-e167f48fea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hruv" initials="D" lastIdx="1" clrIdx="0">
    <p:extLst>
      <p:ext uri="{19B8F6BF-5375-455C-9EA6-DF929625EA0E}">
        <p15:presenceInfo xmlns:p15="http://schemas.microsoft.com/office/powerpoint/2012/main" userId="Dhruv" providerId="None"/>
      </p:ext>
    </p:extLst>
  </p:cmAuthor>
  <p:cmAuthor id="2" name="Dhruv Chandhok" initials="DC" lastIdx="14" clrIdx="1">
    <p:extLst>
      <p:ext uri="{19B8F6BF-5375-455C-9EA6-DF929625EA0E}">
        <p15:presenceInfo xmlns:p15="http://schemas.microsoft.com/office/powerpoint/2012/main" userId="S::dhruv.chandhok@westbridgecap.com::32a2e8fb-577a-4f39-a262-30040c611a06" providerId="AD"/>
      </p:ext>
    </p:extLst>
  </p:cmAuthor>
  <p:cmAuthor id="3" name="murali" initials="m" lastIdx="2" clrIdx="2">
    <p:extLst>
      <p:ext uri="{19B8F6BF-5375-455C-9EA6-DF929625EA0E}">
        <p15:presenceInfo xmlns:p15="http://schemas.microsoft.com/office/powerpoint/2012/main" userId="mura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FDB"/>
    <a:srgbClr val="ACEA9B"/>
    <a:srgbClr val="F783A3"/>
    <a:srgbClr val="E5FCE4"/>
    <a:srgbClr val="005A82"/>
    <a:srgbClr val="239191"/>
    <a:srgbClr val="008AC6"/>
    <a:srgbClr val="EFEFEF"/>
    <a:srgbClr val="002060"/>
    <a:srgbClr val="82D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9" autoAdjust="0"/>
    <p:restoredTop sz="84966" autoAdjust="0"/>
  </p:normalViewPr>
  <p:slideViewPr>
    <p:cSldViewPr snapToGrid="0" snapToObjects="1">
      <p:cViewPr varScale="1">
        <p:scale>
          <a:sx n="108" d="100"/>
          <a:sy n="108" d="100"/>
        </p:scale>
        <p:origin x="1504" y="184"/>
      </p:cViewPr>
      <p:guideLst>
        <p:guide orient="horz" pos="2999"/>
        <p:guide orient="horz" pos="142"/>
        <p:guide pos="3447"/>
      </p:guideLst>
    </p:cSldViewPr>
  </p:slideViewPr>
  <p:outlineViewPr>
    <p:cViewPr>
      <p:scale>
        <a:sx n="33" d="100"/>
        <a:sy n="33" d="100"/>
      </p:scale>
      <p:origin x="0" y="-5006"/>
    </p:cViewPr>
  </p:outlineViewPr>
  <p:notesTextViewPr>
    <p:cViewPr>
      <p:scale>
        <a:sx n="3" d="2"/>
        <a:sy n="3" d="2"/>
      </p:scale>
      <p:origin x="0" y="0"/>
    </p:cViewPr>
  </p:notesTextViewPr>
  <p:sorterViewPr>
    <p:cViewPr>
      <p:scale>
        <a:sx n="100" d="100"/>
        <a:sy n="100" d="100"/>
      </p:scale>
      <p:origin x="0" y="-3612"/>
    </p:cViewPr>
  </p:sorterViewPr>
  <p:notesViewPr>
    <p:cSldViewPr snapToGrid="0" snapToObjects="1">
      <p:cViewPr>
        <p:scale>
          <a:sx n="100" d="100"/>
          <a:sy n="100" d="100"/>
        </p:scale>
        <p:origin x="2652" y="-564"/>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p:nvSpPr>
        <p:spPr>
          <a:xfrm>
            <a:off x="467372" y="9123550"/>
            <a:ext cx="1465145" cy="107722"/>
          </a:xfrm>
          <a:prstGeom prst="rect">
            <a:avLst/>
          </a:prstGeom>
          <a:noFill/>
        </p:spPr>
        <p:txBody>
          <a:bodyPr wrap="none" lIns="0" tIns="0" rIns="0" bIns="0" rtlCol="0">
            <a:spAutoFit/>
          </a:bodyPr>
          <a:lstStyle/>
          <a:p>
            <a:r>
              <a:rPr lang="en-US" sz="700" dirty="0">
                <a:solidFill>
                  <a:schemeClr val="bg1">
                    <a:lumMod val="75000"/>
                  </a:schemeClr>
                </a:solidFill>
                <a:latin typeface="+mj-lt"/>
              </a:rPr>
              <a:t>Copyright 2013 Duarte Inc. Confidential.</a:t>
            </a:r>
          </a:p>
        </p:txBody>
      </p:sp>
      <p:sp>
        <p:nvSpPr>
          <p:cNvPr id="12" name="TextBox 11"/>
          <p:cNvSpPr txBox="1"/>
          <p:nvPr/>
        </p:nvSpPr>
        <p:spPr>
          <a:xfrm>
            <a:off x="6440086" y="9123550"/>
            <a:ext cx="105798" cy="107722"/>
          </a:xfrm>
          <a:prstGeom prst="rect">
            <a:avLst/>
          </a:prstGeom>
          <a:noFill/>
        </p:spPr>
        <p:txBody>
          <a:bodyPr wrap="none" lIns="0" tIns="0" rIns="0" bIns="0" rtlCol="0">
            <a:spAutoFit/>
          </a:bodyPr>
          <a:lstStyle/>
          <a:p>
            <a:pPr algn="r"/>
            <a:fld id="{342FB9F6-3526-4818-B864-6624DDD159B3}" type="slidenum">
              <a:rPr lang="en-US" sz="700">
                <a:solidFill>
                  <a:schemeClr val="bg1">
                    <a:lumMod val="75000"/>
                  </a:schemeClr>
                </a:solidFill>
                <a:latin typeface="+mj-lt"/>
              </a:rPr>
              <a:t>‹#›</a:t>
            </a:fld>
            <a:endParaRPr lang="en-US" sz="700" dirty="0">
              <a:solidFill>
                <a:schemeClr val="bg1">
                  <a:lumMod val="75000"/>
                </a:schemeClr>
              </a:solidFill>
              <a:latin typeface="+mj-lt"/>
            </a:endParaRPr>
          </a:p>
        </p:txBody>
      </p:sp>
    </p:spTree>
    <p:extLst>
      <p:ext uri="{BB962C8B-B14F-4D97-AF65-F5344CB8AC3E}">
        <p14:creationId xmlns:p14="http://schemas.microsoft.com/office/powerpoint/2010/main" val="21816506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81100" y="1093788"/>
            <a:ext cx="4648200" cy="3486150"/>
          </a:xfrm>
          <a:prstGeom prst="rect">
            <a:avLst/>
          </a:prstGeom>
          <a:noFill/>
          <a:ln w="12700">
            <a:solidFill>
              <a:prstClr val="black"/>
            </a:solidFill>
          </a:ln>
        </p:spPr>
        <p:txBody>
          <a:bodyPr vert="horz" lIns="89718" tIns="44858" rIns="89718" bIns="44858" rtlCol="0" anchor="ctr"/>
          <a:lstStyle/>
          <a:p>
            <a:endParaRPr lang="en-US" dirty="0"/>
          </a:p>
        </p:txBody>
      </p:sp>
      <p:sp>
        <p:nvSpPr>
          <p:cNvPr id="5" name="Notes Placeholder 4"/>
          <p:cNvSpPr>
            <a:spLocks noGrp="1"/>
          </p:cNvSpPr>
          <p:nvPr>
            <p:ph type="body" sz="quarter" idx="3"/>
          </p:nvPr>
        </p:nvSpPr>
        <p:spPr>
          <a:xfrm>
            <a:off x="391095" y="4929034"/>
            <a:ext cx="6228224" cy="3670141"/>
          </a:xfrm>
          <a:prstGeom prst="rect">
            <a:avLst/>
          </a:prstGeom>
        </p:spPr>
        <p:txBody>
          <a:bodyPr vert="horz" lIns="89718" tIns="44858" rIns="89718" bIns="44858"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p:nvSpPr>
        <p:spPr>
          <a:xfrm>
            <a:off x="467363" y="9123555"/>
            <a:ext cx="1308050" cy="92333"/>
          </a:xfrm>
          <a:prstGeom prst="rect">
            <a:avLst/>
          </a:prstGeom>
          <a:noFill/>
        </p:spPr>
        <p:txBody>
          <a:bodyPr wrap="none" lIns="0" tIns="0" rIns="0" bIns="0" rtlCol="0">
            <a:spAutoFit/>
          </a:bodyPr>
          <a:lstStyle/>
          <a:p>
            <a:r>
              <a:rPr lang="en-US" sz="600" dirty="0">
                <a:solidFill>
                  <a:schemeClr val="bg1">
                    <a:lumMod val="75000"/>
                  </a:schemeClr>
                </a:solidFill>
                <a:latin typeface="+mj-lt"/>
              </a:rPr>
              <a:t>Copyright 2013 Duarte Inc. Confidential.</a:t>
            </a:r>
          </a:p>
        </p:txBody>
      </p:sp>
      <p:sp>
        <p:nvSpPr>
          <p:cNvPr id="14" name="TextBox 13"/>
          <p:cNvSpPr txBox="1"/>
          <p:nvPr/>
        </p:nvSpPr>
        <p:spPr>
          <a:xfrm>
            <a:off x="6449464" y="9123555"/>
            <a:ext cx="76944" cy="92333"/>
          </a:xfrm>
          <a:prstGeom prst="rect">
            <a:avLst/>
          </a:prstGeom>
          <a:noFill/>
        </p:spPr>
        <p:txBody>
          <a:bodyPr wrap="none" lIns="0" tIns="0" rIns="0" bIns="0" rtlCol="0">
            <a:spAutoFit/>
          </a:bodyPr>
          <a:lstStyle/>
          <a:p>
            <a:pPr algn="r"/>
            <a:fld id="{342FB9F6-3526-4818-B864-6624DDD159B3}" type="slidenum">
              <a:rPr lang="en-US" sz="600" smtClean="0">
                <a:solidFill>
                  <a:schemeClr val="bg1">
                    <a:lumMod val="75000"/>
                  </a:schemeClr>
                </a:solidFill>
                <a:latin typeface="+mj-lt"/>
              </a:rPr>
              <a:t>‹#›</a:t>
            </a:fld>
            <a:endParaRPr lang="en-US" sz="600" dirty="0">
              <a:solidFill>
                <a:schemeClr val="bg1">
                  <a:lumMod val="75000"/>
                </a:schemeClr>
              </a:solidFill>
              <a:latin typeface="+mj-lt"/>
            </a:endParaRPr>
          </a:p>
        </p:txBody>
      </p:sp>
    </p:spTree>
    <p:extLst>
      <p:ext uri="{BB962C8B-B14F-4D97-AF65-F5344CB8AC3E}">
        <p14:creationId xmlns:p14="http://schemas.microsoft.com/office/powerpoint/2010/main" val="2381874313"/>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85000"/>
      </a:lnSpc>
      <a:spcBef>
        <a:spcPts val="800"/>
      </a:spcBef>
      <a:spcAft>
        <a:spcPts val="200"/>
      </a:spcAft>
      <a:buFont typeface="Arial" pitchFamily="34" charset="0"/>
      <a:buChar char="•"/>
      <a:defRPr sz="1200" kern="1200">
        <a:solidFill>
          <a:schemeClr val="bg1">
            <a:lumMod val="50000"/>
          </a:schemeClr>
        </a:solidFill>
        <a:latin typeface="+mj-lt"/>
        <a:ea typeface="+mn-ea"/>
        <a:cs typeface="+mn-cs"/>
      </a:defRPr>
    </a:lvl1pPr>
    <a:lvl2pPr marL="228600" indent="-114300" algn="l" defTabSz="914400" rtl="0" eaLnBrk="1" latinLnBrk="0" hangingPunct="1">
      <a:lnSpc>
        <a:spcPct val="85000"/>
      </a:lnSpc>
      <a:spcAft>
        <a:spcPts val="200"/>
      </a:spcAft>
      <a:buFont typeface="Arial" pitchFamily="34" charset="0"/>
      <a:buChar char="•"/>
      <a:defRPr sz="1100" kern="1200">
        <a:solidFill>
          <a:schemeClr val="bg1">
            <a:lumMod val="50000"/>
          </a:schemeClr>
        </a:solidFill>
        <a:latin typeface="Franklin Gothic Book" pitchFamily="34" charset="0"/>
        <a:ea typeface="+mn-ea"/>
        <a:cs typeface="+mn-cs"/>
      </a:defRPr>
    </a:lvl2pPr>
    <a:lvl3pPr marL="342900" indent="-114300" algn="l" defTabSz="914400" rtl="0" eaLnBrk="1" latinLnBrk="0" hangingPunct="1">
      <a:lnSpc>
        <a:spcPct val="85000"/>
      </a:lnSpc>
      <a:spcAft>
        <a:spcPts val="200"/>
      </a:spcAft>
      <a:buFont typeface="Arial" pitchFamily="34" charset="0"/>
      <a:buChar char="•"/>
      <a:defRPr sz="1050" kern="1200">
        <a:solidFill>
          <a:schemeClr val="bg1">
            <a:lumMod val="50000"/>
          </a:schemeClr>
        </a:solidFill>
        <a:latin typeface="Franklin Gothic Book" pitchFamily="34" charset="0"/>
        <a:ea typeface="+mn-ea"/>
        <a:cs typeface="+mn-cs"/>
      </a:defRPr>
    </a:lvl3pPr>
    <a:lvl4pPr marL="457200" indent="-114300" algn="l" defTabSz="914400" rtl="0" eaLnBrk="1" latinLnBrk="0" hangingPunct="1">
      <a:lnSpc>
        <a:spcPct val="85000"/>
      </a:lnSpc>
      <a:spcAft>
        <a:spcPts val="200"/>
      </a:spcAft>
      <a:buFont typeface="Arial" pitchFamily="34" charset="0"/>
      <a:buChar char="•"/>
      <a:defRPr sz="1000" kern="1200">
        <a:solidFill>
          <a:schemeClr val="bg1">
            <a:lumMod val="50000"/>
          </a:schemeClr>
        </a:solidFill>
        <a:latin typeface="Franklin Gothic Book" pitchFamily="34" charset="0"/>
        <a:ea typeface="+mn-ea"/>
        <a:cs typeface="+mn-cs"/>
      </a:defRPr>
    </a:lvl4pPr>
    <a:lvl5pPr marL="571500" indent="-114300" algn="l" defTabSz="914400" rtl="0" eaLnBrk="1" latinLnBrk="0" hangingPunct="1">
      <a:lnSpc>
        <a:spcPct val="85000"/>
      </a:lnSpc>
      <a:spcAft>
        <a:spcPts val="200"/>
      </a:spcAft>
      <a:buFont typeface="Arial" pitchFamily="34" charset="0"/>
      <a:buChar char="•"/>
      <a:defRPr sz="900" kern="1200">
        <a:solidFill>
          <a:schemeClr val="bg1">
            <a:lumMod val="50000"/>
          </a:schemeClr>
        </a:solidFill>
        <a:latin typeface="Franklin Gothic Book"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3836546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AA11-15B1-0D4F-F2D5-2F94603FE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A1407-57CC-1F86-39C2-4461B395F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286BC-C9BE-2B34-60E1-8759064C7A0B}"/>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64260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11AAD-67E0-1C14-382D-74D629470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2FEB9-DA4F-0259-C772-C2FCB7408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1D345-FF4A-E815-0713-34BA3A2BBE7A}"/>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416828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21E3-2D00-18B2-C87F-C2DA86C3E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918F6-899A-1B80-1698-BE2F8201E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5F28C-921E-89B0-44FD-2EE3F7D334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4942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091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82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596CF-225D-3AAA-A375-744A5496D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78B7F-2394-1F26-0269-4CA33E3B7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CECF5-507B-960D-BF38-0325A3AADD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188171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550013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849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979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Content Placeholder 2"/>
          <p:cNvSpPr>
            <a:spLocks noGrp="1"/>
          </p:cNvSpPr>
          <p:nvPr>
            <p:ph idx="1"/>
          </p:nvPr>
        </p:nvSpPr>
        <p:spPr>
          <a:xfrm>
            <a:off x="667206" y="1563624"/>
            <a:ext cx="7886700" cy="4351338"/>
          </a:xfrm>
        </p:spPr>
        <p:txBody>
          <a:bodyPr lIns="90000" tIns="46800" rIns="90000" bIns="46800"/>
          <a:lstStyle>
            <a:lvl1pPr marL="0" indent="0">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6" name="Straight Connector 5"/>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2E1D602-E6D3-287F-BDF1-1590533F5E98}"/>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3871056751"/>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B56F78BF-35A4-3081-DFF5-E5AB19F56946}"/>
              </a:ext>
            </a:extLst>
          </p:cNvPr>
          <p:cNvSpPr>
            <a:spLocks noGrp="1"/>
          </p:cNvSpPr>
          <p:nvPr>
            <p:ph type="title"/>
          </p:nvPr>
        </p:nvSpPr>
        <p:spPr/>
        <p:txBody>
          <a:bodyPr lIns="90000" tIns="46800" rIns="90000" bIns="46800"/>
          <a:lstStyle/>
          <a:p>
            <a:r>
              <a:rPr lang="en-GB"/>
              <a:t>Click to edit Master title style</a:t>
            </a:r>
            <a:endParaRPr lang="en-AU"/>
          </a:p>
        </p:txBody>
      </p:sp>
      <p:sp>
        <p:nvSpPr>
          <p:cNvPr id="5" name="Content Placeholder 4">
            <a:extLst>
              <a:ext uri="{FF2B5EF4-FFF2-40B4-BE49-F238E27FC236}">
                <a16:creationId xmlns:a16="http://schemas.microsoft.com/office/drawing/2014/main" id="{19A6FDB0-6825-28E1-A8DF-7915452569C8}"/>
              </a:ext>
            </a:extLst>
          </p:cNvPr>
          <p:cNvSpPr>
            <a:spLocks noGrp="1"/>
          </p:cNvSpPr>
          <p:nvPr>
            <p:ph sz="quarter" idx="10"/>
          </p:nvPr>
        </p:nvSpPr>
        <p:spPr>
          <a:xfrm>
            <a:off x="667206" y="1563624"/>
            <a:ext cx="7886700" cy="4351338"/>
          </a:xfrm>
        </p:spPr>
        <p:txBody>
          <a:bodyPr lIns="90000" tIns="46800" rIns="90000" bIns="468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5760162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w/ subtitle / No conten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141BF334-483B-6FE4-0F38-83A536CA8221}"/>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1856869871"/>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9D621-28AC-08F3-3820-2A4652A1A214}"/>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42670810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957467"/>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in progress">
    <p:spTree>
      <p:nvGrpSpPr>
        <p:cNvPr id="1" name=""/>
        <p:cNvGrpSpPr/>
        <p:nvPr/>
      </p:nvGrpSpPr>
      <p:grpSpPr>
        <a:xfrm>
          <a:off x="0" y="0"/>
          <a:ext cx="0" cy="0"/>
          <a:chOff x="0" y="0"/>
          <a:chExt cx="0" cy="0"/>
        </a:xfrm>
      </p:grpSpPr>
      <p:sp>
        <p:nvSpPr>
          <p:cNvPr id="2" name="Rectangle 1"/>
          <p:cNvSpPr/>
          <p:nvPr userDrawn="1"/>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988004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gu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0000" tIns="46800" rIns="90000" bIns="4680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segue slide</a:t>
            </a:r>
          </a:p>
        </p:txBody>
      </p:sp>
    </p:spTree>
    <p:extLst>
      <p:ext uri="{BB962C8B-B14F-4D97-AF65-F5344CB8AC3E}">
        <p14:creationId xmlns:p14="http://schemas.microsoft.com/office/powerpoint/2010/main" val="1812724873"/>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wrap="none"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title</a:t>
            </a:r>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b="41382"/>
          <a:stretch/>
        </p:blipFill>
        <p:spPr>
          <a:xfrm>
            <a:off x="0" y="0"/>
            <a:ext cx="9144000" cy="4020065"/>
          </a:xfrm>
          <a:prstGeom prst="rect">
            <a:avLst/>
          </a:prstGeom>
        </p:spPr>
      </p:pic>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Text Placeholder 2"/>
          <p:cNvSpPr>
            <a:spLocks noGrp="1"/>
          </p:cNvSpPr>
          <p:nvPr>
            <p:ph type="body" idx="11" hasCustomPrompt="1"/>
          </p:nvPr>
        </p:nvSpPr>
        <p:spPr>
          <a:xfrm>
            <a:off x="643346" y="5369651"/>
            <a:ext cx="2121415" cy="360099"/>
          </a:xfrm>
          <a:solidFill>
            <a:schemeClr val="tx1"/>
          </a:solidFill>
        </p:spPr>
        <p:txBody>
          <a:bodyPr wrap="none" lIns="91440" tIns="54864" rIns="91440" bIns="27432" anchor="ctr" anchorCtr="0">
            <a:spAutoFit/>
          </a:bodyPr>
          <a:lstStyle>
            <a:lvl1pPr marL="0" indent="30163">
              <a:buNone/>
              <a:defRPr sz="2000" b="0" cap="all" baseline="0">
                <a:solidFill>
                  <a:schemeClr val="bg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792231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a:t>Click to edit title</a:t>
            </a:r>
          </a:p>
        </p:txBody>
      </p:sp>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643346" y="5962650"/>
            <a:ext cx="8119654" cy="2000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48581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81606ED-AF49-4B05-ACE5-47BA3BD8A06B}"/>
              </a:ext>
            </a:extLst>
          </p:cNvPr>
          <p:cNvGraphicFramePr>
            <a:graphicFrameLocks noChangeAspect="1"/>
          </p:cNvGraphicFramePr>
          <p:nvPr userDrawn="1">
            <p:custDataLst>
              <p:tags r:id="rId11"/>
            </p:custDataLst>
            <p:extLst>
              <p:ext uri="{D42A27DB-BD31-4B8C-83A1-F6EECF244321}">
                <p14:modId xmlns:p14="http://schemas.microsoft.com/office/powerpoint/2010/main" val="3860002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6" name="Object 5" hidden="1">
                        <a:extLst>
                          <a:ext uri="{FF2B5EF4-FFF2-40B4-BE49-F238E27FC236}">
                            <a16:creationId xmlns:a16="http://schemas.microsoft.com/office/drawing/2014/main" id="{A81606ED-AF49-4B05-ACE5-47BA3BD8A06B}"/>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839BEB3-C7FB-4672-8581-204CE981796F}"/>
              </a:ext>
            </a:extLst>
          </p:cNvPr>
          <p:cNvSpPr/>
          <p:nvPr userDrawn="1">
            <p:custDataLst>
              <p:tags r:id="rId1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Roboto Condensed" panose="02000000000000000000"/>
              <a:cs typeface="+mn-cs"/>
              <a:sym typeface="Roboto Condensed" panose="02000000000000000000"/>
            </a:endParaRPr>
          </a:p>
        </p:txBody>
      </p:sp>
      <p:sp>
        <p:nvSpPr>
          <p:cNvPr id="2" name="Title Placeholder 1"/>
          <p:cNvSpPr>
            <a:spLocks noGrp="1"/>
          </p:cNvSpPr>
          <p:nvPr>
            <p:ph type="title"/>
          </p:nvPr>
        </p:nvSpPr>
        <p:spPr>
          <a:xfrm>
            <a:off x="667206" y="539564"/>
            <a:ext cx="7886700" cy="507062"/>
          </a:xfrm>
          <a:prstGeom prst="rect">
            <a:avLst/>
          </a:prstGeom>
        </p:spPr>
        <p:txBody>
          <a:bodyPr vert="horz" wrap="square" lIns="90000" tIns="46800" rIns="90000" bIns="46800" rtlCol="0" anchor="b" anchorCtr="0">
            <a:noAutofit/>
          </a:bodyPr>
          <a:lstStyle/>
          <a:p>
            <a:pPr marL="0" lvl="0" indent="0" algn="l" defTabSz="914400" rtl="0" eaLnBrk="1" latinLnBrk="0" hangingPunct="1">
              <a:lnSpc>
                <a:spcPct val="95000"/>
              </a:lnSpc>
              <a:spcBef>
                <a:spcPts val="0"/>
              </a:spcBef>
              <a:spcAft>
                <a:spcPts val="0"/>
              </a:spcAft>
              <a:buFont typeface="Franklin Gothic Book" pitchFamily="34" charset="0"/>
              <a:buNone/>
            </a:pPr>
            <a:r>
              <a:rPr lang="en-GB"/>
              <a:t>Click to edit Master title style</a:t>
            </a:r>
            <a:endParaRPr lang="en-US" dirty="0"/>
          </a:p>
        </p:txBody>
      </p:sp>
      <p:sp>
        <p:nvSpPr>
          <p:cNvPr id="3" name="Text Placeholder 2"/>
          <p:cNvSpPr>
            <a:spLocks noGrp="1"/>
          </p:cNvSpPr>
          <p:nvPr>
            <p:ph type="body" idx="1"/>
          </p:nvPr>
        </p:nvSpPr>
        <p:spPr>
          <a:xfrm>
            <a:off x="667206" y="1563624"/>
            <a:ext cx="7886700" cy="4351338"/>
          </a:xfrm>
          <a:prstGeom prst="rect">
            <a:avLst/>
          </a:prstGeom>
        </p:spPr>
        <p:txBody>
          <a:bodyPr vert="horz" lIns="90000" tIns="46800" rIns="90000" bIns="4680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1" name="Group 10"/>
          <p:cNvGrpSpPr/>
          <p:nvPr userDrawn="1"/>
        </p:nvGrpSpPr>
        <p:grpSpPr>
          <a:xfrm>
            <a:off x="644085" y="-781729"/>
            <a:ext cx="0" cy="8421458"/>
            <a:chOff x="644085" y="-803492"/>
            <a:chExt cx="0" cy="8421458"/>
          </a:xfrm>
        </p:grpSpPr>
        <p:cxnSp>
          <p:nvCxnSpPr>
            <p:cNvPr id="12" name="Straight Connector 11"/>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userDrawn="1"/>
        </p:nvGrpSpPr>
        <p:grpSpPr>
          <a:xfrm>
            <a:off x="772628" y="-781729"/>
            <a:ext cx="0" cy="8421458"/>
            <a:chOff x="644085" y="-803492"/>
            <a:chExt cx="0" cy="8421458"/>
          </a:xfrm>
        </p:grpSpPr>
        <p:cxnSp>
          <p:nvCxnSpPr>
            <p:cNvPr id="15" name="Straight Connector 14"/>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26" name="Rectangle 25"/>
          <p:cNvSpPr/>
          <p:nvPr userDrawn="1"/>
        </p:nvSpPr>
        <p:spPr>
          <a:xfrm>
            <a:off x="644085" y="0"/>
            <a:ext cx="8499915" cy="125729"/>
          </a:xfrm>
          <a:prstGeom prst="rect">
            <a:avLst/>
          </a:prstGeom>
          <a:solidFill>
            <a:srgbClr val="DCDCD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latin typeface="+mj-lt"/>
            </a:endParaRPr>
          </a:p>
        </p:txBody>
      </p:sp>
      <p:cxnSp>
        <p:nvCxnSpPr>
          <p:cNvPr id="5" name="Straight Connector 4"/>
          <p:cNvCxnSpPr/>
          <p:nvPr userDrawn="1"/>
        </p:nvCxnSpPr>
        <p:spPr>
          <a:xfrm flipH="1">
            <a:off x="-2012640" y="653143"/>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2012640" y="1291338"/>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7250664" y="6542565"/>
            <a:ext cx="1282402" cy="92333"/>
          </a:xfrm>
          <a:prstGeom prst="rect">
            <a:avLst/>
          </a:prstGeom>
          <a:noFill/>
        </p:spPr>
        <p:txBody>
          <a:bodyPr wrap="none" lIns="0" tIns="0" rIns="0" bIns="0" rtlCol="0">
            <a:spAutoFit/>
          </a:bodyPr>
          <a:lstStyle/>
          <a:p>
            <a:r>
              <a:rPr lang="en-US" sz="600" b="0" i="0" kern="1200" dirty="0">
                <a:solidFill>
                  <a:schemeClr val="accent6"/>
                </a:solidFill>
                <a:effectLst/>
                <a:latin typeface="Roboto Medium" panose="02000000000000000000" pitchFamily="2" charset="0"/>
                <a:ea typeface="Roboto Medium" panose="02000000000000000000" pitchFamily="2" charset="0"/>
                <a:cs typeface="+mn-cs"/>
              </a:rPr>
              <a:t>2019 WestBridge Capital</a:t>
            </a:r>
            <a:r>
              <a:rPr lang="en-US" sz="600" b="0" i="0" kern="1200" baseline="0" dirty="0">
                <a:solidFill>
                  <a:schemeClr val="accent6"/>
                </a:solidFill>
                <a:effectLst/>
                <a:latin typeface="Roboto Medium" panose="02000000000000000000" pitchFamily="2" charset="0"/>
                <a:ea typeface="Roboto Medium" panose="02000000000000000000" pitchFamily="2" charset="0"/>
                <a:cs typeface="+mn-cs"/>
              </a:rPr>
              <a:t> </a:t>
            </a:r>
            <a:r>
              <a:rPr lang="en-US" sz="600" b="0" i="0" kern="1200" dirty="0">
                <a:solidFill>
                  <a:schemeClr val="accent6"/>
                </a:solidFill>
                <a:effectLst/>
                <a:latin typeface="Roboto Medium" panose="02000000000000000000" pitchFamily="2" charset="0"/>
                <a:ea typeface="Roboto Medium" panose="02000000000000000000" pitchFamily="2" charset="0"/>
                <a:cs typeface="+mn-cs"/>
              </a:rPr>
              <a:t>Confidential</a:t>
            </a:r>
            <a:endParaRPr lang="en-US" sz="100" i="0" dirty="0">
              <a:solidFill>
                <a:schemeClr val="accent6"/>
              </a:solidFill>
              <a:latin typeface="Roboto Medium" panose="02000000000000000000" pitchFamily="2" charset="0"/>
              <a:ea typeface="Roboto Medium" panose="02000000000000000000" pitchFamily="2" charset="0"/>
            </a:endParaRPr>
          </a:p>
        </p:txBody>
      </p:sp>
      <p:sp>
        <p:nvSpPr>
          <p:cNvPr id="17" name="TextBox 16"/>
          <p:cNvSpPr txBox="1"/>
          <p:nvPr userDrawn="1"/>
        </p:nvSpPr>
        <p:spPr>
          <a:xfrm>
            <a:off x="8778944" y="6542565"/>
            <a:ext cx="92975" cy="92333"/>
          </a:xfrm>
          <a:prstGeom prst="rect">
            <a:avLst/>
          </a:prstGeom>
          <a:noFill/>
        </p:spPr>
        <p:txBody>
          <a:bodyPr wrap="none" lIns="0" tIns="0" rIns="0" bIns="0" rtlCol="0">
            <a:spAutoFit/>
          </a:bodyPr>
          <a:lstStyle/>
          <a:p>
            <a:pPr algn="ctr"/>
            <a:fld id="{342FB9F6-3526-4818-B864-6624DDD159B3}" type="slidenum">
              <a:rPr lang="en-US" sz="600" b="0" i="0" kern="1200" smtClean="0">
                <a:solidFill>
                  <a:schemeClr val="accent6"/>
                </a:solidFill>
                <a:effectLst/>
                <a:latin typeface="Roboto Medium" panose="02000000000000000000" pitchFamily="2" charset="0"/>
                <a:ea typeface="Roboto Medium" panose="02000000000000000000" pitchFamily="2" charset="0"/>
                <a:cs typeface="+mn-cs"/>
              </a:rPr>
              <a:pPr algn="ctr"/>
              <a:t>‹#›</a:t>
            </a:fld>
            <a:endParaRPr lang="en-US" sz="600" b="0" i="0" kern="1200" dirty="0">
              <a:solidFill>
                <a:schemeClr val="accent6"/>
              </a:solidFill>
              <a:effectLst/>
              <a:latin typeface="Roboto Medium" panose="02000000000000000000" pitchFamily="2" charset="0"/>
              <a:ea typeface="Roboto Medium" panose="02000000000000000000" pitchFamily="2" charset="0"/>
              <a:cs typeface="+mn-cs"/>
            </a:endParaRPr>
          </a:p>
        </p:txBody>
      </p:sp>
      <p:cxnSp>
        <p:nvCxnSpPr>
          <p:cNvPr id="18" name="Straight Connector 17"/>
          <p:cNvCxnSpPr/>
          <p:nvPr userDrawn="1"/>
        </p:nvCxnSpPr>
        <p:spPr>
          <a:xfrm>
            <a:off x="667206" y="1065676"/>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userDrawn="1"/>
        </p:nvPicPr>
        <p:blipFill>
          <a:blip r:embed="rId1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170381" y="6229350"/>
            <a:ext cx="1383525" cy="152695"/>
          </a:xfrm>
          <a:prstGeom prst="rect">
            <a:avLst/>
          </a:prstGeom>
        </p:spPr>
      </p:pic>
    </p:spTree>
    <p:extLst>
      <p:ext uri="{BB962C8B-B14F-4D97-AF65-F5344CB8AC3E}">
        <p14:creationId xmlns:p14="http://schemas.microsoft.com/office/powerpoint/2010/main" val="1108018756"/>
      </p:ext>
    </p:extLst>
  </p:cSld>
  <p:clrMap bg1="lt1" tx1="dk1" bg2="lt2" tx2="dk2" accent1="accent1" accent2="accent2" accent3="accent3" accent4="accent4" accent5="accent5" accent6="accent6" hlink="hlink" folHlink="folHlink"/>
  <p:sldLayoutIdLst>
    <p:sldLayoutId id="2147483694" r:id="rId1"/>
    <p:sldLayoutId id="2147483697" r:id="rId2"/>
    <p:sldLayoutId id="2147483703" r:id="rId3"/>
    <p:sldLayoutId id="2147483698" r:id="rId4"/>
    <p:sldLayoutId id="2147483699" r:id="rId5"/>
    <p:sldLayoutId id="2147483700" r:id="rId6"/>
    <p:sldLayoutId id="2147483701" r:id="rId7"/>
    <p:sldLayoutId id="2147483702" r:id="rId8"/>
    <p:sldLayoutId id="2147483704" r:id="rId9"/>
  </p:sldLayoutIdLst>
  <p:transition>
    <p:wipe dir="r"/>
  </p:transition>
  <p:hf hdr="0" ftr="0" dt="0"/>
  <p:txStyles>
    <p:title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p:titleStyle>
    <p:body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5.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8.xml"/><Relationship Id="rId7"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9" Type="http://schemas.openxmlformats.org/officeDocument/2006/relationships/image" Target="../media/image6.emf"/></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xml"/><Relationship Id="rId13" Type="http://schemas.openxmlformats.org/officeDocument/2006/relationships/image" Target="../media/image9.svg"/><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image" Target="../media/image8.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image" Target="../media/image7.emf"/><Relationship Id="rId5" Type="http://schemas.openxmlformats.org/officeDocument/2006/relationships/tags" Target="../tags/tag16.xml"/><Relationship Id="rId10" Type="http://schemas.openxmlformats.org/officeDocument/2006/relationships/oleObject" Target="../embeddings/oleObject4.bin"/><Relationship Id="rId4" Type="http://schemas.openxmlformats.org/officeDocument/2006/relationships/tags" Target="../tags/tag15.xml"/><Relationship Id="rId9"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9.xml"/><Relationship Id="rId5" Type="http://schemas.openxmlformats.org/officeDocument/2006/relationships/image" Target="../media/image7.emf"/><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0.xml"/><Relationship Id="rId5" Type="http://schemas.openxmlformats.org/officeDocument/2006/relationships/image" Target="../media/image10.e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9.xml"/><Relationship Id="rId1" Type="http://schemas.openxmlformats.org/officeDocument/2006/relationships/tags" Target="../tags/tag21.xml"/><Relationship Id="rId5" Type="http://schemas.openxmlformats.org/officeDocument/2006/relationships/image" Target="../media/image5.png"/><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4.emf"/><Relationship Id="rId5" Type="http://schemas.openxmlformats.org/officeDocument/2006/relationships/oleObject" Target="../embeddings/oleObject7.bin"/><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4.emf"/><Relationship Id="rId5" Type="http://schemas.openxmlformats.org/officeDocument/2006/relationships/oleObject" Target="../embeddings/oleObject8.bin"/><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 Type="http://schemas.openxmlformats.org/officeDocument/2006/relationships/slideLayout" Target="../slideLayouts/slideLayout1.xml"/><Relationship Id="rId21" Type="http://schemas.openxmlformats.org/officeDocument/2006/relationships/image" Target="../media/image26.png"/><Relationship Id="rId7" Type="http://schemas.openxmlformats.org/officeDocument/2006/relationships/image" Target="../media/image12.jpeg"/><Relationship Id="rId12" Type="http://schemas.openxmlformats.org/officeDocument/2006/relationships/image" Target="../media/image17.png"/><Relationship Id="rId17" Type="http://schemas.openxmlformats.org/officeDocument/2006/relationships/image" Target="../media/image22.jpeg"/><Relationship Id="rId25" Type="http://schemas.openxmlformats.org/officeDocument/2006/relationships/image" Target="../media/image30.png"/><Relationship Id="rId2" Type="http://schemas.openxmlformats.org/officeDocument/2006/relationships/tags" Target="../tags/tag27.xml"/><Relationship Id="rId16" Type="http://schemas.openxmlformats.org/officeDocument/2006/relationships/image" Target="../media/image21.jpeg"/><Relationship Id="rId20" Type="http://schemas.openxmlformats.org/officeDocument/2006/relationships/image" Target="../media/image25.png"/><Relationship Id="rId1" Type="http://schemas.openxmlformats.org/officeDocument/2006/relationships/tags" Target="../tags/tag26.xml"/><Relationship Id="rId6" Type="http://schemas.openxmlformats.org/officeDocument/2006/relationships/image" Target="../media/image11.emf"/><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oleObject" Target="../embeddings/oleObject9.bin"/><Relationship Id="rId15" Type="http://schemas.openxmlformats.org/officeDocument/2006/relationships/image" Target="../media/image20.jpeg"/><Relationship Id="rId23" Type="http://schemas.openxmlformats.org/officeDocument/2006/relationships/image" Target="../media/image28.png"/><Relationship Id="rId28" Type="http://schemas.openxmlformats.org/officeDocument/2006/relationships/image" Target="../media/image33.jpe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notesSlide" Target="../notesSlides/notesSlide7.xml"/><Relationship Id="rId9" Type="http://schemas.openxmlformats.org/officeDocument/2006/relationships/image" Target="../media/image14.jpe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jpe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hyperlink" Target="https://www.linkedin.com/in/patrick-wendell/" TargetMode="External"/><Relationship Id="rId3" Type="http://schemas.openxmlformats.org/officeDocument/2006/relationships/slideLayout" Target="../slideLayouts/slideLayout1.xml"/><Relationship Id="rId7" Type="http://schemas.openxmlformats.org/officeDocument/2006/relationships/image" Target="../media/image34.png"/><Relationship Id="rId12" Type="http://schemas.openxmlformats.org/officeDocument/2006/relationships/hyperlink" Target="https://www.linkedin.com/in/peterxkim/" TargetMode="External"/><Relationship Id="rId2" Type="http://schemas.openxmlformats.org/officeDocument/2006/relationships/tags" Target="../tags/tag29.xml"/><Relationship Id="rId16" Type="http://schemas.openxmlformats.org/officeDocument/2006/relationships/hyperlink" Target="https://www.linkedin.com/in/sidharthmalik/?originalSubdomain=in" TargetMode="External"/><Relationship Id="rId1" Type="http://schemas.openxmlformats.org/officeDocument/2006/relationships/tags" Target="../tags/tag28.xml"/><Relationship Id="rId6" Type="http://schemas.openxmlformats.org/officeDocument/2006/relationships/image" Target="../media/image1.emf"/><Relationship Id="rId11" Type="http://schemas.openxmlformats.org/officeDocument/2006/relationships/hyperlink" Target="https://www.linkedin.com/in/gkarunak/" TargetMode="External"/><Relationship Id="rId5" Type="http://schemas.openxmlformats.org/officeDocument/2006/relationships/oleObject" Target="../embeddings/oleObject10.bin"/><Relationship Id="rId15" Type="http://schemas.openxmlformats.org/officeDocument/2006/relationships/hyperlink" Target="https://www.linkedin.com/in/bmacaitis/" TargetMode="External"/><Relationship Id="rId10" Type="http://schemas.openxmlformats.org/officeDocument/2006/relationships/hyperlink" Target="https://www.linkedin.com/in/gmirchandani/" TargetMode="External"/><Relationship Id="rId4" Type="http://schemas.openxmlformats.org/officeDocument/2006/relationships/notesSlide" Target="../notesSlides/notesSlide8.xml"/><Relationship Id="rId9" Type="http://schemas.openxmlformats.org/officeDocument/2006/relationships/image" Target="../media/image36.png"/><Relationship Id="rId14" Type="http://schemas.openxmlformats.org/officeDocument/2006/relationships/hyperlink" Target="https://www.linkedin.com/in/manojapte/" TargetMode="Externa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7.jpe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4.emf"/><Relationship Id="rId5" Type="http://schemas.openxmlformats.org/officeDocument/2006/relationships/oleObject" Target="../embeddings/oleObject11.bin"/><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4.emf"/><Relationship Id="rId5" Type="http://schemas.openxmlformats.org/officeDocument/2006/relationships/oleObject" Target="../embeddings/oleObject12.bin"/><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09F25B5-70DA-4E3E-85BE-514869CAE5A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3" name="Object 2" hidden="1">
                        <a:extLst>
                          <a:ext uri="{FF2B5EF4-FFF2-40B4-BE49-F238E27FC236}">
                            <a16:creationId xmlns:a16="http://schemas.microsoft.com/office/drawing/2014/main" id="{C09F25B5-70DA-4E3E-85BE-514869CAE5A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C008817-4851-405D-957B-AEA0DDB91AD9}"/>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dirty="0">
              <a:latin typeface="Roboto Condensed" panose="02000000000000000000" pitchFamily="2" charset="0"/>
              <a:ea typeface="Roboto Condensed" panose="02000000000000000000" pitchFamily="2" charset="0"/>
              <a:sym typeface="Roboto Condensed" panose="02000000000000000000" pitchFamily="2" charset="0"/>
            </a:endParaRPr>
          </a:p>
        </p:txBody>
      </p:sp>
      <p:pic>
        <p:nvPicPr>
          <p:cNvPr id="7" name="Picture 6"/>
          <p:cNvPicPr>
            <a:picLocks noChangeAspect="1"/>
          </p:cNvPicPr>
          <p:nvPr/>
        </p:nvPicPr>
        <p:blipFill>
          <a:blip r:embed="rId7"/>
          <a:stretch>
            <a:fillRect/>
          </a:stretch>
        </p:blipFill>
        <p:spPr>
          <a:xfrm>
            <a:off x="7105617" y="6258963"/>
            <a:ext cx="1415013" cy="160031"/>
          </a:xfrm>
          <a:prstGeom prst="rect">
            <a:avLst/>
          </a:prstGeom>
        </p:spPr>
      </p:pic>
      <p:sp>
        <p:nvSpPr>
          <p:cNvPr id="10" name="Title 1">
            <a:extLst>
              <a:ext uri="{FF2B5EF4-FFF2-40B4-BE49-F238E27FC236}">
                <a16:creationId xmlns:a16="http://schemas.microsoft.com/office/drawing/2014/main" id="{31D22041-833F-419E-A651-3A788730D031}"/>
              </a:ext>
            </a:extLst>
          </p:cNvPr>
          <p:cNvSpPr>
            <a:spLocks noGrp="1"/>
          </p:cNvSpPr>
          <p:nvPr>
            <p:ph type="title"/>
          </p:nvPr>
        </p:nvSpPr>
        <p:spPr>
          <a:xfrm>
            <a:off x="644814" y="4294202"/>
            <a:ext cx="7886700" cy="507062"/>
          </a:xfrm>
        </p:spPr>
        <p:txBody>
          <a:bodyPr vert="horz"/>
          <a:lstStyle/>
          <a:p>
            <a:r>
              <a:rPr lang="en-US" sz="3200" cap="none"/>
              <a:t>Rhizome Data and </a:t>
            </a:r>
            <a:r>
              <a:rPr lang="en-US" sz="3200" cap="none" dirty="0" err="1"/>
              <a:t>Westbridge</a:t>
            </a:r>
            <a:r>
              <a:rPr lang="en-US" sz="3200" cap="none" dirty="0"/>
              <a:t> Capital</a:t>
            </a:r>
          </a:p>
        </p:txBody>
      </p:sp>
    </p:spTree>
    <p:extLst>
      <p:ext uri="{BB962C8B-B14F-4D97-AF65-F5344CB8AC3E}">
        <p14:creationId xmlns:p14="http://schemas.microsoft.com/office/powerpoint/2010/main" val="3113929342"/>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0ED7-0C9B-A1DA-E464-E24F64493A1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8FBB8D4-4312-53BF-6942-56F8CAE4D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6" name="think-cell data - do not delete" hidden="1">
                        <a:extLst>
                          <a:ext uri="{FF2B5EF4-FFF2-40B4-BE49-F238E27FC236}">
                            <a16:creationId xmlns:a16="http://schemas.microsoft.com/office/drawing/2014/main" id="{E8FBB8D4-4312-53BF-6942-56F8CAE4DA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3581C80-DFEE-CBFB-3E5A-839B4DD4D3DE}"/>
              </a:ext>
            </a:extLst>
          </p:cNvPr>
          <p:cNvSpPr>
            <a:spLocks noGrp="1"/>
          </p:cNvSpPr>
          <p:nvPr>
            <p:ph type="title"/>
          </p:nvPr>
        </p:nvSpPr>
        <p:spPr/>
        <p:txBody>
          <a:bodyPr vert="horz"/>
          <a:lstStyle/>
          <a:p>
            <a:r>
              <a:rPr lang="en-IN" sz="2800" dirty="0"/>
              <a:t>About Time Someone Built Intelligence into Grid Resilience</a:t>
            </a:r>
            <a:endParaRPr lang="en-US" sz="2800" dirty="0"/>
          </a:p>
        </p:txBody>
      </p:sp>
      <p:sp>
        <p:nvSpPr>
          <p:cNvPr id="8" name="Rectangle 7">
            <a:extLst>
              <a:ext uri="{FF2B5EF4-FFF2-40B4-BE49-F238E27FC236}">
                <a16:creationId xmlns:a16="http://schemas.microsoft.com/office/drawing/2014/main" id="{AA7E092F-EDCA-520C-37AD-528B9B32EA1B}"/>
              </a:ext>
            </a:extLst>
          </p:cNvPr>
          <p:cNvSpPr/>
          <p:nvPr/>
        </p:nvSpPr>
        <p:spPr>
          <a:xfrm>
            <a:off x="2737150" y="1965502"/>
            <a:ext cx="1728820" cy="2971520"/>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r>
              <a:rPr lang="en-IN" sz="1500" dirty="0">
                <a:solidFill>
                  <a:schemeClr val="tx1"/>
                </a:solidFill>
              </a:rPr>
              <a:t>Power outages cost U.S. businesses $150B annually. Storm-related outages alone: $20-55B per year. Critical facilities lose thousands per minute during blackouts.</a:t>
            </a:r>
            <a:endParaRPr lang="en-US" sz="1500" dirty="0">
              <a:solidFill>
                <a:schemeClr val="tx1"/>
              </a:solidFill>
            </a:endParaRPr>
          </a:p>
        </p:txBody>
      </p:sp>
      <p:sp>
        <p:nvSpPr>
          <p:cNvPr id="9" name="Rectangle 8">
            <a:extLst>
              <a:ext uri="{FF2B5EF4-FFF2-40B4-BE49-F238E27FC236}">
                <a16:creationId xmlns:a16="http://schemas.microsoft.com/office/drawing/2014/main" id="{10A698B2-A174-5B5C-DCD6-7232FD8975BB}"/>
              </a:ext>
            </a:extLst>
          </p:cNvPr>
          <p:cNvSpPr/>
          <p:nvPr/>
        </p:nvSpPr>
        <p:spPr>
          <a:xfrm>
            <a:off x="823054" y="1965501"/>
            <a:ext cx="1739257" cy="2971521"/>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r>
              <a:rPr lang="en-IN" sz="1500" dirty="0">
                <a:solidFill>
                  <a:schemeClr val="tx1"/>
                </a:solidFill>
              </a:rPr>
              <a:t>Weather causes 80% of major outages (1,755 events from 2000-2023). Outages doubled in the last decade vs. 2000-2009. Most utilities still use backward-looking historical data.</a:t>
            </a:r>
            <a:endParaRPr lang="en-IN" sz="1500" dirty="0">
              <a:solidFill>
                <a:schemeClr val="tx1"/>
              </a:solidFill>
              <a:latin typeface="+mj-lt"/>
            </a:endParaRPr>
          </a:p>
        </p:txBody>
      </p:sp>
      <p:sp>
        <p:nvSpPr>
          <p:cNvPr id="10" name="Rectangle 9">
            <a:extLst>
              <a:ext uri="{FF2B5EF4-FFF2-40B4-BE49-F238E27FC236}">
                <a16:creationId xmlns:a16="http://schemas.microsoft.com/office/drawing/2014/main" id="{DF6545FE-902D-205D-0FA6-1F696D3549A4}"/>
              </a:ext>
            </a:extLst>
          </p:cNvPr>
          <p:cNvSpPr/>
          <p:nvPr/>
        </p:nvSpPr>
        <p:spPr>
          <a:xfrm>
            <a:off x="4641331" y="1965503"/>
            <a:ext cx="1749695" cy="2971518"/>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500" dirty="0">
                <a:solidFill>
                  <a:schemeClr val="tx1"/>
                </a:solidFill>
              </a:rPr>
              <a:t>$1.4 trillion needed from 2025-2030 for grid modernization. Duke spending $75B over 10 years but lacks precision in targeting investments.</a:t>
            </a:r>
          </a:p>
        </p:txBody>
      </p:sp>
      <p:sp>
        <p:nvSpPr>
          <p:cNvPr id="5" name="Rectangle 4">
            <a:extLst>
              <a:ext uri="{FF2B5EF4-FFF2-40B4-BE49-F238E27FC236}">
                <a16:creationId xmlns:a16="http://schemas.microsoft.com/office/drawing/2014/main" id="{6DF63B6E-E161-615F-0756-CCBF7FF994D0}"/>
              </a:ext>
            </a:extLst>
          </p:cNvPr>
          <p:cNvSpPr/>
          <p:nvPr/>
        </p:nvSpPr>
        <p:spPr>
          <a:xfrm>
            <a:off x="6565995" y="1965502"/>
            <a:ext cx="1749695" cy="2971517"/>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r>
              <a:rPr lang="en-IN" sz="1500" dirty="0">
                <a:solidFill>
                  <a:schemeClr val="tx1"/>
                </a:solidFill>
              </a:rPr>
              <a:t>14 states mandate resilience plans with quantified cost-benefit analyses. Utilities struggle to justify investments without data-driven resilience metrics.</a:t>
            </a:r>
            <a:endParaRPr lang="en-US" sz="1500" dirty="0">
              <a:solidFill>
                <a:schemeClr val="tx1"/>
              </a:solidFill>
            </a:endParaRPr>
          </a:p>
        </p:txBody>
      </p:sp>
      <p:sp>
        <p:nvSpPr>
          <p:cNvPr id="18" name="ee4pHeader1">
            <a:extLst>
              <a:ext uri="{FF2B5EF4-FFF2-40B4-BE49-F238E27FC236}">
                <a16:creationId xmlns:a16="http://schemas.microsoft.com/office/drawing/2014/main" id="{BE9613CF-90DA-850B-8206-FB9A832DB2CF}"/>
              </a:ext>
            </a:extLst>
          </p:cNvPr>
          <p:cNvSpPr txBox="1"/>
          <p:nvPr>
            <p:custDataLst>
              <p:tags r:id="rId2"/>
            </p:custDataLst>
          </p:nvPr>
        </p:nvSpPr>
        <p:spPr>
          <a:xfrm>
            <a:off x="823054" y="1199360"/>
            <a:ext cx="1749695" cy="718483"/>
          </a:xfrm>
          <a:prstGeom prst="rect">
            <a:avLst/>
          </a:prstGeom>
          <a:solidFill>
            <a:schemeClr val="accent1"/>
          </a:solidFill>
          <a:ln cap="rnd">
            <a:noFill/>
          </a:ln>
        </p:spPr>
        <p:txBody>
          <a:bodyPr wrap="square" lIns="0" tIns="0" rIns="0" bIns="0" rtlCol="0" anchor="ctr" anchorCtr="0">
            <a:noAutofit/>
          </a:bodyPr>
          <a:lstStyle/>
          <a:p>
            <a:pPr marL="0" lvl="3" algn="ctr"/>
            <a:r>
              <a:rPr lang="en-IN" sz="1600" dirty="0">
                <a:solidFill>
                  <a:schemeClr val="bg1"/>
                </a:solidFill>
              </a:rPr>
              <a:t>80% of Outages are Weather-Related</a:t>
            </a:r>
          </a:p>
        </p:txBody>
      </p:sp>
      <p:sp>
        <p:nvSpPr>
          <p:cNvPr id="19" name="ee4pHeader2">
            <a:extLst>
              <a:ext uri="{FF2B5EF4-FFF2-40B4-BE49-F238E27FC236}">
                <a16:creationId xmlns:a16="http://schemas.microsoft.com/office/drawing/2014/main" id="{897D9464-F14D-9D9E-50D0-EFEA5BF0E72F}"/>
              </a:ext>
            </a:extLst>
          </p:cNvPr>
          <p:cNvSpPr txBox="1"/>
          <p:nvPr>
            <p:custDataLst>
              <p:tags r:id="rId3"/>
            </p:custDataLst>
          </p:nvPr>
        </p:nvSpPr>
        <p:spPr>
          <a:xfrm>
            <a:off x="2740099" y="1199360"/>
            <a:ext cx="1749695" cy="718483"/>
          </a:xfrm>
          <a:prstGeom prst="rect">
            <a:avLst/>
          </a:prstGeom>
          <a:solidFill>
            <a:schemeClr val="accent1"/>
          </a:solidFill>
          <a:ln cap="rnd">
            <a:noFill/>
          </a:ln>
        </p:spPr>
        <p:txBody>
          <a:bodyPr wrap="square" lIns="0" tIns="0" rIns="0" bIns="0" rtlCol="0" anchor="ctr" anchorCtr="0">
            <a:noAutofit/>
          </a:bodyPr>
          <a:lstStyle/>
          <a:p>
            <a:pPr marL="0" lvl="3" algn="ctr"/>
            <a:r>
              <a:rPr lang="en-IN" sz="1600" dirty="0">
                <a:solidFill>
                  <a:schemeClr val="bg1"/>
                </a:solidFill>
              </a:rPr>
              <a:t>$150B Annual Economic Impact</a:t>
            </a:r>
          </a:p>
        </p:txBody>
      </p:sp>
      <p:sp>
        <p:nvSpPr>
          <p:cNvPr id="20" name="ee4pHeader3">
            <a:extLst>
              <a:ext uri="{FF2B5EF4-FFF2-40B4-BE49-F238E27FC236}">
                <a16:creationId xmlns:a16="http://schemas.microsoft.com/office/drawing/2014/main" id="{DE3493F3-C77C-461F-B4BD-002CC5A3FCA5}"/>
              </a:ext>
            </a:extLst>
          </p:cNvPr>
          <p:cNvSpPr txBox="1"/>
          <p:nvPr>
            <p:custDataLst>
              <p:tags r:id="rId4"/>
            </p:custDataLst>
          </p:nvPr>
        </p:nvSpPr>
        <p:spPr>
          <a:xfrm>
            <a:off x="4641331" y="1199360"/>
            <a:ext cx="1749695" cy="718483"/>
          </a:xfrm>
          <a:prstGeom prst="rect">
            <a:avLst/>
          </a:prstGeom>
          <a:solidFill>
            <a:schemeClr val="accent1"/>
          </a:solidFill>
          <a:ln cap="rnd">
            <a:noFill/>
          </a:ln>
        </p:spPr>
        <p:txBody>
          <a:bodyPr wrap="square" lIns="0" tIns="0" rIns="0" bIns="0" rtlCol="0" anchor="ctr" anchorCtr="0">
            <a:noAutofit/>
          </a:bodyPr>
          <a:lstStyle/>
          <a:p>
            <a:pPr marL="0" lvl="3" algn="ctr"/>
            <a:r>
              <a:rPr lang="en-IN" sz="1600" dirty="0">
                <a:solidFill>
                  <a:schemeClr val="bg1"/>
                </a:solidFill>
              </a:rPr>
              <a:t>Massive Investment Gap</a:t>
            </a:r>
          </a:p>
        </p:txBody>
      </p:sp>
      <p:sp>
        <p:nvSpPr>
          <p:cNvPr id="21" name="ee4pHeader4">
            <a:extLst>
              <a:ext uri="{FF2B5EF4-FFF2-40B4-BE49-F238E27FC236}">
                <a16:creationId xmlns:a16="http://schemas.microsoft.com/office/drawing/2014/main" id="{09C4C2F4-DCDF-890B-92CF-B2BA32CDA535}"/>
              </a:ext>
            </a:extLst>
          </p:cNvPr>
          <p:cNvSpPr txBox="1"/>
          <p:nvPr>
            <p:custDataLst>
              <p:tags r:id="rId5"/>
            </p:custDataLst>
          </p:nvPr>
        </p:nvSpPr>
        <p:spPr>
          <a:xfrm>
            <a:off x="6565995" y="1202499"/>
            <a:ext cx="1749695" cy="718483"/>
          </a:xfrm>
          <a:prstGeom prst="rect">
            <a:avLst/>
          </a:prstGeom>
          <a:solidFill>
            <a:schemeClr val="accent1"/>
          </a:solidFill>
          <a:ln cap="rnd">
            <a:noFill/>
          </a:ln>
        </p:spPr>
        <p:txBody>
          <a:bodyPr wrap="square" lIns="0" tIns="0" rIns="0" bIns="0" rtlCol="0" anchor="ctr" anchorCtr="0">
            <a:noAutofit/>
          </a:bodyPr>
          <a:lstStyle/>
          <a:p>
            <a:pPr marL="0" lvl="3" algn="ctr"/>
            <a:r>
              <a:rPr lang="en-IN" sz="1600" dirty="0">
                <a:solidFill>
                  <a:schemeClr val="bg1"/>
                </a:solidFill>
              </a:rPr>
              <a:t>Regulatory Pressure Mounting</a:t>
            </a:r>
          </a:p>
        </p:txBody>
      </p:sp>
      <p:sp>
        <p:nvSpPr>
          <p:cNvPr id="13" name="Rectangle 12">
            <a:extLst>
              <a:ext uri="{FF2B5EF4-FFF2-40B4-BE49-F238E27FC236}">
                <a16:creationId xmlns:a16="http://schemas.microsoft.com/office/drawing/2014/main" id="{17406944-BB9A-F8DF-53E9-A337FC39F3C3}"/>
              </a:ext>
            </a:extLst>
          </p:cNvPr>
          <p:cNvSpPr/>
          <p:nvPr/>
        </p:nvSpPr>
        <p:spPr>
          <a:xfrm>
            <a:off x="823054" y="5047013"/>
            <a:ext cx="7492636" cy="866899"/>
          </a:xfrm>
          <a:prstGeom prst="rect">
            <a:avLst/>
          </a:prstGeom>
          <a:solidFill>
            <a:srgbClr val="ACEA9B">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r>
              <a:rPr lang="en-IN" sz="1350" dirty="0">
                <a:solidFill>
                  <a:schemeClr val="tx1"/>
                </a:solidFill>
              </a:rPr>
              <a:t>AI platform predicts 50-year climate impacts and quantifies $ value of resilience per investment, combining climate, asset, and equity data. Enterprise-proven yet simple enough for municipal utilities with one-click GIS upload. Transforms reactive planning into predictive, optimized capital with justifications.</a:t>
            </a:r>
            <a:endParaRPr lang="en-IN" sz="1350" dirty="0">
              <a:solidFill>
                <a:schemeClr val="tx1"/>
              </a:solidFill>
              <a:latin typeface="+mj-lt"/>
            </a:endParaRPr>
          </a:p>
        </p:txBody>
      </p:sp>
      <p:sp>
        <p:nvSpPr>
          <p:cNvPr id="17" name="ee4pContent1">
            <a:extLst>
              <a:ext uri="{FF2B5EF4-FFF2-40B4-BE49-F238E27FC236}">
                <a16:creationId xmlns:a16="http://schemas.microsoft.com/office/drawing/2014/main" id="{94A0DB70-6E6F-2B1E-B2CA-659247D68BAE}"/>
              </a:ext>
            </a:extLst>
          </p:cNvPr>
          <p:cNvSpPr txBox="1">
            <a:spLocks/>
          </p:cNvSpPr>
          <p:nvPr>
            <p:custDataLst>
              <p:tags r:id="rId6"/>
            </p:custDataLst>
          </p:nvPr>
        </p:nvSpPr>
        <p:spPr>
          <a:xfrm>
            <a:off x="667206" y="6175169"/>
            <a:ext cx="6339236" cy="692294"/>
          </a:xfrm>
          <a:prstGeom prst="rect">
            <a:avLst/>
          </a:prstGeom>
        </p:spPr>
        <p:txBody>
          <a:bodyPr vert="horz" lIns="0" tIns="0" rIns="0" bIns="0" rtlCol="0">
            <a:normAutofit/>
          </a:bodyPr>
          <a:lst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00000"/>
              </a:lnSpc>
              <a:spcBef>
                <a:spcPts val="0"/>
              </a:spcBef>
              <a:spcAft>
                <a:spcPts val="0"/>
              </a:spcAft>
              <a:buNone/>
            </a:pPr>
            <a:r>
              <a:rPr lang="en-IN" sz="1100" dirty="0"/>
              <a:t>Sources: </a:t>
            </a:r>
            <a:r>
              <a:rPr lang="en-IN" sz="1100" dirty="0" err="1"/>
              <a:t>MarketsandMarkets</a:t>
            </a:r>
            <a:r>
              <a:rPr lang="en-IN" sz="1100" dirty="0"/>
              <a:t>, Grand View Research, Lighthouse Global</a:t>
            </a:r>
            <a:endParaRPr lang="en-US" sz="1100" b="0" dirty="0">
              <a:solidFill>
                <a:schemeClr val="tx1"/>
              </a:solidFill>
              <a:latin typeface="+mj-lt"/>
            </a:endParaRPr>
          </a:p>
        </p:txBody>
      </p:sp>
    </p:spTree>
    <p:extLst>
      <p:ext uri="{BB962C8B-B14F-4D97-AF65-F5344CB8AC3E}">
        <p14:creationId xmlns:p14="http://schemas.microsoft.com/office/powerpoint/2010/main" val="2459778935"/>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5DA8-5A8B-2BFC-E6E0-B853A36ED7A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13816B-614F-7364-0BB6-4BD52586EF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84" imgH="486" progId="TCLayout.ActiveDocument.1">
                  <p:embed/>
                </p:oleObj>
              </mc:Choice>
              <mc:Fallback>
                <p:oleObj name="think-cell Slide" r:id="rId10" imgW="484" imgH="486" progId="TCLayout.ActiveDocument.1">
                  <p:embed/>
                  <p:pic>
                    <p:nvPicPr>
                      <p:cNvPr id="6" name="Object 5" hidden="1">
                        <a:extLst>
                          <a:ext uri="{FF2B5EF4-FFF2-40B4-BE49-F238E27FC236}">
                            <a16:creationId xmlns:a16="http://schemas.microsoft.com/office/drawing/2014/main" id="{1313816B-614F-7364-0BB6-4BD52586EF2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E537EF82-8349-6078-C633-1ADF7DE97812}"/>
              </a:ext>
            </a:extLst>
          </p:cNvPr>
          <p:cNvSpPr>
            <a:spLocks noGrp="1"/>
          </p:cNvSpPr>
          <p:nvPr>
            <p:ph type="title"/>
          </p:nvPr>
        </p:nvSpPr>
        <p:spPr>
          <a:xfrm>
            <a:off x="4857007" y="550325"/>
            <a:ext cx="4052677" cy="507062"/>
          </a:xfrm>
        </p:spPr>
        <p:txBody>
          <a:bodyPr vert="horz">
            <a:noAutofit/>
          </a:bodyPr>
          <a:lstStyle/>
          <a:p>
            <a:pPr algn="ctr"/>
            <a:r>
              <a:rPr lang="en-IN" sz="2800" dirty="0"/>
              <a:t>Rhizome's Intelligence Layer</a:t>
            </a:r>
            <a:endParaRPr lang="en-US" sz="2700" cap="none" dirty="0"/>
          </a:p>
        </p:txBody>
      </p:sp>
      <p:pic>
        <p:nvPicPr>
          <p:cNvPr id="7" name="Graphic 6" descr="Add outline">
            <a:extLst>
              <a:ext uri="{FF2B5EF4-FFF2-40B4-BE49-F238E27FC236}">
                <a16:creationId xmlns:a16="http://schemas.microsoft.com/office/drawing/2014/main" id="{E2DFBA97-193D-E47F-E171-9A04B8F5E5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2893039"/>
            <a:ext cx="212056" cy="212056"/>
          </a:xfrm>
          <a:prstGeom prst="rect">
            <a:avLst/>
          </a:prstGeom>
        </p:spPr>
      </p:pic>
      <p:sp>
        <p:nvSpPr>
          <p:cNvPr id="18" name="ee4pHeader3">
            <a:extLst>
              <a:ext uri="{FF2B5EF4-FFF2-40B4-BE49-F238E27FC236}">
                <a16:creationId xmlns:a16="http://schemas.microsoft.com/office/drawing/2014/main" id="{810DCE58-7D95-DDE8-4414-F3ECBD96D375}"/>
              </a:ext>
            </a:extLst>
          </p:cNvPr>
          <p:cNvSpPr txBox="1"/>
          <p:nvPr>
            <p:custDataLst>
              <p:tags r:id="rId2"/>
            </p:custDataLst>
          </p:nvPr>
        </p:nvSpPr>
        <p:spPr>
          <a:xfrm>
            <a:off x="283575" y="4935828"/>
            <a:ext cx="3785065" cy="102307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marL="0" lvl="3" algn="ctr"/>
            <a:r>
              <a:rPr lang="en-IN" sz="1600" dirty="0">
                <a:solidFill>
                  <a:schemeClr val="tx1"/>
                </a:solidFill>
              </a:rPr>
              <a:t>Overall difficult process for each scenario, no truly predictive methods, reliance on only the past. </a:t>
            </a:r>
          </a:p>
        </p:txBody>
      </p:sp>
      <p:cxnSp>
        <p:nvCxnSpPr>
          <p:cNvPr id="29" name="Straight Connector 28">
            <a:extLst>
              <a:ext uri="{FF2B5EF4-FFF2-40B4-BE49-F238E27FC236}">
                <a16:creationId xmlns:a16="http://schemas.microsoft.com/office/drawing/2014/main" id="{31ECA494-69B3-1447-A84B-DDC093B3AE9E}"/>
              </a:ext>
            </a:extLst>
          </p:cNvPr>
          <p:cNvCxnSpPr>
            <a:cxnSpLocks/>
          </p:cNvCxnSpPr>
          <p:nvPr/>
        </p:nvCxnSpPr>
        <p:spPr>
          <a:xfrm>
            <a:off x="4572000" y="1294874"/>
            <a:ext cx="0" cy="4526056"/>
          </a:xfrm>
          <a:prstGeom prst="line">
            <a:avLst/>
          </a:prstGeom>
          <a:ln/>
        </p:spPr>
        <p:style>
          <a:lnRef idx="2">
            <a:schemeClr val="accent1"/>
          </a:lnRef>
          <a:fillRef idx="0">
            <a:schemeClr val="accent1"/>
          </a:fillRef>
          <a:effectRef idx="1">
            <a:schemeClr val="accent1"/>
          </a:effectRef>
          <a:fontRef idx="minor">
            <a:schemeClr val="tx1"/>
          </a:fontRef>
        </p:style>
      </p:cxnSp>
      <p:sp>
        <p:nvSpPr>
          <p:cNvPr id="9" name="ee4pHeader3">
            <a:extLst>
              <a:ext uri="{FF2B5EF4-FFF2-40B4-BE49-F238E27FC236}">
                <a16:creationId xmlns:a16="http://schemas.microsoft.com/office/drawing/2014/main" id="{1AABCF57-4714-8181-757F-0CF483446278}"/>
              </a:ext>
            </a:extLst>
          </p:cNvPr>
          <p:cNvSpPr txBox="1"/>
          <p:nvPr>
            <p:custDataLst>
              <p:tags r:id="rId3"/>
            </p:custDataLst>
          </p:nvPr>
        </p:nvSpPr>
        <p:spPr>
          <a:xfrm>
            <a:off x="283552" y="3169959"/>
            <a:ext cx="3785065" cy="1380055"/>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600" b="1" dirty="0">
                <a:solidFill>
                  <a:schemeClr val="tx1"/>
                </a:solidFill>
              </a:rPr>
              <a:t>Manual Processes</a:t>
            </a:r>
            <a:r>
              <a:rPr lang="en-IN" sz="1600" dirty="0">
                <a:solidFill>
                  <a:schemeClr val="tx1"/>
                </a:solidFill>
              </a:rPr>
              <a:t>: Weeks of engineering time for each investment scenario </a:t>
            </a:r>
            <a:r>
              <a:rPr lang="en-IN" sz="1600" b="1" dirty="0">
                <a:solidFill>
                  <a:schemeClr val="tx1"/>
                </a:solidFill>
              </a:rPr>
              <a:t>Regulatory Friction</a:t>
            </a:r>
            <a:r>
              <a:rPr lang="en-IN" sz="1600" dirty="0">
                <a:solidFill>
                  <a:schemeClr val="tx1"/>
                </a:solidFill>
              </a:rPr>
              <a:t>: Difficulty quantifying resilience benefits for rate cases</a:t>
            </a:r>
          </a:p>
        </p:txBody>
      </p:sp>
      <p:sp>
        <p:nvSpPr>
          <p:cNvPr id="10" name="ee4pHeader3">
            <a:extLst>
              <a:ext uri="{FF2B5EF4-FFF2-40B4-BE49-F238E27FC236}">
                <a16:creationId xmlns:a16="http://schemas.microsoft.com/office/drawing/2014/main" id="{C37282AF-AF3C-9768-DE55-985B8D9ECDCB}"/>
              </a:ext>
            </a:extLst>
          </p:cNvPr>
          <p:cNvSpPr txBox="1"/>
          <p:nvPr>
            <p:custDataLst>
              <p:tags r:id="rId4"/>
            </p:custDataLst>
          </p:nvPr>
        </p:nvSpPr>
        <p:spPr>
          <a:xfrm>
            <a:off x="288167" y="1294873"/>
            <a:ext cx="3852000" cy="143088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600" b="1" dirty="0">
                <a:solidFill>
                  <a:schemeClr val="tx1"/>
                </a:solidFill>
              </a:rPr>
              <a:t>Historical Bias</a:t>
            </a:r>
            <a:r>
              <a:rPr lang="en-IN" sz="1600" dirty="0">
                <a:solidFill>
                  <a:schemeClr val="tx1"/>
                </a:solidFill>
              </a:rPr>
              <a:t>: Utilities rely on past weather patterns that no longer predict future risks </a:t>
            </a:r>
            <a:r>
              <a:rPr lang="en-IN" sz="1600" b="1" dirty="0">
                <a:solidFill>
                  <a:schemeClr val="tx1"/>
                </a:solidFill>
              </a:rPr>
              <a:t>Siloed Analysis</a:t>
            </a:r>
            <a:r>
              <a:rPr lang="en-IN" sz="1600" dirty="0">
                <a:solidFill>
                  <a:schemeClr val="tx1"/>
                </a:solidFill>
              </a:rPr>
              <a:t>: Climate, asset, and social vulnerability data </a:t>
            </a:r>
            <a:r>
              <a:rPr lang="en-IN" sz="1600" dirty="0" err="1">
                <a:solidFill>
                  <a:schemeClr val="tx1"/>
                </a:solidFill>
              </a:rPr>
              <a:t>analyzed</a:t>
            </a:r>
            <a:r>
              <a:rPr lang="en-IN" sz="1600" dirty="0">
                <a:solidFill>
                  <a:schemeClr val="tx1"/>
                </a:solidFill>
              </a:rPr>
              <a:t> separately</a:t>
            </a:r>
          </a:p>
        </p:txBody>
      </p:sp>
      <p:pic>
        <p:nvPicPr>
          <p:cNvPr id="26" name="Graphic 25" descr="Add outline">
            <a:extLst>
              <a:ext uri="{FF2B5EF4-FFF2-40B4-BE49-F238E27FC236}">
                <a16:creationId xmlns:a16="http://schemas.microsoft.com/office/drawing/2014/main" id="{4A627375-5A35-B5C3-2BDE-FDF5E8299BE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3267381"/>
            <a:ext cx="212758" cy="212758"/>
          </a:xfrm>
          <a:prstGeom prst="rect">
            <a:avLst/>
          </a:prstGeom>
        </p:spPr>
      </p:pic>
      <p:sp>
        <p:nvSpPr>
          <p:cNvPr id="30" name="ee4pHeader3">
            <a:extLst>
              <a:ext uri="{FF2B5EF4-FFF2-40B4-BE49-F238E27FC236}">
                <a16:creationId xmlns:a16="http://schemas.microsoft.com/office/drawing/2014/main" id="{4689E089-795A-AB7A-9AAB-59D4A7D6FDAA}"/>
              </a:ext>
            </a:extLst>
          </p:cNvPr>
          <p:cNvSpPr txBox="1"/>
          <p:nvPr>
            <p:custDataLst>
              <p:tags r:id="rId5"/>
            </p:custDataLst>
          </p:nvPr>
        </p:nvSpPr>
        <p:spPr>
          <a:xfrm>
            <a:off x="5018675" y="4935828"/>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400" b="1" dirty="0">
                <a:solidFill>
                  <a:schemeClr val="tx1"/>
                </a:solidFill>
              </a:rPr>
              <a:t>Rapid Deployment</a:t>
            </a:r>
            <a:r>
              <a:rPr lang="en-IN" sz="1400" dirty="0">
                <a:solidFill>
                  <a:schemeClr val="tx1"/>
                </a:solidFill>
              </a:rPr>
              <a:t>: </a:t>
            </a:r>
            <a:r>
              <a:rPr lang="en-IN" sz="1400" dirty="0" err="1">
                <a:solidFill>
                  <a:schemeClr val="tx1"/>
                </a:solidFill>
              </a:rPr>
              <a:t>gridCAVA</a:t>
            </a:r>
            <a:r>
              <a:rPr lang="en-IN" sz="1400" dirty="0">
                <a:solidFill>
                  <a:schemeClr val="tx1"/>
                </a:solidFill>
              </a:rPr>
              <a:t> (an affordable climate vulnerability assessment tool designed specifically for municipal and cooperative utilities) enables quick vulnerability assessments</a:t>
            </a:r>
          </a:p>
        </p:txBody>
      </p:sp>
      <p:sp>
        <p:nvSpPr>
          <p:cNvPr id="31" name="ee4pHeader3">
            <a:extLst>
              <a:ext uri="{FF2B5EF4-FFF2-40B4-BE49-F238E27FC236}">
                <a16:creationId xmlns:a16="http://schemas.microsoft.com/office/drawing/2014/main" id="{C435C643-AFD8-A711-98E3-3F4D8F7E1015}"/>
              </a:ext>
            </a:extLst>
          </p:cNvPr>
          <p:cNvSpPr txBox="1"/>
          <p:nvPr>
            <p:custDataLst>
              <p:tags r:id="rId6"/>
            </p:custDataLst>
          </p:nvPr>
        </p:nvSpPr>
        <p:spPr>
          <a:xfrm>
            <a:off x="5018652" y="3529674"/>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600" b="1" dirty="0">
                <a:solidFill>
                  <a:schemeClr val="tx1"/>
                </a:solidFill>
              </a:rPr>
              <a:t>Multi-Modal Analysis</a:t>
            </a:r>
            <a:r>
              <a:rPr lang="en-IN" sz="1600" dirty="0">
                <a:solidFill>
                  <a:schemeClr val="tx1"/>
                </a:solidFill>
              </a:rPr>
              <a:t>: Combines utility system data, climate projections, and social vulnerability in one platform</a:t>
            </a:r>
          </a:p>
        </p:txBody>
      </p:sp>
      <p:sp>
        <p:nvSpPr>
          <p:cNvPr id="32" name="ee4pHeader3">
            <a:extLst>
              <a:ext uri="{FF2B5EF4-FFF2-40B4-BE49-F238E27FC236}">
                <a16:creationId xmlns:a16="http://schemas.microsoft.com/office/drawing/2014/main" id="{2A52D871-5644-1E13-6BFE-C32D17C4AC21}"/>
              </a:ext>
            </a:extLst>
          </p:cNvPr>
          <p:cNvSpPr txBox="1"/>
          <p:nvPr>
            <p:custDataLst>
              <p:tags r:id="rId7"/>
            </p:custDataLst>
          </p:nvPr>
        </p:nvSpPr>
        <p:spPr>
          <a:xfrm>
            <a:off x="5023268" y="1294874"/>
            <a:ext cx="3785065" cy="1936882"/>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600" b="1" dirty="0">
                <a:solidFill>
                  <a:schemeClr val="tx1"/>
                </a:solidFill>
              </a:rPr>
              <a:t>Forward-Looking Intelligence</a:t>
            </a:r>
            <a:r>
              <a:rPr lang="en-IN" sz="1600" dirty="0">
                <a:solidFill>
                  <a:schemeClr val="tx1"/>
                </a:solidFill>
              </a:rPr>
              <a:t>: By leveraging AI against climate risk data and digital representations of the physical grid, Rhizome's platform identifies vulnerabilities and prioritizes resilience investments and upgrades.</a:t>
            </a:r>
          </a:p>
        </p:txBody>
      </p:sp>
      <p:sp>
        <p:nvSpPr>
          <p:cNvPr id="4" name="Title 1">
            <a:extLst>
              <a:ext uri="{FF2B5EF4-FFF2-40B4-BE49-F238E27FC236}">
                <a16:creationId xmlns:a16="http://schemas.microsoft.com/office/drawing/2014/main" id="{472E7521-22FA-0764-9E06-5F88901EB6B0}"/>
              </a:ext>
            </a:extLst>
          </p:cNvPr>
          <p:cNvSpPr txBox="1">
            <a:spLocks/>
          </p:cNvSpPr>
          <p:nvPr/>
        </p:nvSpPr>
        <p:spPr>
          <a:xfrm>
            <a:off x="234317" y="596277"/>
            <a:ext cx="4052677" cy="507062"/>
          </a:xfrm>
          <a:prstGeom prst="rect">
            <a:avLst/>
          </a:prstGeom>
        </p:spPr>
        <p:txBody>
          <a:bodyPr vert="horz" wrap="square" lIns="90000" tIns="46800" rIns="90000" bIns="46800" rtlCol="0" anchor="b" anchorCtr="0">
            <a:noAutofit/>
          </a:bodyPr>
          <a:lst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a:lstStyle>
          <a:p>
            <a:pPr algn="ctr"/>
            <a:r>
              <a:rPr lang="en-IN" sz="2800" dirty="0"/>
              <a:t>Traditional </a:t>
            </a:r>
          </a:p>
          <a:p>
            <a:pPr algn="ctr"/>
            <a:r>
              <a:rPr lang="en-IN" sz="2800" dirty="0"/>
              <a:t>Planning</a:t>
            </a:r>
            <a:endParaRPr lang="en-IN" sz="2700" dirty="0"/>
          </a:p>
        </p:txBody>
      </p:sp>
      <p:pic>
        <p:nvPicPr>
          <p:cNvPr id="2" name="Graphic 1" descr="Add outline">
            <a:extLst>
              <a:ext uri="{FF2B5EF4-FFF2-40B4-BE49-F238E27FC236}">
                <a16:creationId xmlns:a16="http://schemas.microsoft.com/office/drawing/2014/main" id="{E64CB5CA-B63E-AA4F-6FCA-0C65B852137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4662999"/>
            <a:ext cx="212758" cy="212758"/>
          </a:xfrm>
          <a:prstGeom prst="rect">
            <a:avLst/>
          </a:prstGeom>
        </p:spPr>
      </p:pic>
      <p:pic>
        <p:nvPicPr>
          <p:cNvPr id="3" name="Graphic 2" descr="Add outline">
            <a:extLst>
              <a:ext uri="{FF2B5EF4-FFF2-40B4-BE49-F238E27FC236}">
                <a16:creationId xmlns:a16="http://schemas.microsoft.com/office/drawing/2014/main" id="{BD8A7C02-9B3D-AFD9-7F09-9BDB6ADD71E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4658908"/>
            <a:ext cx="212056" cy="212056"/>
          </a:xfrm>
          <a:prstGeom prst="rect">
            <a:avLst/>
          </a:prstGeom>
        </p:spPr>
      </p:pic>
    </p:spTree>
    <p:extLst>
      <p:ext uri="{BB962C8B-B14F-4D97-AF65-F5344CB8AC3E}">
        <p14:creationId xmlns:p14="http://schemas.microsoft.com/office/powerpoint/2010/main" val="3076047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B169-EEE5-B428-B115-10C7454FCA82}"/>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2F382D1-D00F-7587-EA02-352D9FB729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Object 5" hidden="1">
                        <a:extLst>
                          <a:ext uri="{FF2B5EF4-FFF2-40B4-BE49-F238E27FC236}">
                            <a16:creationId xmlns:a16="http://schemas.microsoft.com/office/drawing/2014/main" id="{92F382D1-D00F-7587-EA02-352D9FB729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0B2A4F69-9ACF-0CAA-B5E9-BF79A42EB4B7}"/>
              </a:ext>
            </a:extLst>
          </p:cNvPr>
          <p:cNvSpPr txBox="1"/>
          <p:nvPr/>
        </p:nvSpPr>
        <p:spPr>
          <a:xfrm>
            <a:off x="597170" y="1321174"/>
            <a:ext cx="7551150" cy="4483279"/>
          </a:xfrm>
          <a:prstGeom prst="rect">
            <a:avLst/>
          </a:prstGeom>
          <a:noFill/>
        </p:spPr>
        <p:txBody>
          <a:bodyPr wrap="square" rtlCol="0">
            <a:spAutoFit/>
          </a:bodyPr>
          <a:lstStyle/>
          <a:p>
            <a:pPr marL="342900" indent="-342900">
              <a:lnSpc>
                <a:spcPct val="150000"/>
              </a:lnSpc>
              <a:buFont typeface="+mj-lt"/>
              <a:buAutoNum type="arabicPeriod"/>
            </a:pPr>
            <a:r>
              <a:rPr lang="en-IN" sz="1600" b="1" dirty="0"/>
              <a:t>Climate impacts accelerating utility investment needs.</a:t>
            </a:r>
            <a:r>
              <a:rPr lang="en-IN" sz="1600" dirty="0"/>
              <a:t> The U.S. has already been hit with 24 billion-dollar extreme weather-related events this year, the most in a year since records have been kept, driving unprecedented grid hardening requirements. </a:t>
            </a:r>
          </a:p>
          <a:p>
            <a:pPr marL="342900" indent="-342900">
              <a:lnSpc>
                <a:spcPct val="150000"/>
              </a:lnSpc>
              <a:buFont typeface="+mj-lt"/>
              <a:buAutoNum type="arabicPeriod"/>
            </a:pPr>
            <a:r>
              <a:rPr lang="en-IN" sz="1600" b="1" dirty="0"/>
              <a:t>Energy resilience market experiencing rapid growth.</a:t>
            </a:r>
            <a:r>
              <a:rPr lang="en-IN" sz="1600" dirty="0"/>
              <a:t> Energy Resilience Market size is growing with a CAGR of 9.7% in the prediction period &amp; it crosses USD 95.64 Bn by 2032 from USD 49.99 Bn in 2025. </a:t>
            </a:r>
          </a:p>
          <a:p>
            <a:pPr marL="342900" indent="-342900">
              <a:lnSpc>
                <a:spcPct val="150000"/>
              </a:lnSpc>
              <a:buFont typeface="+mj-lt"/>
              <a:buAutoNum type="arabicPeriod"/>
            </a:pPr>
            <a:r>
              <a:rPr lang="en-IN" sz="1600" b="1" dirty="0"/>
              <a:t>Regulatory frameworks creating tailwinds.</a:t>
            </a:r>
            <a:r>
              <a:rPr lang="en-IN" sz="1600" dirty="0"/>
              <a:t> more than $65 billion in funding from the bipartisan infrastructure law is beginning to flow into the grid while states mandate resilience planning. </a:t>
            </a:r>
          </a:p>
          <a:p>
            <a:pPr marL="342900" indent="-342900">
              <a:lnSpc>
                <a:spcPct val="150000"/>
              </a:lnSpc>
              <a:buFont typeface="+mj-lt"/>
              <a:buAutoNum type="arabicPeriod"/>
            </a:pPr>
            <a:r>
              <a:rPr lang="en-IN" sz="1600" b="1" dirty="0"/>
              <a:t>AI/ML becoming the differentiator.</a:t>
            </a:r>
            <a:r>
              <a:rPr lang="en-IN" sz="1600" dirty="0"/>
              <a:t> Rhizome, which just announced a $6.5 million seed round, uses AI to help assess and prevent climate change-induced grid infrastructure vulnerabilities. Moving from reactive to predictive planning.</a:t>
            </a:r>
          </a:p>
        </p:txBody>
      </p:sp>
      <p:sp>
        <p:nvSpPr>
          <p:cNvPr id="8" name="Title 1">
            <a:extLst>
              <a:ext uri="{FF2B5EF4-FFF2-40B4-BE49-F238E27FC236}">
                <a16:creationId xmlns:a16="http://schemas.microsoft.com/office/drawing/2014/main" id="{3967CB08-C17F-3B35-9D70-5479DDA7CABC}"/>
              </a:ext>
            </a:extLst>
          </p:cNvPr>
          <p:cNvSpPr>
            <a:spLocks noGrp="1"/>
          </p:cNvSpPr>
          <p:nvPr>
            <p:ph type="title"/>
          </p:nvPr>
        </p:nvSpPr>
        <p:spPr>
          <a:xfrm>
            <a:off x="597170" y="528021"/>
            <a:ext cx="8675370" cy="507062"/>
          </a:xfrm>
        </p:spPr>
        <p:txBody>
          <a:bodyPr vert="horz">
            <a:noAutofit/>
          </a:bodyPr>
          <a:lstStyle/>
          <a:p>
            <a:r>
              <a:rPr lang="en-US" sz="3200" cap="none" dirty="0"/>
              <a:t>Some Key Observations about Market Structure </a:t>
            </a:r>
          </a:p>
        </p:txBody>
      </p:sp>
    </p:spTree>
    <p:extLst>
      <p:ext uri="{BB962C8B-B14F-4D97-AF65-F5344CB8AC3E}">
        <p14:creationId xmlns:p14="http://schemas.microsoft.com/office/powerpoint/2010/main" val="1181406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DD48-8682-3F15-F51B-2900400EEF9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BE5165A-3864-1BD6-A50C-518581CEB2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4" name="think-cell data - do not delete" hidden="1">
                        <a:extLst>
                          <a:ext uri="{FF2B5EF4-FFF2-40B4-BE49-F238E27FC236}">
                            <a16:creationId xmlns:a16="http://schemas.microsoft.com/office/drawing/2014/main" id="{9BE5165A-3864-1BD6-A50C-518581CEB2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046E7F1-86C6-C8F2-95BC-7AEF56914A07}"/>
              </a:ext>
            </a:extLst>
          </p:cNvPr>
          <p:cNvSpPr>
            <a:spLocks noGrp="1"/>
          </p:cNvSpPr>
          <p:nvPr>
            <p:ph type="title"/>
          </p:nvPr>
        </p:nvSpPr>
        <p:spPr/>
        <p:txBody>
          <a:bodyPr vert="horz"/>
          <a:lstStyle/>
          <a:p>
            <a:r>
              <a:rPr lang="en-US" dirty="0"/>
              <a:t>Sub-Verticals Market Maps</a:t>
            </a:r>
          </a:p>
        </p:txBody>
      </p:sp>
      <p:graphicFrame>
        <p:nvGraphicFramePr>
          <p:cNvPr id="7" name="Table 6">
            <a:extLst>
              <a:ext uri="{FF2B5EF4-FFF2-40B4-BE49-F238E27FC236}">
                <a16:creationId xmlns:a16="http://schemas.microsoft.com/office/drawing/2014/main" id="{D7152FFF-2E18-62ED-1EF2-B26A9BF376DB}"/>
              </a:ext>
            </a:extLst>
          </p:cNvPr>
          <p:cNvGraphicFramePr>
            <a:graphicFrameLocks noGrp="1"/>
          </p:cNvGraphicFramePr>
          <p:nvPr>
            <p:extLst>
              <p:ext uri="{D42A27DB-BD31-4B8C-83A1-F6EECF244321}">
                <p14:modId xmlns:p14="http://schemas.microsoft.com/office/powerpoint/2010/main" val="1445404625"/>
              </p:ext>
            </p:extLst>
          </p:nvPr>
        </p:nvGraphicFramePr>
        <p:xfrm>
          <a:off x="717972" y="1563686"/>
          <a:ext cx="7835935" cy="3578329"/>
        </p:xfrm>
        <a:graphic>
          <a:graphicData uri="http://schemas.openxmlformats.org/drawingml/2006/table">
            <a:tbl>
              <a:tblPr/>
              <a:tblGrid>
                <a:gridCol w="2308556">
                  <a:extLst>
                    <a:ext uri="{9D8B030D-6E8A-4147-A177-3AD203B41FA5}">
                      <a16:colId xmlns:a16="http://schemas.microsoft.com/office/drawing/2014/main" val="3089847232"/>
                    </a:ext>
                  </a:extLst>
                </a:gridCol>
                <a:gridCol w="2910936">
                  <a:extLst>
                    <a:ext uri="{9D8B030D-6E8A-4147-A177-3AD203B41FA5}">
                      <a16:colId xmlns:a16="http://schemas.microsoft.com/office/drawing/2014/main" val="3992271613"/>
                    </a:ext>
                  </a:extLst>
                </a:gridCol>
                <a:gridCol w="2616443">
                  <a:extLst>
                    <a:ext uri="{9D8B030D-6E8A-4147-A177-3AD203B41FA5}">
                      <a16:colId xmlns:a16="http://schemas.microsoft.com/office/drawing/2014/main" val="2670471653"/>
                    </a:ext>
                  </a:extLst>
                </a:gridCol>
              </a:tblGrid>
              <a:tr h="539642">
                <a:tc>
                  <a:txBody>
                    <a:bodyPr/>
                    <a:lstStyle/>
                    <a:p>
                      <a:pPr fontAlgn="t" latinLnBrk="0"/>
                      <a:r>
                        <a:rPr lang="en-US" sz="1200" b="0">
                          <a:solidFill>
                            <a:schemeClr val="bg1"/>
                          </a:solidFill>
                          <a:effectLst/>
                        </a:rPr>
                        <a:t>Vertical</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IN" sz="1200" dirty="0">
                          <a:solidFill>
                            <a:schemeClr val="bg1"/>
                          </a:solidFill>
                        </a:rPr>
                        <a:t>Legacy/Build Your Own</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US" sz="1200" b="0" dirty="0">
                          <a:solidFill>
                            <a:schemeClr val="bg1"/>
                          </a:solidFill>
                          <a:effectLst/>
                        </a:rPr>
                        <a:t>Modern Embedded</a:t>
                      </a: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70651633"/>
                  </a:ext>
                </a:extLst>
              </a:tr>
              <a:tr h="782805">
                <a:tc>
                  <a:txBody>
                    <a:bodyPr/>
                    <a:lstStyle/>
                    <a:p>
                      <a:pPr fontAlgn="base" latinLnBrk="0"/>
                      <a:r>
                        <a:rPr lang="en-IN" sz="1200" dirty="0"/>
                        <a:t>Climate Risk Assessment</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a:t>Historical weather data, Excel models, Consulting studies</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1" dirty="0"/>
                        <a:t>Rhizome (Aspen platform)</a:t>
                      </a:r>
                      <a:r>
                        <a:rPr lang="en-IN" sz="1200" dirty="0"/>
                        <a:t>, Jupiter Intelligence, One Concern, Climate AI</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2401165"/>
                  </a:ext>
                </a:extLst>
              </a:tr>
              <a:tr h="782805">
                <a:tc>
                  <a:txBody>
                    <a:bodyPr/>
                    <a:lstStyle/>
                    <a:p>
                      <a:pPr fontAlgn="base" latinLnBrk="0"/>
                      <a:r>
                        <a:rPr lang="en-IN" sz="1200" dirty="0"/>
                        <a:t>Grid Planning Software</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a:t>CYME, ETAP, </a:t>
                      </a:r>
                      <a:r>
                        <a:rPr lang="en-IN" sz="1200" dirty="0" err="1"/>
                        <a:t>PowerWorld</a:t>
                      </a:r>
                      <a:r>
                        <a:rPr lang="en-IN" sz="1200" dirty="0"/>
                        <a:t>, Manual processes</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b="1" dirty="0"/>
                        <a:t>Rhizome (</a:t>
                      </a:r>
                      <a:r>
                        <a:rPr lang="en-IN" sz="1200" b="1" dirty="0" err="1"/>
                        <a:t>gridADAPT</a:t>
                      </a:r>
                      <a:r>
                        <a:rPr lang="en-IN" sz="1200" b="1" dirty="0"/>
                        <a:t>)</a:t>
                      </a:r>
                      <a:r>
                        <a:rPr lang="en-IN" sz="1200" dirty="0"/>
                        <a:t>, Kevala, Pearl Street, Copperleaf</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556850"/>
                  </a:ext>
                </a:extLst>
              </a:tr>
              <a:tr h="550445">
                <a:tc>
                  <a:txBody>
                    <a:bodyPr/>
                    <a:lstStyle/>
                    <a:p>
                      <a:pPr fontAlgn="base" latinLnBrk="0"/>
                      <a:r>
                        <a:rPr lang="en-IN" sz="1200" dirty="0"/>
                        <a:t>Wildfire Risk Management</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err="1"/>
                        <a:t>Technosylva</a:t>
                      </a:r>
                      <a:r>
                        <a:rPr lang="en-IN" sz="1200" dirty="0"/>
                        <a:t>, Utility self-assessment, Manual vegetation management</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b="1" dirty="0"/>
                        <a:t>Rhizome (</a:t>
                      </a:r>
                      <a:r>
                        <a:rPr lang="en-IN" sz="1200" b="1" dirty="0" err="1"/>
                        <a:t>gridFIRM</a:t>
                      </a:r>
                      <a:r>
                        <a:rPr lang="en-IN" sz="1200" b="1" dirty="0"/>
                        <a:t>)</a:t>
                      </a:r>
                      <a:r>
                        <a:rPr lang="en-IN" sz="1200" dirty="0"/>
                        <a:t>, Overstory, </a:t>
                      </a:r>
                      <a:r>
                        <a:rPr lang="en-IN" sz="1200" dirty="0" err="1"/>
                        <a:t>AiDash</a:t>
                      </a:r>
                      <a:r>
                        <a:rPr lang="en-IN" sz="1200" dirty="0"/>
                        <a:t>, </a:t>
                      </a:r>
                      <a:r>
                        <a:rPr lang="en-IN" sz="1200" dirty="0" err="1"/>
                        <a:t>Pano</a:t>
                      </a:r>
                      <a:r>
                        <a:rPr lang="en-IN" sz="1200" dirty="0"/>
                        <a:t> AI</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035825"/>
                  </a:ext>
                </a:extLst>
              </a:tr>
              <a:tr h="461316">
                <a:tc>
                  <a:txBody>
                    <a:bodyPr/>
                    <a:lstStyle/>
                    <a:p>
                      <a:pPr fontAlgn="base" latinLnBrk="0"/>
                      <a:r>
                        <a:rPr lang="en-IN" sz="1200" dirty="0"/>
                        <a:t>Vulnerability Assessment</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a:t>Engineering consultants, One-off studies, Spreadsheet analysis</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b="1" dirty="0"/>
                        <a:t>Rhizome (</a:t>
                      </a:r>
                      <a:r>
                        <a:rPr lang="en-IN" sz="1200" b="1" dirty="0" err="1"/>
                        <a:t>gridCAVA</a:t>
                      </a:r>
                      <a:r>
                        <a:rPr lang="en-IN" sz="1200" b="1" dirty="0"/>
                        <a:t>)</a:t>
                      </a:r>
                      <a:r>
                        <a:rPr lang="en-IN" sz="1200" dirty="0"/>
                        <a:t>, Grid Subject Matter, </a:t>
                      </a:r>
                      <a:r>
                        <a:rPr lang="en-IN" sz="1200" dirty="0" err="1"/>
                        <a:t>Xendee</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789274"/>
                  </a:ext>
                </a:extLst>
              </a:tr>
              <a:tr h="461316">
                <a:tc>
                  <a:txBody>
                    <a:bodyPr/>
                    <a:lstStyle/>
                    <a:p>
                      <a:pPr fontAlgn="base" latinLnBrk="0"/>
                      <a:r>
                        <a:rPr lang="en-IN" sz="1200" dirty="0"/>
                        <a:t>Resilience Investment Optimization</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a:t>Cost-of-service models, Engineering judgment, Traditional BCA</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b="1" dirty="0"/>
                        <a:t>Rhizome</a:t>
                      </a:r>
                      <a:r>
                        <a:rPr lang="en-IN" sz="1200" dirty="0"/>
                        <a:t>, E Source, </a:t>
                      </a:r>
                      <a:r>
                        <a:rPr lang="en-IN" sz="1200" dirty="0" err="1"/>
                        <a:t>Guidehouse</a:t>
                      </a:r>
                      <a:r>
                        <a:rPr lang="en-IN" sz="1200" dirty="0"/>
                        <a:t>, 1898 &amp; Co.</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7087813"/>
                  </a:ext>
                </a:extLst>
              </a:tr>
            </a:tbl>
          </a:graphicData>
        </a:graphic>
      </p:graphicFrame>
    </p:spTree>
    <p:extLst>
      <p:ext uri="{BB962C8B-B14F-4D97-AF65-F5344CB8AC3E}">
        <p14:creationId xmlns:p14="http://schemas.microsoft.com/office/powerpoint/2010/main" val="427181267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845A-FC66-CD10-5FC3-4C639EBB8AD4}"/>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C0C63C-F32E-7009-090D-D5455278CA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4C0C63C-F32E-7009-090D-D5455278CA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06AE67B6-18ED-9806-B874-6A11BC1B8E65}"/>
              </a:ext>
            </a:extLst>
          </p:cNvPr>
          <p:cNvPicPr>
            <a:picLocks noChangeAspect="1"/>
          </p:cNvPicPr>
          <p:nvPr/>
        </p:nvPicPr>
        <p:blipFill>
          <a:blip r:embed="rId5"/>
          <a:stretch>
            <a:fillRect/>
          </a:stretch>
        </p:blipFill>
        <p:spPr>
          <a:xfrm>
            <a:off x="7077042" y="6478038"/>
            <a:ext cx="1415013" cy="160031"/>
          </a:xfrm>
          <a:prstGeom prst="rect">
            <a:avLst/>
          </a:prstGeom>
        </p:spPr>
      </p:pic>
      <p:sp>
        <p:nvSpPr>
          <p:cNvPr id="7" name="Title 1">
            <a:extLst>
              <a:ext uri="{FF2B5EF4-FFF2-40B4-BE49-F238E27FC236}">
                <a16:creationId xmlns:a16="http://schemas.microsoft.com/office/drawing/2014/main" id="{C07FBF04-7B4A-4992-E93A-F983E13C5240}"/>
              </a:ext>
            </a:extLst>
          </p:cNvPr>
          <p:cNvSpPr>
            <a:spLocks noGrp="1"/>
          </p:cNvSpPr>
          <p:nvPr>
            <p:ph type="title"/>
          </p:nvPr>
        </p:nvSpPr>
        <p:spPr>
          <a:xfrm>
            <a:off x="644814" y="4413843"/>
            <a:ext cx="7886700" cy="507062"/>
          </a:xfrm>
        </p:spPr>
        <p:txBody>
          <a:bodyPr vert="horz"/>
          <a:lstStyle/>
          <a:p>
            <a:r>
              <a:rPr lang="en-US" cap="none">
                <a:latin typeface="Roboto Condensed"/>
                <a:ea typeface="Roboto Condensed"/>
              </a:rPr>
              <a:t>WestBridge Partnership</a:t>
            </a:r>
          </a:p>
        </p:txBody>
      </p:sp>
      <p:cxnSp>
        <p:nvCxnSpPr>
          <p:cNvPr id="12" name="Straight Connector 11">
            <a:extLst>
              <a:ext uri="{FF2B5EF4-FFF2-40B4-BE49-F238E27FC236}">
                <a16:creationId xmlns:a16="http://schemas.microsoft.com/office/drawing/2014/main" id="{4A0645BF-DB55-FDE9-6E4A-181CDFCD5DED}"/>
              </a:ext>
            </a:extLst>
          </p:cNvPr>
          <p:cNvCxnSpPr/>
          <p:nvPr/>
        </p:nvCxnSpPr>
        <p:spPr>
          <a:xfrm>
            <a:off x="644814" y="5195843"/>
            <a:ext cx="7886700"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95A78D-A480-AF7B-6CE5-9E94A6F4EE86}"/>
              </a:ext>
            </a:extLst>
          </p:cNvPr>
          <p:cNvSpPr/>
          <p:nvPr/>
        </p:nvSpPr>
        <p:spPr>
          <a:xfrm>
            <a:off x="512748" y="888763"/>
            <a:ext cx="8323603" cy="376013"/>
          </a:xfrm>
          <a:prstGeom prst="rect">
            <a:avLst/>
          </a:prstGeom>
          <a:solidFill>
            <a:srgbClr val="EFEFEF"/>
          </a:solidFill>
          <a:ln>
            <a:solidFill>
              <a:srgbClr val="EF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199814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40044E-4AE2-54C0-FA33-FD4439FE3A16}"/>
              </a:ext>
            </a:extLst>
          </p:cNvPr>
          <p:cNvSpPr txBox="1"/>
          <p:nvPr/>
        </p:nvSpPr>
        <p:spPr>
          <a:xfrm>
            <a:off x="689887" y="1084859"/>
            <a:ext cx="2559499" cy="338554"/>
          </a:xfrm>
          <a:prstGeom prst="rect">
            <a:avLst/>
          </a:prstGeom>
          <a:noFill/>
        </p:spPr>
        <p:txBody>
          <a:bodyPr wrap="square" rtlCol="0">
            <a:spAutoFit/>
          </a:bodyPr>
          <a:lstStyle/>
          <a:p>
            <a:r>
              <a:rPr lang="en-US" sz="1600">
                <a:solidFill>
                  <a:srgbClr val="515151"/>
                </a:solidFill>
                <a:latin typeface="Roboto Condensed Light" panose="02000000000000000000" pitchFamily="2" charset="0"/>
                <a:ea typeface="Roboto Condensed Light" panose="02000000000000000000" pitchFamily="2" charset="0"/>
              </a:rPr>
              <a:t>US-India Fund</a:t>
            </a:r>
            <a:endParaRPr lang="en-US" sz="1600" baseline="30000">
              <a:solidFill>
                <a:srgbClr val="515151"/>
              </a:solidFill>
              <a:latin typeface="Roboto Condensed Light" panose="02000000000000000000" pitchFamily="2" charset="0"/>
              <a:ea typeface="Roboto Condensed Light" panose="02000000000000000000" pitchFamily="2" charset="0"/>
            </a:endParaRPr>
          </a:p>
        </p:txBody>
      </p:sp>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grpSp>
        <p:nvGrpSpPr>
          <p:cNvPr id="51" name="Group 50">
            <a:extLst>
              <a:ext uri="{FF2B5EF4-FFF2-40B4-BE49-F238E27FC236}">
                <a16:creationId xmlns:a16="http://schemas.microsoft.com/office/drawing/2014/main" id="{D8EBB63C-BDC4-4578-B23B-8C23EAF091BA}"/>
              </a:ext>
            </a:extLst>
          </p:cNvPr>
          <p:cNvGrpSpPr/>
          <p:nvPr/>
        </p:nvGrpSpPr>
        <p:grpSpPr>
          <a:xfrm>
            <a:off x="998053" y="1822755"/>
            <a:ext cx="7147894" cy="1116856"/>
            <a:chOff x="590461" y="3163369"/>
            <a:chExt cx="7862683" cy="1228542"/>
          </a:xfrm>
        </p:grpSpPr>
        <p:sp>
          <p:nvSpPr>
            <p:cNvPr id="52" name="Title 1">
              <a:extLst>
                <a:ext uri="{FF2B5EF4-FFF2-40B4-BE49-F238E27FC236}">
                  <a16:creationId xmlns:a16="http://schemas.microsoft.com/office/drawing/2014/main" id="{B6A67DBE-DF56-42BD-B8AA-E3684DE02594}"/>
                </a:ext>
              </a:extLst>
            </p:cNvPr>
            <p:cNvSpPr txBox="1">
              <a:spLocks/>
            </p:cNvSpPr>
            <p:nvPr/>
          </p:nvSpPr>
          <p:spPr>
            <a:xfrm>
              <a:off x="3549227"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150+</a:t>
              </a:r>
              <a:endParaRPr lang="en-IN" sz="4400">
                <a:solidFill>
                  <a:srgbClr val="47A2CB"/>
                </a:solidFill>
                <a:latin typeface="+mn-lt"/>
                <a:ea typeface="Roboto Condensed Light" panose="02000000000000000000" pitchFamily="2" charset="0"/>
              </a:endParaRPr>
            </a:p>
          </p:txBody>
        </p:sp>
        <p:sp>
          <p:nvSpPr>
            <p:cNvPr id="53" name="Title 1">
              <a:extLst>
                <a:ext uri="{FF2B5EF4-FFF2-40B4-BE49-F238E27FC236}">
                  <a16:creationId xmlns:a16="http://schemas.microsoft.com/office/drawing/2014/main" id="{6AA3A7A8-39BB-435E-AEF8-7088FD84EE0A}"/>
                </a:ext>
              </a:extLst>
            </p:cNvPr>
            <p:cNvSpPr txBox="1">
              <a:spLocks/>
            </p:cNvSpPr>
            <p:nvPr/>
          </p:nvSpPr>
          <p:spPr>
            <a:xfrm>
              <a:off x="3278284"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Investments</a:t>
              </a:r>
              <a:endParaRPr lang="en-IN" sz="2000" baseline="30000">
                <a:solidFill>
                  <a:schemeClr val="accent5"/>
                </a:solidFill>
                <a:latin typeface="+mn-lt"/>
                <a:ea typeface="Roboto Condensed Light" panose="02000000000000000000" pitchFamily="2" charset="0"/>
              </a:endParaRPr>
            </a:p>
          </p:txBody>
        </p:sp>
        <p:sp>
          <p:nvSpPr>
            <p:cNvPr id="54" name="Title 1">
              <a:extLst>
                <a:ext uri="{FF2B5EF4-FFF2-40B4-BE49-F238E27FC236}">
                  <a16:creationId xmlns:a16="http://schemas.microsoft.com/office/drawing/2014/main" id="{2C713179-4B76-4E2A-AC1E-7B09D0FD3D51}"/>
                </a:ext>
              </a:extLst>
            </p:cNvPr>
            <p:cNvSpPr txBox="1">
              <a:spLocks/>
            </p:cNvSpPr>
            <p:nvPr/>
          </p:nvSpPr>
          <p:spPr>
            <a:xfrm>
              <a:off x="781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~$8</a:t>
              </a:r>
              <a:r>
                <a:rPr lang="en-IN" sz="4400">
                  <a:solidFill>
                    <a:srgbClr val="47A2CB"/>
                  </a:solidFill>
                  <a:latin typeface="+mn-lt"/>
                  <a:ea typeface="Roboto Condensed Light" panose="02000000000000000000" pitchFamily="2" charset="0"/>
                </a:rPr>
                <a:t>b</a:t>
              </a:r>
            </a:p>
          </p:txBody>
        </p:sp>
        <p:sp>
          <p:nvSpPr>
            <p:cNvPr id="55" name="Title 1">
              <a:extLst>
                <a:ext uri="{FF2B5EF4-FFF2-40B4-BE49-F238E27FC236}">
                  <a16:creationId xmlns:a16="http://schemas.microsoft.com/office/drawing/2014/main" id="{4FF106FE-AC07-4339-9237-3176860AB694}"/>
                </a:ext>
              </a:extLst>
            </p:cNvPr>
            <p:cNvSpPr txBox="1">
              <a:spLocks/>
            </p:cNvSpPr>
            <p:nvPr/>
          </p:nvSpPr>
          <p:spPr>
            <a:xfrm>
              <a:off x="6115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$1B+</a:t>
              </a:r>
              <a:endParaRPr lang="en-IN" sz="4400">
                <a:solidFill>
                  <a:srgbClr val="47A2CB"/>
                </a:solidFill>
                <a:latin typeface="+mn-lt"/>
                <a:ea typeface="Roboto Condensed Light" panose="02000000000000000000" pitchFamily="2" charset="0"/>
              </a:endParaRPr>
            </a:p>
          </p:txBody>
        </p:sp>
        <p:sp>
          <p:nvSpPr>
            <p:cNvPr id="56" name="Title 1">
              <a:extLst>
                <a:ext uri="{FF2B5EF4-FFF2-40B4-BE49-F238E27FC236}">
                  <a16:creationId xmlns:a16="http://schemas.microsoft.com/office/drawing/2014/main" id="{99A0A283-6070-4660-8807-D14F4EC21E8A}"/>
                </a:ext>
              </a:extLst>
            </p:cNvPr>
            <p:cNvSpPr txBox="1">
              <a:spLocks/>
            </p:cNvSpPr>
            <p:nvPr/>
          </p:nvSpPr>
          <p:spPr>
            <a:xfrm>
              <a:off x="5865714" y="3900370"/>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New Tech Investments</a:t>
              </a:r>
              <a:endParaRPr lang="en-IN" sz="2000">
                <a:solidFill>
                  <a:schemeClr val="accent5"/>
                </a:solidFill>
                <a:latin typeface="+mn-lt"/>
                <a:ea typeface="Roboto Condensed Light" panose="02000000000000000000" pitchFamily="2" charset="0"/>
              </a:endParaRPr>
            </a:p>
          </p:txBody>
        </p:sp>
        <p:sp>
          <p:nvSpPr>
            <p:cNvPr id="57" name="Title 1">
              <a:extLst>
                <a:ext uri="{FF2B5EF4-FFF2-40B4-BE49-F238E27FC236}">
                  <a16:creationId xmlns:a16="http://schemas.microsoft.com/office/drawing/2014/main" id="{35BFDAAF-2B8C-409B-9643-F6EC26930CF2}"/>
                </a:ext>
              </a:extLst>
            </p:cNvPr>
            <p:cNvSpPr txBox="1">
              <a:spLocks/>
            </p:cNvSpPr>
            <p:nvPr/>
          </p:nvSpPr>
          <p:spPr>
            <a:xfrm>
              <a:off x="590461"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Crossover, Evergreen Fund</a:t>
              </a:r>
              <a:endParaRPr lang="en-IN" sz="2000" baseline="30000">
                <a:solidFill>
                  <a:schemeClr val="accent5"/>
                </a:solidFill>
                <a:latin typeface="+mn-lt"/>
                <a:ea typeface="Roboto Condensed Light" panose="02000000000000000000" pitchFamily="2" charset="0"/>
              </a:endParaRPr>
            </a:p>
          </p:txBody>
        </p:sp>
      </p:grpSp>
      <p:sp>
        <p:nvSpPr>
          <p:cNvPr id="59" name="Title 1">
            <a:extLst>
              <a:ext uri="{FF2B5EF4-FFF2-40B4-BE49-F238E27FC236}">
                <a16:creationId xmlns:a16="http://schemas.microsoft.com/office/drawing/2014/main" id="{0FC8B513-C208-4EBB-96AA-07CF7145B45E}"/>
              </a:ext>
            </a:extLst>
          </p:cNvPr>
          <p:cNvSpPr txBox="1">
            <a:spLocks/>
          </p:cNvSpPr>
          <p:nvPr/>
        </p:nvSpPr>
        <p:spPr>
          <a:xfrm>
            <a:off x="4944907" y="3899384"/>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4400">
                <a:solidFill>
                  <a:srgbClr val="47A2CB"/>
                </a:solidFill>
                <a:latin typeface="+mn-lt"/>
                <a:ea typeface="Roboto Condensed Light" panose="02000000000000000000" pitchFamily="2" charset="0"/>
              </a:rPr>
              <a:t>9</a:t>
            </a:r>
          </a:p>
        </p:txBody>
      </p:sp>
      <p:sp>
        <p:nvSpPr>
          <p:cNvPr id="60" name="Title 1">
            <a:extLst>
              <a:ext uri="{FF2B5EF4-FFF2-40B4-BE49-F238E27FC236}">
                <a16:creationId xmlns:a16="http://schemas.microsoft.com/office/drawing/2014/main" id="{F973E901-96CB-4F80-A067-C5E04DC76F1D}"/>
              </a:ext>
            </a:extLst>
          </p:cNvPr>
          <p:cNvSpPr txBox="1">
            <a:spLocks/>
          </p:cNvSpPr>
          <p:nvPr/>
        </p:nvSpPr>
        <p:spPr>
          <a:xfrm>
            <a:off x="4698596"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Unicorns</a:t>
            </a:r>
            <a:endParaRPr lang="en-IN" sz="2000">
              <a:solidFill>
                <a:schemeClr val="accent5"/>
              </a:solidFill>
              <a:latin typeface="+mn-lt"/>
              <a:ea typeface="Roboto Condensed Light" panose="02000000000000000000" pitchFamily="2" charset="0"/>
            </a:endParaRPr>
          </a:p>
        </p:txBody>
      </p:sp>
      <p:sp>
        <p:nvSpPr>
          <p:cNvPr id="61" name="Title 1">
            <a:extLst>
              <a:ext uri="{FF2B5EF4-FFF2-40B4-BE49-F238E27FC236}">
                <a16:creationId xmlns:a16="http://schemas.microsoft.com/office/drawing/2014/main" id="{045980EE-E9AE-40F6-8319-D6D96C6F6366}"/>
              </a:ext>
            </a:extLst>
          </p:cNvPr>
          <p:cNvSpPr txBox="1">
            <a:spLocks/>
          </p:cNvSpPr>
          <p:nvPr/>
        </p:nvSpPr>
        <p:spPr>
          <a:xfrm>
            <a:off x="617910" y="3918390"/>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60+</a:t>
            </a:r>
            <a:endParaRPr lang="en-IN" sz="4400">
              <a:solidFill>
                <a:srgbClr val="47A2CB"/>
              </a:solidFill>
              <a:latin typeface="+mn-lt"/>
              <a:ea typeface="Roboto Condensed Light" panose="02000000000000000000" pitchFamily="2" charset="0"/>
            </a:endParaRPr>
          </a:p>
        </p:txBody>
      </p:sp>
      <p:sp>
        <p:nvSpPr>
          <p:cNvPr id="62" name="Title 1">
            <a:extLst>
              <a:ext uri="{FF2B5EF4-FFF2-40B4-BE49-F238E27FC236}">
                <a16:creationId xmlns:a16="http://schemas.microsoft.com/office/drawing/2014/main" id="{D12EAC46-4779-4CC6-8D88-2A94A71595C4}"/>
              </a:ext>
            </a:extLst>
          </p:cNvPr>
          <p:cNvSpPr txBox="1">
            <a:spLocks/>
          </p:cNvSpPr>
          <p:nvPr/>
        </p:nvSpPr>
        <p:spPr>
          <a:xfrm>
            <a:off x="6641575" y="3907219"/>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a:t>
            </a:r>
            <a:endParaRPr lang="en-IN" sz="4400">
              <a:solidFill>
                <a:srgbClr val="47A2CB"/>
              </a:solidFill>
              <a:latin typeface="+mn-lt"/>
              <a:ea typeface="Roboto Condensed Light" panose="02000000000000000000" pitchFamily="2" charset="0"/>
            </a:endParaRPr>
          </a:p>
        </p:txBody>
      </p:sp>
      <p:sp>
        <p:nvSpPr>
          <p:cNvPr id="63" name="Title 1">
            <a:extLst>
              <a:ext uri="{FF2B5EF4-FFF2-40B4-BE49-F238E27FC236}">
                <a16:creationId xmlns:a16="http://schemas.microsoft.com/office/drawing/2014/main" id="{4DBD5D58-BFB7-4D28-BC2F-5447A84591BE}"/>
              </a:ext>
            </a:extLst>
          </p:cNvPr>
          <p:cNvSpPr txBox="1">
            <a:spLocks/>
          </p:cNvSpPr>
          <p:nvPr/>
        </p:nvSpPr>
        <p:spPr>
          <a:xfrm>
            <a:off x="6414193"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IPOs</a:t>
            </a:r>
            <a:endParaRPr lang="en-IN" sz="2000">
              <a:solidFill>
                <a:schemeClr val="accent5"/>
              </a:solidFill>
              <a:latin typeface="+mn-lt"/>
              <a:ea typeface="Roboto Condensed Light" panose="02000000000000000000" pitchFamily="2" charset="0"/>
            </a:endParaRPr>
          </a:p>
        </p:txBody>
      </p:sp>
      <p:sp>
        <p:nvSpPr>
          <p:cNvPr id="64" name="Title 1">
            <a:extLst>
              <a:ext uri="{FF2B5EF4-FFF2-40B4-BE49-F238E27FC236}">
                <a16:creationId xmlns:a16="http://schemas.microsoft.com/office/drawing/2014/main" id="{B1CA7BC4-8949-4066-9D25-F471CC65038F}"/>
              </a:ext>
            </a:extLst>
          </p:cNvPr>
          <p:cNvSpPr txBox="1">
            <a:spLocks/>
          </p:cNvSpPr>
          <p:nvPr/>
        </p:nvSpPr>
        <p:spPr>
          <a:xfrm>
            <a:off x="371599" y="4585055"/>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Portfolio Companies</a:t>
            </a:r>
            <a:endParaRPr lang="en-IN" sz="2000">
              <a:solidFill>
                <a:schemeClr val="accent5"/>
              </a:solidFill>
              <a:latin typeface="+mn-lt"/>
              <a:ea typeface="Roboto Condensed Light" panose="02000000000000000000" pitchFamily="2" charset="0"/>
            </a:endParaRPr>
          </a:p>
        </p:txBody>
      </p:sp>
      <p:sp>
        <p:nvSpPr>
          <p:cNvPr id="22" name="Title 1">
            <a:extLst>
              <a:ext uri="{FF2B5EF4-FFF2-40B4-BE49-F238E27FC236}">
                <a16:creationId xmlns:a16="http://schemas.microsoft.com/office/drawing/2014/main" id="{F7E1AEA1-827C-4B0D-916D-AFCD9AEEBCF6}"/>
              </a:ext>
            </a:extLst>
          </p:cNvPr>
          <p:cNvSpPr txBox="1">
            <a:spLocks/>
          </p:cNvSpPr>
          <p:nvPr/>
        </p:nvSpPr>
        <p:spPr>
          <a:xfrm>
            <a:off x="2803221" y="3908767"/>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40</a:t>
            </a:r>
            <a:endParaRPr lang="en-IN" sz="4400">
              <a:solidFill>
                <a:srgbClr val="47A2CB"/>
              </a:solidFill>
              <a:latin typeface="+mn-lt"/>
              <a:ea typeface="Roboto Condensed Light" panose="02000000000000000000" pitchFamily="2" charset="0"/>
            </a:endParaRPr>
          </a:p>
        </p:txBody>
      </p:sp>
      <p:sp>
        <p:nvSpPr>
          <p:cNvPr id="23" name="Title 1">
            <a:extLst>
              <a:ext uri="{FF2B5EF4-FFF2-40B4-BE49-F238E27FC236}">
                <a16:creationId xmlns:a16="http://schemas.microsoft.com/office/drawing/2014/main" id="{A4B67345-AF0B-41A2-A60A-C20CB037DEB3}"/>
              </a:ext>
            </a:extLst>
          </p:cNvPr>
          <p:cNvSpPr txBox="1">
            <a:spLocks/>
          </p:cNvSpPr>
          <p:nvPr/>
        </p:nvSpPr>
        <p:spPr>
          <a:xfrm>
            <a:off x="2629246" y="4586603"/>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Investments </a:t>
            </a:r>
          </a:p>
          <a:p>
            <a:pPr algn="ctr"/>
            <a:r>
              <a:rPr lang="en-IN" sz="2000" cap="none">
                <a:solidFill>
                  <a:schemeClr val="accent5"/>
                </a:solidFill>
                <a:latin typeface="+mn-lt"/>
                <a:ea typeface="Roboto Condensed Light" panose="02000000000000000000" pitchFamily="2" charset="0"/>
              </a:rPr>
              <a:t>Last 3 Years</a:t>
            </a:r>
            <a:endParaRPr lang="en-IN" sz="2000">
              <a:solidFill>
                <a:schemeClr val="accent5"/>
              </a:solidFill>
              <a:latin typeface="+mn-lt"/>
              <a:ea typeface="Roboto Condensed Light" panose="02000000000000000000" pitchFamily="2" charset="0"/>
            </a:endParaRPr>
          </a:p>
        </p:txBody>
      </p:sp>
      <p:sp>
        <p:nvSpPr>
          <p:cNvPr id="10" name="Title 1">
            <a:extLst>
              <a:ext uri="{FF2B5EF4-FFF2-40B4-BE49-F238E27FC236}">
                <a16:creationId xmlns:a16="http://schemas.microsoft.com/office/drawing/2014/main" id="{3791EF09-EE2D-57D6-3FE3-B9FAF972AC1A}"/>
              </a:ext>
            </a:extLst>
          </p:cNvPr>
          <p:cNvSpPr>
            <a:spLocks noGrp="1"/>
          </p:cNvSpPr>
          <p:nvPr>
            <p:ph type="title"/>
          </p:nvPr>
        </p:nvSpPr>
        <p:spPr>
          <a:xfrm>
            <a:off x="667206" y="539564"/>
            <a:ext cx="7886700" cy="507062"/>
          </a:xfrm>
        </p:spPr>
        <p:txBody>
          <a:bodyPr vert="horz">
            <a:noAutofit/>
          </a:bodyPr>
          <a:lstStyle/>
          <a:p>
            <a:r>
              <a:rPr lang="en-US" sz="3200" cap="none"/>
              <a:t>WestBridge Capital At-a-Glance</a:t>
            </a:r>
          </a:p>
        </p:txBody>
      </p:sp>
    </p:spTree>
    <p:extLst>
      <p:ext uri="{BB962C8B-B14F-4D97-AF65-F5344CB8AC3E}">
        <p14:creationId xmlns:p14="http://schemas.microsoft.com/office/powerpoint/2010/main" val="57595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4A454209-467C-3042-2CF6-F57C289859F5}"/>
              </a:ext>
            </a:extLst>
          </p:cNvPr>
          <p:cNvSpPr/>
          <p:nvPr/>
        </p:nvSpPr>
        <p:spPr>
          <a:xfrm>
            <a:off x="297928" y="4473685"/>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Operational Expertise</a:t>
            </a:r>
          </a:p>
        </p:txBody>
      </p:sp>
      <p:sp>
        <p:nvSpPr>
          <p:cNvPr id="3" name="Rectangle: Rounded Corners 2">
            <a:extLst>
              <a:ext uri="{FF2B5EF4-FFF2-40B4-BE49-F238E27FC236}">
                <a16:creationId xmlns:a16="http://schemas.microsoft.com/office/drawing/2014/main" id="{557FA021-2920-39B3-7F38-E44DA709DDE5}"/>
              </a:ext>
            </a:extLst>
          </p:cNvPr>
          <p:cNvSpPr/>
          <p:nvPr/>
        </p:nvSpPr>
        <p:spPr>
          <a:xfrm>
            <a:off x="297928" y="2953081"/>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accent5"/>
                </a:solidFill>
                <a:latin typeface="Roboto Condensed Light" panose="02000000000000000000" pitchFamily="2" charset="0"/>
                <a:ea typeface="Roboto Condensed Light" panose="02000000000000000000" pitchFamily="2" charset="0"/>
              </a:rPr>
              <a:t>T</a:t>
            </a:r>
            <a:r>
              <a:rPr lang="en-US" sz="2000" b="1">
                <a:solidFill>
                  <a:schemeClr val="accent5"/>
                </a:solidFill>
                <a:latin typeface="Roboto Condensed Light" panose="02000000000000000000" pitchFamily="2" charset="0"/>
                <a:ea typeface="Roboto Condensed Light" panose="02000000000000000000" pitchFamily="2" charset="0"/>
              </a:rPr>
              <a:t>ruly Cross-Border</a:t>
            </a:r>
          </a:p>
        </p:txBody>
      </p:sp>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lstStyle/>
          <a:p>
            <a:r>
              <a:rPr lang="en-US"/>
              <a:t>Best-in-class Cross-Border Team</a:t>
            </a:r>
          </a:p>
        </p:txBody>
      </p:sp>
      <p:sp>
        <p:nvSpPr>
          <p:cNvPr id="39" name="TextBox 38">
            <a:extLst>
              <a:ext uri="{FF2B5EF4-FFF2-40B4-BE49-F238E27FC236}">
                <a16:creationId xmlns:a16="http://schemas.microsoft.com/office/drawing/2014/main" id="{9758E7BA-EA16-4B42-912F-74D8AC9098C0}"/>
              </a:ext>
            </a:extLst>
          </p:cNvPr>
          <p:cNvSpPr txBox="1"/>
          <p:nvPr/>
        </p:nvSpPr>
        <p:spPr>
          <a:xfrm>
            <a:off x="2945424" y="3234892"/>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Full-fledged teams in both US and India to support cross-border founders</a:t>
            </a:r>
          </a:p>
        </p:txBody>
      </p:sp>
      <p:sp>
        <p:nvSpPr>
          <p:cNvPr id="31" name="Rectangle: Rounded Corners 30">
            <a:extLst>
              <a:ext uri="{FF2B5EF4-FFF2-40B4-BE49-F238E27FC236}">
                <a16:creationId xmlns:a16="http://schemas.microsoft.com/office/drawing/2014/main" id="{595AB024-3B19-4B76-A642-38FAD2A382BA}"/>
              </a:ext>
            </a:extLst>
          </p:cNvPr>
          <p:cNvSpPr/>
          <p:nvPr/>
        </p:nvSpPr>
        <p:spPr>
          <a:xfrm>
            <a:off x="297928" y="1432477"/>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Patient Capital</a:t>
            </a:r>
          </a:p>
        </p:txBody>
      </p:sp>
      <p:sp>
        <p:nvSpPr>
          <p:cNvPr id="37" name="TextBox 36">
            <a:extLst>
              <a:ext uri="{FF2B5EF4-FFF2-40B4-BE49-F238E27FC236}">
                <a16:creationId xmlns:a16="http://schemas.microsoft.com/office/drawing/2014/main" id="{73700A90-0254-48CA-A4AF-800DBF780144}"/>
              </a:ext>
            </a:extLst>
          </p:cNvPr>
          <p:cNvSpPr txBox="1"/>
          <p:nvPr/>
        </p:nvSpPr>
        <p:spPr>
          <a:xfrm>
            <a:off x="2945424" y="1714288"/>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10-20 year holding period, leading rounds across multiple stages to save time and bandwidth for founders</a:t>
            </a:r>
          </a:p>
        </p:txBody>
      </p:sp>
      <p:sp>
        <p:nvSpPr>
          <p:cNvPr id="41" name="TextBox 40">
            <a:extLst>
              <a:ext uri="{FF2B5EF4-FFF2-40B4-BE49-F238E27FC236}">
                <a16:creationId xmlns:a16="http://schemas.microsoft.com/office/drawing/2014/main" id="{F38405F8-21D5-495C-A893-A1B0BA5C9BA1}"/>
              </a:ext>
            </a:extLst>
          </p:cNvPr>
          <p:cNvSpPr txBox="1"/>
          <p:nvPr/>
        </p:nvSpPr>
        <p:spPr>
          <a:xfrm>
            <a:off x="2945424" y="4755496"/>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Comprehensive portfolio support teams across talent acquisition, GTM strategy, and customer introductions</a:t>
            </a:r>
          </a:p>
        </p:txBody>
      </p:sp>
    </p:spTree>
    <p:extLst>
      <p:ext uri="{BB962C8B-B14F-4D97-AF65-F5344CB8AC3E}">
        <p14:creationId xmlns:p14="http://schemas.microsoft.com/office/powerpoint/2010/main" val="197482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6D6F9-48D2-A795-A2A1-BFF6A9A1E798}"/>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6DAADE0-7904-AD7B-63C7-F6889BE729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6" name="Object 5" hidden="1">
                        <a:extLst>
                          <a:ext uri="{FF2B5EF4-FFF2-40B4-BE49-F238E27FC236}">
                            <a16:creationId xmlns:a16="http://schemas.microsoft.com/office/drawing/2014/main" id="{56DAADE0-7904-AD7B-63C7-F6889BE7294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2F21E5-A56F-B67A-7B6B-717EE5FF65CE}"/>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a:solidFill>
                <a:prstClr val="white"/>
              </a:solidFill>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56" name="TextBox 55">
            <a:extLst>
              <a:ext uri="{FF2B5EF4-FFF2-40B4-BE49-F238E27FC236}">
                <a16:creationId xmlns:a16="http://schemas.microsoft.com/office/drawing/2014/main" id="{83573EDE-B1B3-37E3-6B24-AE74E693B8A4}"/>
              </a:ext>
            </a:extLst>
          </p:cNvPr>
          <p:cNvSpPr txBox="1"/>
          <p:nvPr/>
        </p:nvSpPr>
        <p:spPr>
          <a:xfrm>
            <a:off x="741499" y="5319909"/>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2020 and Prior</a:t>
            </a:r>
          </a:p>
        </p:txBody>
      </p:sp>
      <p:cxnSp>
        <p:nvCxnSpPr>
          <p:cNvPr id="57" name="Straight Connector 56">
            <a:extLst>
              <a:ext uri="{FF2B5EF4-FFF2-40B4-BE49-F238E27FC236}">
                <a16:creationId xmlns:a16="http://schemas.microsoft.com/office/drawing/2014/main" id="{D084694F-64EC-5460-2BB3-588E642A558D}"/>
              </a:ext>
            </a:extLst>
          </p:cNvPr>
          <p:cNvCxnSpPr>
            <a:cxnSpLocks/>
          </p:cNvCxnSpPr>
          <p:nvPr/>
        </p:nvCxnSpPr>
        <p:spPr>
          <a:xfrm>
            <a:off x="764875" y="5231143"/>
            <a:ext cx="63700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6E39245-2693-6649-B9C1-81E34405AE55}"/>
              </a:ext>
            </a:extLst>
          </p:cNvPr>
          <p:cNvSpPr txBox="1"/>
          <p:nvPr/>
        </p:nvSpPr>
        <p:spPr>
          <a:xfrm>
            <a:off x="215117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2021</a:t>
            </a:r>
          </a:p>
        </p:txBody>
      </p:sp>
      <p:grpSp>
        <p:nvGrpSpPr>
          <p:cNvPr id="15" name="Group 14">
            <a:extLst>
              <a:ext uri="{FF2B5EF4-FFF2-40B4-BE49-F238E27FC236}">
                <a16:creationId xmlns:a16="http://schemas.microsoft.com/office/drawing/2014/main" id="{B0563129-F614-B14C-C893-EB7838E8CB06}"/>
              </a:ext>
            </a:extLst>
          </p:cNvPr>
          <p:cNvGrpSpPr/>
          <p:nvPr/>
        </p:nvGrpSpPr>
        <p:grpSpPr>
          <a:xfrm>
            <a:off x="2051125" y="3678691"/>
            <a:ext cx="1142857" cy="1552452"/>
            <a:chOff x="2046036" y="3678691"/>
            <a:chExt cx="1142857" cy="1552452"/>
          </a:xfrm>
        </p:grpSpPr>
        <p:sp>
          <p:nvSpPr>
            <p:cNvPr id="55" name="Rectangle 54">
              <a:extLst>
                <a:ext uri="{FF2B5EF4-FFF2-40B4-BE49-F238E27FC236}">
                  <a16:creationId xmlns:a16="http://schemas.microsoft.com/office/drawing/2014/main" id="{730E03FD-973E-802F-F3A8-AB618BA3BEE1}"/>
                </a:ext>
              </a:extLst>
            </p:cNvPr>
            <p:cNvSpPr/>
            <p:nvPr/>
          </p:nvSpPr>
          <p:spPr>
            <a:xfrm>
              <a:off x="2046036" y="3678691"/>
              <a:ext cx="1142857" cy="1552452"/>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59" name="Group 58">
              <a:extLst>
                <a:ext uri="{FF2B5EF4-FFF2-40B4-BE49-F238E27FC236}">
                  <a16:creationId xmlns:a16="http://schemas.microsoft.com/office/drawing/2014/main" id="{FDEAD3CC-4604-6EA5-C85D-D3CE4CEF7175}"/>
                </a:ext>
              </a:extLst>
            </p:cNvPr>
            <p:cNvGrpSpPr/>
            <p:nvPr/>
          </p:nvGrpSpPr>
          <p:grpSpPr>
            <a:xfrm>
              <a:off x="2155412" y="3811446"/>
              <a:ext cx="956660" cy="1260218"/>
              <a:chOff x="2545041" y="3658847"/>
              <a:chExt cx="928857" cy="1136742"/>
            </a:xfrm>
          </p:grpSpPr>
          <p:pic>
            <p:nvPicPr>
              <p:cNvPr id="60" name="Picture 4" descr="yellow.ai Raises $78.15M to Deliver Total Customer Experience Automation |  Business Wire">
                <a:extLst>
                  <a:ext uri="{FF2B5EF4-FFF2-40B4-BE49-F238E27FC236}">
                    <a16:creationId xmlns:a16="http://schemas.microsoft.com/office/drawing/2014/main" id="{27E77921-E2B5-0F85-4184-6F867C303C8D}"/>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5514" y="4342489"/>
                <a:ext cx="707912" cy="16530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SupportLogic Announces $50 Million Series B Funding from WestBridge Capital  and General Catalyst">
                <a:extLst>
                  <a:ext uri="{FF2B5EF4-FFF2-40B4-BE49-F238E27FC236}">
                    <a16:creationId xmlns:a16="http://schemas.microsoft.com/office/drawing/2014/main" id="{98BCF11D-1C4F-37D9-1240-864411B3AB91}"/>
                  </a:ext>
                </a:extLst>
              </p:cNvPr>
              <p:cNvPicPr>
                <a:picLocks noChangeAspect="1" noChangeArrowheads="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t="32688" b="34282"/>
              <a:stretch/>
            </p:blipFill>
            <p:spPr bwMode="auto">
              <a:xfrm>
                <a:off x="2642665" y="4667868"/>
                <a:ext cx="733609" cy="12772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4" descr="Tanglin Venture Partners | Official Website">
                <a:extLst>
                  <a:ext uri="{FF2B5EF4-FFF2-40B4-BE49-F238E27FC236}">
                    <a16:creationId xmlns:a16="http://schemas.microsoft.com/office/drawing/2014/main" id="{8DCE9A99-756D-E4D4-FC2B-714E10A392ED}"/>
                  </a:ext>
                </a:extLst>
              </p:cNvPr>
              <p:cNvPicPr>
                <a:picLocks noChangeAspect="1" noChangeArrowheads="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t="29030" b="31607"/>
              <a:stretch/>
            </p:blipFill>
            <p:spPr bwMode="auto">
              <a:xfrm>
                <a:off x="2545041" y="4000070"/>
                <a:ext cx="928857" cy="18234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8" descr="Skit - Transforming CX with Voice AI">
                <a:extLst>
                  <a:ext uri="{FF2B5EF4-FFF2-40B4-BE49-F238E27FC236}">
                    <a16:creationId xmlns:a16="http://schemas.microsoft.com/office/drawing/2014/main" id="{7E90E370-E75E-E30E-F9E5-2DBC67F39FEE}"/>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1369" y="3658847"/>
                <a:ext cx="516201" cy="18114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4" name="Rectangle 63">
            <a:extLst>
              <a:ext uri="{FF2B5EF4-FFF2-40B4-BE49-F238E27FC236}">
                <a16:creationId xmlns:a16="http://schemas.microsoft.com/office/drawing/2014/main" id="{7020278F-AEF7-626F-1AEE-D29DEC331862}"/>
              </a:ext>
            </a:extLst>
          </p:cNvPr>
          <p:cNvSpPr/>
          <p:nvPr/>
        </p:nvSpPr>
        <p:spPr>
          <a:xfrm>
            <a:off x="3236451" y="3145765"/>
            <a:ext cx="1142857" cy="208537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5" name="TextBox 64">
            <a:extLst>
              <a:ext uri="{FF2B5EF4-FFF2-40B4-BE49-F238E27FC236}">
                <a16:creationId xmlns:a16="http://schemas.microsoft.com/office/drawing/2014/main" id="{A2DC060F-F4F4-09E2-EAE0-F593914B8F86}"/>
              </a:ext>
            </a:extLst>
          </p:cNvPr>
          <p:cNvSpPr txBox="1"/>
          <p:nvPr/>
        </p:nvSpPr>
        <p:spPr>
          <a:xfrm>
            <a:off x="3212287" y="5319909"/>
            <a:ext cx="1159913"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2022</a:t>
            </a:r>
          </a:p>
        </p:txBody>
      </p:sp>
      <p:grpSp>
        <p:nvGrpSpPr>
          <p:cNvPr id="14" name="Group 13">
            <a:extLst>
              <a:ext uri="{FF2B5EF4-FFF2-40B4-BE49-F238E27FC236}">
                <a16:creationId xmlns:a16="http://schemas.microsoft.com/office/drawing/2014/main" id="{D3CC93F0-6E01-776D-FB4A-94785B9EDF8D}"/>
              </a:ext>
            </a:extLst>
          </p:cNvPr>
          <p:cNvGrpSpPr/>
          <p:nvPr/>
        </p:nvGrpSpPr>
        <p:grpSpPr>
          <a:xfrm>
            <a:off x="860813" y="4212509"/>
            <a:ext cx="1142857" cy="1018633"/>
            <a:chOff x="860813" y="4212509"/>
            <a:chExt cx="1142857" cy="1018633"/>
          </a:xfrm>
        </p:grpSpPr>
        <p:sp>
          <p:nvSpPr>
            <p:cNvPr id="54" name="Rectangle 53">
              <a:extLst>
                <a:ext uri="{FF2B5EF4-FFF2-40B4-BE49-F238E27FC236}">
                  <a16:creationId xmlns:a16="http://schemas.microsoft.com/office/drawing/2014/main" id="{A14F978F-ED16-0D1E-E57B-C85FACFA127D}"/>
                </a:ext>
              </a:extLst>
            </p:cNvPr>
            <p:cNvSpPr/>
            <p:nvPr/>
          </p:nvSpPr>
          <p:spPr>
            <a:xfrm>
              <a:off x="860813" y="4212509"/>
              <a:ext cx="1142857" cy="1018633"/>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66" name="Group 65">
              <a:extLst>
                <a:ext uri="{FF2B5EF4-FFF2-40B4-BE49-F238E27FC236}">
                  <a16:creationId xmlns:a16="http://schemas.microsoft.com/office/drawing/2014/main" id="{7C0843D0-BD2B-CC8A-BC92-CB514079A2B7}"/>
                </a:ext>
              </a:extLst>
            </p:cNvPr>
            <p:cNvGrpSpPr/>
            <p:nvPr/>
          </p:nvGrpSpPr>
          <p:grpSpPr>
            <a:xfrm>
              <a:off x="1029068" y="4293480"/>
              <a:ext cx="856424" cy="840391"/>
              <a:chOff x="1029068" y="4193600"/>
              <a:chExt cx="1006156" cy="917240"/>
            </a:xfrm>
          </p:grpSpPr>
          <p:pic>
            <p:nvPicPr>
              <p:cNvPr id="67" name="Picture 22" descr="Image result for phenompeople logo">
                <a:extLst>
                  <a:ext uri="{FF2B5EF4-FFF2-40B4-BE49-F238E27FC236}">
                    <a16:creationId xmlns:a16="http://schemas.microsoft.com/office/drawing/2014/main" id="{3C44A7B8-78E2-54CA-5EFC-7D1154CC742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74124" y="4851473"/>
                <a:ext cx="716045" cy="25936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5" descr="Turing - Crunchbase Company Profile &amp; Funding">
                <a:extLst>
                  <a:ext uri="{FF2B5EF4-FFF2-40B4-BE49-F238E27FC236}">
                    <a16:creationId xmlns:a16="http://schemas.microsoft.com/office/drawing/2014/main" id="{F0D4A020-DDC9-12AF-954F-BE4BD4FC94AA}"/>
                  </a:ext>
                </a:extLst>
              </p:cNvPr>
              <p:cNvPicPr>
                <a:picLocks noChangeAspect="1" noChangeArrowheads="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t="32059" b="36326"/>
              <a:stretch/>
            </p:blipFill>
            <p:spPr bwMode="auto">
              <a:xfrm>
                <a:off x="1029068" y="4446041"/>
                <a:ext cx="1006156" cy="318096"/>
              </a:xfrm>
              <a:prstGeom prst="rect">
                <a:avLst/>
              </a:prstGeom>
              <a:noFill/>
              <a:extLst>
                <a:ext uri="{909E8E84-426E-40DD-AFC4-6F175D3DCCD1}">
                  <a14:hiddenFill xmlns:a14="http://schemas.microsoft.com/office/drawing/2010/main">
                    <a:solidFill>
                      <a:srgbClr val="FFFFFF"/>
                    </a:solidFill>
                  </a14:hiddenFill>
                </a:ext>
              </a:extLst>
            </p:spPr>
          </p:pic>
          <p:pic>
            <p:nvPicPr>
              <p:cNvPr id="69" name="Google Shape;15;p44">
                <a:extLst>
                  <a:ext uri="{FF2B5EF4-FFF2-40B4-BE49-F238E27FC236}">
                    <a16:creationId xmlns:a16="http://schemas.microsoft.com/office/drawing/2014/main" id="{19BBE393-3A67-04E1-25A3-D9EF7FF6B4BA}"/>
                  </a:ext>
                </a:extLst>
              </p:cNvPr>
              <p:cNvPicPr preferRelativeResize="0"/>
              <p:nvPr/>
            </p:nvPicPr>
            <p:blipFill rotWithShape="1">
              <a:blip r:embed="rId13">
                <a:alphaModFix/>
              </a:blip>
              <a:srcRect/>
              <a:stretch/>
            </p:blipFill>
            <p:spPr>
              <a:xfrm>
                <a:off x="1066336" y="4193600"/>
                <a:ext cx="912293" cy="165104"/>
              </a:xfrm>
              <a:prstGeom prst="rect">
                <a:avLst/>
              </a:prstGeom>
              <a:noFill/>
              <a:ln>
                <a:noFill/>
              </a:ln>
            </p:spPr>
          </p:pic>
        </p:grpSp>
      </p:grpSp>
      <p:sp>
        <p:nvSpPr>
          <p:cNvPr id="71" name="TextBox 70">
            <a:extLst>
              <a:ext uri="{FF2B5EF4-FFF2-40B4-BE49-F238E27FC236}">
                <a16:creationId xmlns:a16="http://schemas.microsoft.com/office/drawing/2014/main" id="{1F927270-552F-DA64-05A6-54AC659A162D}"/>
              </a:ext>
            </a:extLst>
          </p:cNvPr>
          <p:cNvSpPr txBox="1"/>
          <p:nvPr/>
        </p:nvSpPr>
        <p:spPr>
          <a:xfrm>
            <a:off x="4510250"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2023</a:t>
            </a:r>
          </a:p>
        </p:txBody>
      </p:sp>
      <p:sp>
        <p:nvSpPr>
          <p:cNvPr id="72" name="TextBox 71">
            <a:extLst>
              <a:ext uri="{FF2B5EF4-FFF2-40B4-BE49-F238E27FC236}">
                <a16:creationId xmlns:a16="http://schemas.microsoft.com/office/drawing/2014/main" id="{E115FB6F-2628-7E66-7EED-D81EFF9A0086}"/>
              </a:ext>
            </a:extLst>
          </p:cNvPr>
          <p:cNvSpPr txBox="1"/>
          <p:nvPr/>
        </p:nvSpPr>
        <p:spPr>
          <a:xfrm>
            <a:off x="6701159" y="5288772"/>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2025</a:t>
            </a:r>
          </a:p>
        </p:txBody>
      </p:sp>
      <p:grpSp>
        <p:nvGrpSpPr>
          <p:cNvPr id="74" name="Group 73">
            <a:extLst>
              <a:ext uri="{FF2B5EF4-FFF2-40B4-BE49-F238E27FC236}">
                <a16:creationId xmlns:a16="http://schemas.microsoft.com/office/drawing/2014/main" id="{0A5965F3-075D-9AF1-3DF1-8E2B6090182F}"/>
              </a:ext>
            </a:extLst>
          </p:cNvPr>
          <p:cNvGrpSpPr/>
          <p:nvPr/>
        </p:nvGrpSpPr>
        <p:grpSpPr>
          <a:xfrm>
            <a:off x="3343037" y="3242399"/>
            <a:ext cx="898416" cy="1905890"/>
            <a:chOff x="3951540" y="3068116"/>
            <a:chExt cx="1055489" cy="2080173"/>
          </a:xfrm>
        </p:grpSpPr>
        <p:pic>
          <p:nvPicPr>
            <p:cNvPr id="75" name="Picture 5" descr="LeadSquared Announces the Launch of a Digital Onboarding Platform">
              <a:extLst>
                <a:ext uri="{FF2B5EF4-FFF2-40B4-BE49-F238E27FC236}">
                  <a16:creationId xmlns:a16="http://schemas.microsoft.com/office/drawing/2014/main" id="{65A3055B-407B-669D-B5C7-FF33D92AAF30}"/>
                </a:ext>
              </a:extLst>
            </p:cNvPr>
            <p:cNvPicPr>
              <a:picLocks noChangeAspect="1" noChangeArrowheads="1"/>
            </p:cNvPicPr>
            <p:nvPr/>
          </p:nvPicPr>
          <p:blipFill rotWithShape="1">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t="29406" b="24682"/>
            <a:stretch/>
          </p:blipFill>
          <p:spPr bwMode="auto">
            <a:xfrm>
              <a:off x="4027126" y="3722799"/>
              <a:ext cx="904317" cy="20759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9" descr="Nightfall AI | Cloud Native Data Protection">
              <a:extLst>
                <a:ext uri="{FF2B5EF4-FFF2-40B4-BE49-F238E27FC236}">
                  <a16:creationId xmlns:a16="http://schemas.microsoft.com/office/drawing/2014/main" id="{79DC9468-289A-0AC7-DDAA-A26EA4CB4A38}"/>
                </a:ext>
              </a:extLst>
            </p:cNvPr>
            <p:cNvPicPr>
              <a:picLocks noChangeAspect="1" noChangeArrowheads="1"/>
            </p:cNvPicPr>
            <p:nvPr/>
          </p:nvPicPr>
          <p:blipFill>
            <a:blip r:embed="rId15"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32665" y="3427128"/>
              <a:ext cx="893239" cy="19975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1" descr="Goldcast raises $10M in seed funding led by Unusual and HubSpot Ventures to  help B2B marketers run engaging events and drive revenue">
              <a:extLst>
                <a:ext uri="{FF2B5EF4-FFF2-40B4-BE49-F238E27FC236}">
                  <a16:creationId xmlns:a16="http://schemas.microsoft.com/office/drawing/2014/main" id="{C34E1991-E829-18D4-0BD1-2E419E33A5C0}"/>
                </a:ext>
              </a:extLst>
            </p:cNvPr>
            <p:cNvPicPr>
              <a:picLocks noChangeAspect="1" noChangeArrowheads="1"/>
            </p:cNvPicPr>
            <p:nvPr/>
          </p:nvPicPr>
          <p:blipFill>
            <a:blip r:embed="rId16"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95669" y="4026308"/>
              <a:ext cx="767232" cy="194339"/>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17" descr="HyperTrack Announces Software Suite for Location-Based Logistics to Help  Businesses Seize Delivery, Gig Market Opportunities | Business Wire">
              <a:extLst>
                <a:ext uri="{FF2B5EF4-FFF2-40B4-BE49-F238E27FC236}">
                  <a16:creationId xmlns:a16="http://schemas.microsoft.com/office/drawing/2014/main" id="{D1303F00-F553-BA8C-971D-6BBDDA70D58F}"/>
                </a:ext>
              </a:extLst>
            </p:cNvPr>
            <p:cNvPicPr>
              <a:picLocks noChangeAspect="1" noChangeArrowheads="1"/>
            </p:cNvPicPr>
            <p:nvPr/>
          </p:nvPicPr>
          <p:blipFill rotWithShape="1">
            <a:blip r:embed="rId17" cstate="print">
              <a:clrChange>
                <a:clrFrom>
                  <a:srgbClr val="FDFFFC"/>
                </a:clrFrom>
                <a:clrTo>
                  <a:srgbClr val="FDFFFC">
                    <a:alpha val="0"/>
                  </a:srgbClr>
                </a:clrTo>
              </a:clrChange>
              <a:extLst>
                <a:ext uri="{28A0092B-C50C-407E-A947-70E740481C1C}">
                  <a14:useLocalDpi xmlns:a14="http://schemas.microsoft.com/office/drawing/2010/main" val="0"/>
                </a:ext>
              </a:extLst>
            </a:blip>
            <a:srcRect t="30018" b="31325"/>
            <a:stretch/>
          </p:blipFill>
          <p:spPr bwMode="auto">
            <a:xfrm>
              <a:off x="3968692" y="4316562"/>
              <a:ext cx="1021185" cy="20629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9" descr="Keka Pricing, Reviews, &amp; Features in 2022">
              <a:extLst>
                <a:ext uri="{FF2B5EF4-FFF2-40B4-BE49-F238E27FC236}">
                  <a16:creationId xmlns:a16="http://schemas.microsoft.com/office/drawing/2014/main" id="{914D84F8-9C54-5BFF-3DEA-4B3DE0121E89}"/>
                </a:ext>
              </a:extLst>
            </p:cNvPr>
            <p:cNvPicPr>
              <a:picLocks noChangeAspect="1" noChangeArrowheads="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74891" y="4618770"/>
              <a:ext cx="608787" cy="248024"/>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a:extLst>
                <a:ext uri="{FF2B5EF4-FFF2-40B4-BE49-F238E27FC236}">
                  <a16:creationId xmlns:a16="http://schemas.microsoft.com/office/drawing/2014/main" id="{441D96F1-F1BF-9AE8-1B6C-66552680C3AD}"/>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34960" b="40113"/>
            <a:stretch/>
          </p:blipFill>
          <p:spPr bwMode="auto">
            <a:xfrm>
              <a:off x="3951540" y="3068116"/>
              <a:ext cx="1055489" cy="263097"/>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61">
              <a:extLst>
                <a:ext uri="{FF2B5EF4-FFF2-40B4-BE49-F238E27FC236}">
                  <a16:creationId xmlns:a16="http://schemas.microsoft.com/office/drawing/2014/main" id="{C166943D-B04D-B952-84FA-9D1CDF6727B7}"/>
                </a:ext>
              </a:extLst>
            </p:cNvPr>
            <p:cNvPicPr>
              <a:picLocks noChangeAspect="1" noChangeArrowheads="1"/>
            </p:cNvPicPr>
            <p:nvPr/>
          </p:nvPicPr>
          <p:blipFill>
            <a:blip r:embed="rId2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4358" y="4962710"/>
              <a:ext cx="829853" cy="1855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FFF7EFF8-593B-5C80-4D2B-39AE6DB45D8F}"/>
              </a:ext>
            </a:extLst>
          </p:cNvPr>
          <p:cNvGrpSpPr/>
          <p:nvPr/>
        </p:nvGrpSpPr>
        <p:grpSpPr>
          <a:xfrm>
            <a:off x="4418124" y="2617375"/>
            <a:ext cx="1142857" cy="2613767"/>
            <a:chOff x="4425634" y="2617375"/>
            <a:chExt cx="1142857" cy="2613767"/>
          </a:xfrm>
        </p:grpSpPr>
        <p:sp>
          <p:nvSpPr>
            <p:cNvPr id="53" name="Rectangle 52">
              <a:extLst>
                <a:ext uri="{FF2B5EF4-FFF2-40B4-BE49-F238E27FC236}">
                  <a16:creationId xmlns:a16="http://schemas.microsoft.com/office/drawing/2014/main" id="{93DBF99D-7817-7320-61BE-E1472E09AD61}"/>
                </a:ext>
              </a:extLst>
            </p:cNvPr>
            <p:cNvSpPr/>
            <p:nvPr/>
          </p:nvSpPr>
          <p:spPr>
            <a:xfrm>
              <a:off x="4425634" y="2617375"/>
              <a:ext cx="1142857" cy="261376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82" name="Group 81">
              <a:extLst>
                <a:ext uri="{FF2B5EF4-FFF2-40B4-BE49-F238E27FC236}">
                  <a16:creationId xmlns:a16="http://schemas.microsoft.com/office/drawing/2014/main" id="{B817C0CE-F430-2DFA-242B-8DB6FFA0F382}"/>
                </a:ext>
              </a:extLst>
            </p:cNvPr>
            <p:cNvGrpSpPr/>
            <p:nvPr/>
          </p:nvGrpSpPr>
          <p:grpSpPr>
            <a:xfrm>
              <a:off x="4542796" y="3556090"/>
              <a:ext cx="943408" cy="547377"/>
              <a:chOff x="5444495" y="3506036"/>
              <a:chExt cx="1108347" cy="597432"/>
            </a:xfrm>
          </p:grpSpPr>
          <p:pic>
            <p:nvPicPr>
              <p:cNvPr id="83" name="Picture 2" descr="AWS Marketplace: DuploCloud DevSecOps - SOC 2 Accelerator for Startups">
                <a:extLst>
                  <a:ext uri="{FF2B5EF4-FFF2-40B4-BE49-F238E27FC236}">
                    <a16:creationId xmlns:a16="http://schemas.microsoft.com/office/drawing/2014/main" id="{1B3E9984-C0B2-5692-4E99-E3C449FCBD3A}"/>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444495" y="3506036"/>
                <a:ext cx="1108347" cy="187612"/>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a:extLst>
                  <a:ext uri="{FF2B5EF4-FFF2-40B4-BE49-F238E27FC236}">
                    <a16:creationId xmlns:a16="http://schemas.microsoft.com/office/drawing/2014/main" id="{3D565551-6C0E-BF0A-4822-9E18E5CC66FF}"/>
                  </a:ext>
                </a:extLst>
              </p:cNvPr>
              <p:cNvPicPr>
                <a:picLocks noChangeAspect="1"/>
              </p:cNvPicPr>
              <p:nvPr/>
            </p:nvPicPr>
            <p:blipFill>
              <a:blip r:embed="rId22"/>
              <a:stretch>
                <a:fillRect/>
              </a:stretch>
            </p:blipFill>
            <p:spPr>
              <a:xfrm>
                <a:off x="5561955" y="3915856"/>
                <a:ext cx="873425" cy="187612"/>
              </a:xfrm>
              <a:prstGeom prst="rect">
                <a:avLst/>
              </a:prstGeom>
            </p:spPr>
          </p:pic>
        </p:grpSp>
      </p:grpSp>
      <p:grpSp>
        <p:nvGrpSpPr>
          <p:cNvPr id="21" name="Group 20">
            <a:extLst>
              <a:ext uri="{FF2B5EF4-FFF2-40B4-BE49-F238E27FC236}">
                <a16:creationId xmlns:a16="http://schemas.microsoft.com/office/drawing/2014/main" id="{F86A87AC-7F17-4332-DAF6-243EBDAAF12E}"/>
              </a:ext>
            </a:extLst>
          </p:cNvPr>
          <p:cNvGrpSpPr/>
          <p:nvPr/>
        </p:nvGrpSpPr>
        <p:grpSpPr>
          <a:xfrm>
            <a:off x="5618920" y="2050203"/>
            <a:ext cx="1142857" cy="3163824"/>
            <a:chOff x="5607600" y="2050203"/>
            <a:chExt cx="1142857" cy="3163824"/>
          </a:xfrm>
        </p:grpSpPr>
        <p:sp>
          <p:nvSpPr>
            <p:cNvPr id="7" name="Rectangle 6">
              <a:extLst>
                <a:ext uri="{FF2B5EF4-FFF2-40B4-BE49-F238E27FC236}">
                  <a16:creationId xmlns:a16="http://schemas.microsoft.com/office/drawing/2014/main" id="{175043E1-5ABD-2BF2-D1E0-500DCFFA5850}"/>
                </a:ext>
              </a:extLst>
            </p:cNvPr>
            <p:cNvSpPr/>
            <p:nvPr/>
          </p:nvSpPr>
          <p:spPr>
            <a:xfrm>
              <a:off x="5607600" y="2050203"/>
              <a:ext cx="1142857" cy="3163824"/>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86" name="Picture 6" descr="AWS Marketplace: AI Expert: Optimize Asset Operations">
              <a:extLst>
                <a:ext uri="{FF2B5EF4-FFF2-40B4-BE49-F238E27FC236}">
                  <a16:creationId xmlns:a16="http://schemas.microsoft.com/office/drawing/2014/main" id="{053FE332-8E46-DCF2-886D-3FDEE4BBA66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956823" y="3489422"/>
              <a:ext cx="495208" cy="354158"/>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A black and white logo&#10;&#10;AI-generated content may be incorrect.">
              <a:extLst>
                <a:ext uri="{FF2B5EF4-FFF2-40B4-BE49-F238E27FC236}">
                  <a16:creationId xmlns:a16="http://schemas.microsoft.com/office/drawing/2014/main" id="{19664BC4-D068-D4A9-4B46-AAA191CD2C6E}"/>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5793505" y="2786863"/>
              <a:ext cx="802707" cy="214559"/>
            </a:xfrm>
            <a:prstGeom prst="rect">
              <a:avLst/>
            </a:prstGeom>
          </p:spPr>
        </p:pic>
        <p:pic>
          <p:nvPicPr>
            <p:cNvPr id="90" name="Picture 4">
              <a:extLst>
                <a:ext uri="{FF2B5EF4-FFF2-40B4-BE49-F238E27FC236}">
                  <a16:creationId xmlns:a16="http://schemas.microsoft.com/office/drawing/2014/main" id="{D75B258C-3E1A-8D2B-9726-96E3373856FA}"/>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725125" y="4331580"/>
              <a:ext cx="871087" cy="28456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3">
            <a:extLst>
              <a:ext uri="{FF2B5EF4-FFF2-40B4-BE49-F238E27FC236}">
                <a16:creationId xmlns:a16="http://schemas.microsoft.com/office/drawing/2014/main" id="{6F9AB929-7121-BB96-25DD-38135E48A530}"/>
              </a:ext>
            </a:extLst>
          </p:cNvPr>
          <p:cNvSpPr>
            <a:spLocks noGrp="1"/>
          </p:cNvSpPr>
          <p:nvPr>
            <p:ph type="title"/>
          </p:nvPr>
        </p:nvSpPr>
        <p:spPr>
          <a:xfrm>
            <a:off x="630339" y="577123"/>
            <a:ext cx="7883321" cy="507062"/>
          </a:xfrm>
        </p:spPr>
        <p:txBody>
          <a:bodyPr vert="horz">
            <a:noAutofit/>
          </a:bodyPr>
          <a:lstStyle/>
          <a:p>
            <a:br>
              <a:rPr lang="en-IN" sz="3200" cap="none"/>
            </a:br>
            <a:br>
              <a:rPr lang="en-IN" sz="3200" cap="none"/>
            </a:br>
            <a:r>
              <a:rPr lang="en-IN" sz="3200" cap="none"/>
              <a:t>Investments across Sectors and Stages</a:t>
            </a:r>
            <a:endParaRPr lang="en-IN" sz="2400" cap="none"/>
          </a:p>
        </p:txBody>
      </p:sp>
      <p:sp>
        <p:nvSpPr>
          <p:cNvPr id="8" name="TextBox 7">
            <a:extLst>
              <a:ext uri="{FF2B5EF4-FFF2-40B4-BE49-F238E27FC236}">
                <a16:creationId xmlns:a16="http://schemas.microsoft.com/office/drawing/2014/main" id="{632AED44-6ED6-34F2-E016-60283263E441}"/>
              </a:ext>
            </a:extLst>
          </p:cNvPr>
          <p:cNvSpPr txBox="1"/>
          <p:nvPr/>
        </p:nvSpPr>
        <p:spPr>
          <a:xfrm>
            <a:off x="571104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2024</a:t>
            </a:r>
          </a:p>
        </p:txBody>
      </p:sp>
      <p:grpSp>
        <p:nvGrpSpPr>
          <p:cNvPr id="22" name="Group 21">
            <a:extLst>
              <a:ext uri="{FF2B5EF4-FFF2-40B4-BE49-F238E27FC236}">
                <a16:creationId xmlns:a16="http://schemas.microsoft.com/office/drawing/2014/main" id="{429D798F-06EA-4768-4405-A77E97030F28}"/>
              </a:ext>
            </a:extLst>
          </p:cNvPr>
          <p:cNvGrpSpPr/>
          <p:nvPr/>
        </p:nvGrpSpPr>
        <p:grpSpPr>
          <a:xfrm>
            <a:off x="6821932" y="1175119"/>
            <a:ext cx="1142857" cy="4046973"/>
            <a:chOff x="6821932" y="1175119"/>
            <a:chExt cx="1142857" cy="4046973"/>
          </a:xfrm>
        </p:grpSpPr>
        <p:sp>
          <p:nvSpPr>
            <p:cNvPr id="70" name="Rectangle 69">
              <a:extLst>
                <a:ext uri="{FF2B5EF4-FFF2-40B4-BE49-F238E27FC236}">
                  <a16:creationId xmlns:a16="http://schemas.microsoft.com/office/drawing/2014/main" id="{521939E9-6BE9-A238-8C31-899C52416739}"/>
                </a:ext>
              </a:extLst>
            </p:cNvPr>
            <p:cNvSpPr/>
            <p:nvPr/>
          </p:nvSpPr>
          <p:spPr>
            <a:xfrm>
              <a:off x="6821932" y="1527916"/>
              <a:ext cx="1142857" cy="3694176"/>
            </a:xfrm>
            <a:prstGeom prst="rect">
              <a:avLst/>
            </a:prstGeom>
            <a:noFill/>
            <a:ln w="19050">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02DCD2B9-48B5-18F5-7213-EADF9ADD254A}"/>
                </a:ext>
              </a:extLst>
            </p:cNvPr>
            <p:cNvSpPr txBox="1"/>
            <p:nvPr/>
          </p:nvSpPr>
          <p:spPr>
            <a:xfrm>
              <a:off x="6821932" y="1175119"/>
              <a:ext cx="828578" cy="338554"/>
            </a:xfrm>
            <a:prstGeom prst="rect">
              <a:avLst/>
            </a:prstGeom>
            <a:noFill/>
          </p:spPr>
          <p:txBody>
            <a:bodyPr wrap="square" rtlCol="0">
              <a:spAutoFit/>
            </a:bodyPr>
            <a:lstStyle/>
            <a:p>
              <a:r>
                <a:rPr lang="en-US" sz="1600">
                  <a:solidFill>
                    <a:srgbClr val="008AC6"/>
                  </a:solidFill>
                </a:rPr>
                <a:t>New</a:t>
              </a:r>
              <a:endParaRPr lang="en-US" sz="1600" baseline="30000">
                <a:solidFill>
                  <a:srgbClr val="008AC6"/>
                </a:solidFill>
              </a:endParaRPr>
            </a:p>
          </p:txBody>
        </p:sp>
        <p:pic>
          <p:nvPicPr>
            <p:cNvPr id="88" name="Picture 2" descr="Tessell | Lightspeed | Venture Capital">
              <a:extLst>
                <a:ext uri="{FF2B5EF4-FFF2-40B4-BE49-F238E27FC236}">
                  <a16:creationId xmlns:a16="http://schemas.microsoft.com/office/drawing/2014/main" id="{C4EE17DB-EF06-B7A7-9F37-05FFAA018859}"/>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6930792" y="3059806"/>
              <a:ext cx="918831" cy="31302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 descr="aiinfrastructure #hyperscalers #cloudai #networking #datacentertech… | AI  Insider">
              <a:extLst>
                <a:ext uri="{FF2B5EF4-FFF2-40B4-BE49-F238E27FC236}">
                  <a16:creationId xmlns:a16="http://schemas.microsoft.com/office/drawing/2014/main" id="{7E30A02E-ED0D-A314-5BAB-098599017E1F}"/>
                </a:ext>
              </a:extLst>
            </p:cNvPr>
            <p:cNvPicPr>
              <a:picLocks noChangeAspect="1" noChangeArrowheads="1"/>
            </p:cNvPicPr>
            <p:nvPr/>
          </p:nvPicPr>
          <p:blipFill rotWithShape="1">
            <a:blip r:embed="rId27" cstate="print">
              <a:clrChange>
                <a:clrFrom>
                  <a:srgbClr val="FDFEFF"/>
                </a:clrFrom>
                <a:clrTo>
                  <a:srgbClr val="FDFEFF">
                    <a:alpha val="0"/>
                  </a:srgbClr>
                </a:clrTo>
              </a:clrChange>
              <a:extLst>
                <a:ext uri="{28A0092B-C50C-407E-A947-70E740481C1C}">
                  <a14:useLocalDpi xmlns:a14="http://schemas.microsoft.com/office/drawing/2010/main" val="0"/>
                </a:ext>
              </a:extLst>
            </a:blip>
            <a:srcRect t="18019" b="12884"/>
            <a:stretch/>
          </p:blipFill>
          <p:spPr bwMode="auto">
            <a:xfrm>
              <a:off x="6886080" y="2178976"/>
              <a:ext cx="1033653" cy="22103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UnifyApps Raises $20M Series A to Deliver AI Agents Across the Enterprise">
              <a:extLst>
                <a:ext uri="{FF2B5EF4-FFF2-40B4-BE49-F238E27FC236}">
                  <a16:creationId xmlns:a16="http://schemas.microsoft.com/office/drawing/2014/main" id="{45EA633E-7BF9-FB30-51ED-B95AE722ABEF}"/>
                </a:ext>
              </a:extLst>
            </p:cNvPr>
            <p:cNvPicPr>
              <a:picLocks noChangeAspect="1" noChangeArrowheads="1"/>
            </p:cNvPicPr>
            <p:nvPr/>
          </p:nvPicPr>
          <p:blipFill>
            <a:blip r:embed="rId2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0366" y="4032627"/>
              <a:ext cx="1077432" cy="5387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97989936"/>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B68A42C6-2564-4228-9DEF-001CE0F109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12" name="Object 11" hidden="1">
                        <a:extLst>
                          <a:ext uri="{FF2B5EF4-FFF2-40B4-BE49-F238E27FC236}">
                            <a16:creationId xmlns:a16="http://schemas.microsoft.com/office/drawing/2014/main" id="{B68A42C6-2564-4228-9DEF-001CE0F1095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EE60C7-C88D-4A83-AED5-64D9A234F8A4}"/>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IN" sz="3200">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4" name="Title 3"/>
          <p:cNvSpPr>
            <a:spLocks noGrp="1"/>
          </p:cNvSpPr>
          <p:nvPr>
            <p:ph type="title"/>
          </p:nvPr>
        </p:nvSpPr>
        <p:spPr>
          <a:xfrm>
            <a:off x="670585" y="539564"/>
            <a:ext cx="7883321" cy="507062"/>
          </a:xfrm>
        </p:spPr>
        <p:txBody>
          <a:bodyPr vert="horz">
            <a:noAutofit/>
          </a:bodyPr>
          <a:lstStyle/>
          <a:p>
            <a:r>
              <a:rPr lang="en-IN" sz="3200" cap="none"/>
              <a:t>Portfolio Acceleration Services</a:t>
            </a:r>
            <a:endParaRPr lang="en-IN" sz="2400" cap="none"/>
          </a:p>
        </p:txBody>
      </p:sp>
      <p:grpSp>
        <p:nvGrpSpPr>
          <p:cNvPr id="19" name="Group 18">
            <a:extLst>
              <a:ext uri="{FF2B5EF4-FFF2-40B4-BE49-F238E27FC236}">
                <a16:creationId xmlns:a16="http://schemas.microsoft.com/office/drawing/2014/main" id="{480AA431-A914-4BC0-85C6-5BB9BD90B372}"/>
              </a:ext>
            </a:extLst>
          </p:cNvPr>
          <p:cNvGrpSpPr/>
          <p:nvPr/>
        </p:nvGrpSpPr>
        <p:grpSpPr>
          <a:xfrm>
            <a:off x="329711" y="1654712"/>
            <a:ext cx="2990467" cy="1801970"/>
            <a:chOff x="674281" y="2786750"/>
            <a:chExt cx="2990467" cy="1801970"/>
          </a:xfrm>
        </p:grpSpPr>
        <p:sp>
          <p:nvSpPr>
            <p:cNvPr id="20" name="TextBox 19">
              <a:extLst>
                <a:ext uri="{FF2B5EF4-FFF2-40B4-BE49-F238E27FC236}">
                  <a16:creationId xmlns:a16="http://schemas.microsoft.com/office/drawing/2014/main" id="{051E0F90-7DC3-49FD-B1EA-365C5FD51521}"/>
                </a:ext>
              </a:extLst>
            </p:cNvPr>
            <p:cNvSpPr txBox="1"/>
            <p:nvPr/>
          </p:nvSpPr>
          <p:spPr>
            <a:xfrm>
              <a:off x="674281"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Talent Recruitment</a:t>
              </a:r>
            </a:p>
            <a:p>
              <a:pPr algn="ctr"/>
              <a:endParaRPr lang="en-US" sz="1600">
                <a:solidFill>
                  <a:srgbClr val="47A2CB"/>
                </a:solidFill>
                <a:ea typeface="Roboto Condensed" pitchFamily="2" charset="0"/>
                <a:cs typeface="Helvetica" panose="020B0604020202020204" pitchFamily="34" charset="0"/>
              </a:endParaRPr>
            </a:p>
          </p:txBody>
        </p:sp>
        <p:sp>
          <p:nvSpPr>
            <p:cNvPr id="21" name="Oval 20">
              <a:extLst>
                <a:ext uri="{FF2B5EF4-FFF2-40B4-BE49-F238E27FC236}">
                  <a16:creationId xmlns:a16="http://schemas.microsoft.com/office/drawing/2014/main" id="{DFD6AF21-A5A0-4FF6-B759-1FB946E0B377}"/>
                </a:ext>
              </a:extLst>
            </p:cNvPr>
            <p:cNvSpPr/>
            <p:nvPr/>
          </p:nvSpPr>
          <p:spPr>
            <a:xfrm>
              <a:off x="1609046"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2" name="Picture 21">
              <a:extLst>
                <a:ext uri="{FF2B5EF4-FFF2-40B4-BE49-F238E27FC236}">
                  <a16:creationId xmlns:a16="http://schemas.microsoft.com/office/drawing/2014/main" id="{9AA6E5BC-A901-46DD-B09E-F79BADA9CBD0}"/>
                </a:ext>
              </a:extLst>
            </p:cNvPr>
            <p:cNvPicPr>
              <a:picLocks noChangeAspect="1"/>
            </p:cNvPicPr>
            <p:nvPr/>
          </p:nvPicPr>
          <p:blipFill>
            <a:blip r:embed="rId7"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819948" y="2946320"/>
              <a:ext cx="677136" cy="677136"/>
            </a:xfrm>
            <a:prstGeom prst="rect">
              <a:avLst/>
            </a:prstGeom>
            <a:noFill/>
          </p:spPr>
        </p:pic>
      </p:grpSp>
      <p:grpSp>
        <p:nvGrpSpPr>
          <p:cNvPr id="38" name="Group 37">
            <a:extLst>
              <a:ext uri="{FF2B5EF4-FFF2-40B4-BE49-F238E27FC236}">
                <a16:creationId xmlns:a16="http://schemas.microsoft.com/office/drawing/2014/main" id="{51F55023-C574-4F84-9BD7-FB6F8D6BC28E}"/>
              </a:ext>
            </a:extLst>
          </p:cNvPr>
          <p:cNvGrpSpPr/>
          <p:nvPr/>
        </p:nvGrpSpPr>
        <p:grpSpPr>
          <a:xfrm>
            <a:off x="3066737" y="1654712"/>
            <a:ext cx="3070578" cy="1801970"/>
            <a:chOff x="5734421" y="2786750"/>
            <a:chExt cx="3070578" cy="1801970"/>
          </a:xfrm>
        </p:grpSpPr>
        <p:sp>
          <p:nvSpPr>
            <p:cNvPr id="39" name="TextBox 38">
              <a:extLst>
                <a:ext uri="{FF2B5EF4-FFF2-40B4-BE49-F238E27FC236}">
                  <a16:creationId xmlns:a16="http://schemas.microsoft.com/office/drawing/2014/main" id="{8AD3537E-6C67-4FE1-A0C0-8981C47B46CE}"/>
                </a:ext>
              </a:extLst>
            </p:cNvPr>
            <p:cNvSpPr txBox="1"/>
            <p:nvPr/>
          </p:nvSpPr>
          <p:spPr>
            <a:xfrm>
              <a:off x="5734421" y="4003945"/>
              <a:ext cx="3070578"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Scaling GTM</a:t>
              </a:r>
            </a:p>
            <a:p>
              <a:pPr algn="ctr"/>
              <a:endParaRPr lang="en-US" sz="1600">
                <a:solidFill>
                  <a:srgbClr val="47A2CB"/>
                </a:solidFill>
                <a:ea typeface="Roboto Condensed" pitchFamily="2" charset="0"/>
                <a:cs typeface="Helvetica" panose="020B0604020202020204" pitchFamily="34" charset="0"/>
              </a:endParaRPr>
            </a:p>
          </p:txBody>
        </p:sp>
        <p:sp>
          <p:nvSpPr>
            <p:cNvPr id="40" name="Oval 39">
              <a:extLst>
                <a:ext uri="{FF2B5EF4-FFF2-40B4-BE49-F238E27FC236}">
                  <a16:creationId xmlns:a16="http://schemas.microsoft.com/office/drawing/2014/main" id="{E5675E81-BC6F-41F4-ABD6-A6FF7BFDD772}"/>
                </a:ext>
              </a:extLst>
            </p:cNvPr>
            <p:cNvSpPr/>
            <p:nvPr/>
          </p:nvSpPr>
          <p:spPr>
            <a:xfrm>
              <a:off x="6733898"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41" name="Picture 21" descr="Image result for handshake icon">
              <a:extLst>
                <a:ext uri="{FF2B5EF4-FFF2-40B4-BE49-F238E27FC236}">
                  <a16:creationId xmlns:a16="http://schemas.microsoft.com/office/drawing/2014/main" id="{78408C87-9633-4CD9-839F-68B2131937CC}"/>
                </a:ext>
              </a:extLst>
            </p:cNvPr>
            <p:cNvPicPr>
              <a:picLocks noChangeAspect="1" noChangeArrowheads="1"/>
            </p:cNvPicPr>
            <p:nvPr/>
          </p:nvPicPr>
          <p:blipFill>
            <a:blip r:embed="rId8"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78964" y="3154513"/>
              <a:ext cx="798872" cy="50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6BCF8D7E-92F6-455C-92A2-B2B3E5CDE5F6}"/>
              </a:ext>
            </a:extLst>
          </p:cNvPr>
          <p:cNvGrpSpPr/>
          <p:nvPr/>
        </p:nvGrpSpPr>
        <p:grpSpPr>
          <a:xfrm>
            <a:off x="5883874" y="1654712"/>
            <a:ext cx="2990467" cy="1801970"/>
            <a:chOff x="3068414" y="2786750"/>
            <a:chExt cx="2990467" cy="1801970"/>
          </a:xfrm>
        </p:grpSpPr>
        <p:sp>
          <p:nvSpPr>
            <p:cNvPr id="26" name="TextBox 25">
              <a:extLst>
                <a:ext uri="{FF2B5EF4-FFF2-40B4-BE49-F238E27FC236}">
                  <a16:creationId xmlns:a16="http://schemas.microsoft.com/office/drawing/2014/main" id="{8DEABB55-A9C4-47B7-8C31-8DC89B54B43A}"/>
                </a:ext>
              </a:extLst>
            </p:cNvPr>
            <p:cNvSpPr txBox="1"/>
            <p:nvPr/>
          </p:nvSpPr>
          <p:spPr>
            <a:xfrm>
              <a:off x="3068414"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Advisory Board</a:t>
              </a:r>
            </a:p>
            <a:p>
              <a:pPr algn="ctr"/>
              <a:endParaRPr lang="en-US" sz="1600">
                <a:solidFill>
                  <a:srgbClr val="47A2CB"/>
                </a:solidFill>
                <a:ea typeface="Roboto Condensed" pitchFamily="2" charset="0"/>
                <a:cs typeface="Helvetica" panose="020B0604020202020204" pitchFamily="34" charset="0"/>
              </a:endParaRPr>
            </a:p>
          </p:txBody>
        </p:sp>
        <p:sp>
          <p:nvSpPr>
            <p:cNvPr id="27" name="Oval 26">
              <a:extLst>
                <a:ext uri="{FF2B5EF4-FFF2-40B4-BE49-F238E27FC236}">
                  <a16:creationId xmlns:a16="http://schemas.microsoft.com/office/drawing/2014/main" id="{69D26A8F-42D2-4B7D-B238-4036FF4DC14A}"/>
                </a:ext>
              </a:extLst>
            </p:cNvPr>
            <p:cNvSpPr/>
            <p:nvPr/>
          </p:nvSpPr>
          <p:spPr>
            <a:xfrm>
              <a:off x="4003179"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8" name="Picture 27">
              <a:extLst>
                <a:ext uri="{FF2B5EF4-FFF2-40B4-BE49-F238E27FC236}">
                  <a16:creationId xmlns:a16="http://schemas.microsoft.com/office/drawing/2014/main" id="{D85807D5-14AC-4C4F-9A15-5DB65FA4CE19}"/>
                </a:ext>
              </a:extLst>
            </p:cNvPr>
            <p:cNvPicPr>
              <a:picLocks noChangeAspect="1"/>
            </p:cNvPicPr>
            <p:nvPr/>
          </p:nvPicPr>
          <p:blipFill>
            <a:blip r:embed="rId9" cstate="print">
              <a:duotone>
                <a:schemeClr val="accent6">
                  <a:shade val="45000"/>
                  <a:satMod val="135000"/>
                </a:schemeClr>
                <a:prstClr val="white"/>
              </a:duotone>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220004" y="3050830"/>
              <a:ext cx="600837" cy="600837"/>
            </a:xfrm>
            <a:prstGeom prst="rect">
              <a:avLst/>
            </a:prstGeom>
            <a:noFill/>
          </p:spPr>
        </p:pic>
      </p:grpSp>
      <p:sp>
        <p:nvSpPr>
          <p:cNvPr id="3" name="Rectangle 2">
            <a:extLst>
              <a:ext uri="{FF2B5EF4-FFF2-40B4-BE49-F238E27FC236}">
                <a16:creationId xmlns:a16="http://schemas.microsoft.com/office/drawing/2014/main" id="{416A2674-3DB0-5D53-11F1-979EA1F1DCC0}"/>
              </a:ext>
            </a:extLst>
          </p:cNvPr>
          <p:cNvSpPr/>
          <p:nvPr/>
        </p:nvSpPr>
        <p:spPr>
          <a:xfrm>
            <a:off x="916725" y="5585059"/>
            <a:ext cx="7484534" cy="3301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Silicon Valley and Bangalore</a:t>
            </a:r>
          </a:p>
        </p:txBody>
      </p:sp>
      <p:sp>
        <p:nvSpPr>
          <p:cNvPr id="9" name="Oval 8">
            <a:extLst>
              <a:ext uri="{FF2B5EF4-FFF2-40B4-BE49-F238E27FC236}">
                <a16:creationId xmlns:a16="http://schemas.microsoft.com/office/drawing/2014/main" id="{7583785B-10E3-2BD2-F382-95E0BCEFF9B5}"/>
              </a:ext>
            </a:extLst>
          </p:cNvPr>
          <p:cNvSpPr/>
          <p:nvPr/>
        </p:nvSpPr>
        <p:spPr>
          <a:xfrm>
            <a:off x="1605597" y="1176793"/>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0" name="Oval 9">
            <a:extLst>
              <a:ext uri="{FF2B5EF4-FFF2-40B4-BE49-F238E27FC236}">
                <a16:creationId xmlns:a16="http://schemas.microsoft.com/office/drawing/2014/main" id="{74AF13E5-9257-CAA4-CDE0-8909D325377A}"/>
              </a:ext>
            </a:extLst>
          </p:cNvPr>
          <p:cNvSpPr/>
          <p:nvPr/>
        </p:nvSpPr>
        <p:spPr>
          <a:xfrm>
            <a:off x="4407335" y="1176791"/>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1" name="Oval 10">
            <a:extLst>
              <a:ext uri="{FF2B5EF4-FFF2-40B4-BE49-F238E27FC236}">
                <a16:creationId xmlns:a16="http://schemas.microsoft.com/office/drawing/2014/main" id="{602E79DB-6577-4A05-0DAC-EE41F8F3C48E}"/>
              </a:ext>
            </a:extLst>
          </p:cNvPr>
          <p:cNvSpPr/>
          <p:nvPr/>
        </p:nvSpPr>
        <p:spPr>
          <a:xfrm>
            <a:off x="7188409" y="1176792"/>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5" name="TextBox 4">
            <a:extLst>
              <a:ext uri="{FF2B5EF4-FFF2-40B4-BE49-F238E27FC236}">
                <a16:creationId xmlns:a16="http://schemas.microsoft.com/office/drawing/2014/main" id="{449B9C4B-1127-DE3C-B6B4-A483C689242F}"/>
              </a:ext>
            </a:extLst>
          </p:cNvPr>
          <p:cNvSpPr txBox="1"/>
          <p:nvPr/>
        </p:nvSpPr>
        <p:spPr>
          <a:xfrm>
            <a:off x="1011152" y="3290200"/>
            <a:ext cx="1710938" cy="1220847"/>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Spearheaded by:</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0"/>
              </a:rPr>
              <a:t>Girish Mirchandani</a:t>
            </a:r>
            <a:r>
              <a:rPr lang="en-US" sz="1200">
                <a:solidFill>
                  <a:schemeClr val="accent5"/>
                </a:solidFill>
                <a:ea typeface="Roboto Medium" panose="02000000000000000000" pitchFamily="2" charset="0"/>
              </a:rPr>
              <a:t>, ex-Pure Storage, HFA</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1"/>
              </a:rPr>
              <a:t>Karan </a:t>
            </a:r>
            <a:r>
              <a:rPr lang="en-US" sz="1200" err="1">
                <a:solidFill>
                  <a:schemeClr val="accent5"/>
                </a:solidFill>
                <a:ea typeface="Roboto Medium" panose="02000000000000000000" pitchFamily="2" charset="0"/>
                <a:hlinkClick r:id="rId11"/>
              </a:rPr>
              <a:t>Gurunathan</a:t>
            </a:r>
            <a:r>
              <a:rPr lang="en-US" sz="1200">
                <a:solidFill>
                  <a:schemeClr val="accent5"/>
                </a:solidFill>
                <a:ea typeface="Roboto Medium" panose="02000000000000000000" pitchFamily="2" charset="0"/>
              </a:rPr>
              <a:t>,   ex-Google, Flipkart</a:t>
            </a:r>
          </a:p>
        </p:txBody>
      </p:sp>
      <p:sp>
        <p:nvSpPr>
          <p:cNvPr id="6" name="TextBox 5">
            <a:extLst>
              <a:ext uri="{FF2B5EF4-FFF2-40B4-BE49-F238E27FC236}">
                <a16:creationId xmlns:a16="http://schemas.microsoft.com/office/drawing/2014/main" id="{9D212B7D-B146-1E2C-4943-43A7FB2E435D}"/>
              </a:ext>
            </a:extLst>
          </p:cNvPr>
          <p:cNvSpPr txBox="1"/>
          <p:nvPr/>
        </p:nvSpPr>
        <p:spPr>
          <a:xfrm>
            <a:off x="3757908" y="3290200"/>
            <a:ext cx="1946657" cy="1856919"/>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Initiatives include customer intros to enterprises, channel partners across US/India, competitive research, M&amp;A targets, sales playbook, customer feedback, cost benchmarking</a:t>
            </a:r>
          </a:p>
          <a:p>
            <a:pPr>
              <a:spcBef>
                <a:spcPts val="400"/>
              </a:spcBef>
              <a:spcAft>
                <a:spcPts val="400"/>
              </a:spcAft>
            </a:pPr>
            <a:r>
              <a:rPr lang="en-US" sz="1200">
                <a:solidFill>
                  <a:schemeClr val="accent5"/>
                </a:solidFill>
                <a:ea typeface="Roboto Medium" panose="02000000000000000000" pitchFamily="2" charset="0"/>
              </a:rPr>
              <a:t>Spearheaded by </a:t>
            </a:r>
            <a:r>
              <a:rPr lang="en-US" sz="1200">
                <a:solidFill>
                  <a:schemeClr val="accent5"/>
                </a:solidFill>
                <a:ea typeface="Roboto Medium" panose="02000000000000000000" pitchFamily="2" charset="0"/>
                <a:hlinkClick r:id="rId12"/>
              </a:rPr>
              <a:t>Peter Kim</a:t>
            </a:r>
            <a:r>
              <a:rPr lang="en-US" sz="1200">
                <a:solidFill>
                  <a:schemeClr val="accent5"/>
                </a:solidFill>
                <a:ea typeface="Roboto Medium" panose="02000000000000000000" pitchFamily="2" charset="0"/>
              </a:rPr>
              <a:t>, ex-LinkedIn, Relativity</a:t>
            </a:r>
          </a:p>
        </p:txBody>
      </p:sp>
      <p:sp>
        <p:nvSpPr>
          <p:cNvPr id="7" name="TextBox 6">
            <a:extLst>
              <a:ext uri="{FF2B5EF4-FFF2-40B4-BE49-F238E27FC236}">
                <a16:creationId xmlns:a16="http://schemas.microsoft.com/office/drawing/2014/main" id="{736F747E-7476-3227-318B-1B8DDD51A76A}"/>
              </a:ext>
            </a:extLst>
          </p:cNvPr>
          <p:cNvSpPr txBox="1"/>
          <p:nvPr/>
        </p:nvSpPr>
        <p:spPr>
          <a:xfrm>
            <a:off x="6710778" y="3290199"/>
            <a:ext cx="1710938" cy="2164695"/>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Members like:</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3"/>
              </a:rPr>
              <a:t>Patrick Wendell</a:t>
            </a:r>
            <a:r>
              <a:rPr lang="en-US" sz="1200">
                <a:solidFill>
                  <a:schemeClr val="accent5"/>
                </a:solidFill>
                <a:ea typeface="Roboto Medium" panose="02000000000000000000" pitchFamily="2" charset="0"/>
              </a:rPr>
              <a:t>, co-founder Databricks</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4"/>
              </a:rPr>
              <a:t>Manoj Apte</a:t>
            </a:r>
            <a:r>
              <a:rPr lang="en-US" sz="1200">
                <a:solidFill>
                  <a:schemeClr val="accent5"/>
                </a:solidFill>
                <a:ea typeface="Roboto Medium" panose="02000000000000000000" pitchFamily="2" charset="0"/>
              </a:rPr>
              <a:t>, ex-CSO Zscaler</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5"/>
              </a:rPr>
              <a:t>Bill </a:t>
            </a:r>
            <a:r>
              <a:rPr lang="en-US" sz="1200" err="1">
                <a:solidFill>
                  <a:schemeClr val="accent5"/>
                </a:solidFill>
                <a:ea typeface="Roboto Medium" panose="02000000000000000000" pitchFamily="2" charset="0"/>
                <a:hlinkClick r:id="rId15"/>
              </a:rPr>
              <a:t>Macaitis</a:t>
            </a:r>
            <a:r>
              <a:rPr lang="en-US" sz="1200">
                <a:solidFill>
                  <a:schemeClr val="accent5"/>
                </a:solidFill>
                <a:ea typeface="Roboto Medium" panose="02000000000000000000" pitchFamily="2" charset="0"/>
              </a:rPr>
              <a:t>, ex-CMO, CRO Slack, Zendesk</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6"/>
              </a:rPr>
              <a:t>Sid Malik</a:t>
            </a:r>
            <a:r>
              <a:rPr lang="en-US" sz="1200">
                <a:solidFill>
                  <a:schemeClr val="accent5"/>
                </a:solidFill>
                <a:ea typeface="Roboto Medium" panose="02000000000000000000" pitchFamily="2" charset="0"/>
              </a:rPr>
              <a:t>, ex-CRO </a:t>
            </a:r>
            <a:r>
              <a:rPr lang="en-US" sz="1200" err="1">
                <a:solidFill>
                  <a:schemeClr val="accent5"/>
                </a:solidFill>
                <a:ea typeface="Roboto Medium" panose="02000000000000000000" pitchFamily="2" charset="0"/>
              </a:rPr>
              <a:t>Freshworks</a:t>
            </a:r>
            <a:endParaRPr lang="en-US" sz="1200">
              <a:solidFill>
                <a:schemeClr val="accent5"/>
              </a:solidFill>
              <a:ea typeface="Roboto Medium" panose="02000000000000000000" pitchFamily="2" charset="0"/>
            </a:endParaRPr>
          </a:p>
        </p:txBody>
      </p:sp>
    </p:spTree>
    <p:extLst>
      <p:ext uri="{BB962C8B-B14F-4D97-AF65-F5344CB8AC3E}">
        <p14:creationId xmlns:p14="http://schemas.microsoft.com/office/powerpoint/2010/main" val="94712223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a:xfrm>
            <a:off x="668496" y="522849"/>
            <a:ext cx="7536955" cy="507062"/>
          </a:xfrm>
        </p:spPr>
        <p:txBody>
          <a:bodyPr vert="horz">
            <a:noAutofit/>
          </a:bodyPr>
          <a:lstStyle/>
          <a:p>
            <a:r>
              <a:rPr lang="en-US" sz="3200" cap="none">
                <a:solidFill>
                  <a:schemeClr val="accent5"/>
                </a:solidFill>
              </a:rPr>
              <a:t>Investment Case Study: Turing</a:t>
            </a:r>
          </a:p>
        </p:txBody>
      </p:sp>
      <p:sp>
        <p:nvSpPr>
          <p:cNvPr id="9" name="Text Placeholder 2">
            <a:extLst>
              <a:ext uri="{FF2B5EF4-FFF2-40B4-BE49-F238E27FC236}">
                <a16:creationId xmlns:a16="http://schemas.microsoft.com/office/drawing/2014/main" id="{557C7979-598A-4F16-9BA1-1EAD2D811665}"/>
              </a:ext>
            </a:extLst>
          </p:cNvPr>
          <p:cNvSpPr txBox="1">
            <a:spLocks/>
          </p:cNvSpPr>
          <p:nvPr/>
        </p:nvSpPr>
        <p:spPr>
          <a:xfrm>
            <a:off x="3864852" y="1279593"/>
            <a:ext cx="5155687" cy="609930"/>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gn="ctr">
              <a:lnSpc>
                <a:spcPct val="150000"/>
              </a:lnSpc>
              <a:spcBef>
                <a:spcPts val="0"/>
              </a:spcBef>
              <a:buClr>
                <a:srgbClr val="919191">
                  <a:lumMod val="50000"/>
                </a:srgbClr>
              </a:buClr>
              <a:buNone/>
            </a:pPr>
            <a:r>
              <a:rPr lang="en-US" sz="2000" b="0">
                <a:solidFill>
                  <a:schemeClr val="tx1">
                    <a:lumMod val="65000"/>
                    <a:lumOff val="35000"/>
                  </a:schemeClr>
                </a:solidFill>
                <a:latin typeface="+mn-lt"/>
                <a:ea typeface="Roboto Condensed Light" panose="02000000000000000000" pitchFamily="2" charset="0"/>
                <a:cs typeface="Helvetica"/>
              </a:rPr>
              <a:t>AI-enabled Software Services  </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889000" y="2641113"/>
            <a:ext cx="2987075" cy="3359589"/>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Massive Services Market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Best in Class Product</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High Customer Traction</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Robust Unit Economics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Strong Founding Team</a:t>
            </a:r>
          </a:p>
        </p:txBody>
      </p:sp>
      <p:sp>
        <p:nvSpPr>
          <p:cNvPr id="22" name="Rectangle 21">
            <a:extLst>
              <a:ext uri="{FF2B5EF4-FFF2-40B4-BE49-F238E27FC236}">
                <a16:creationId xmlns:a16="http://schemas.microsoft.com/office/drawing/2014/main" id="{D828A56E-34CC-427C-AEA2-C8489BECF9F6}"/>
              </a:ext>
            </a:extLst>
          </p:cNvPr>
          <p:cNvSpPr/>
          <p:nvPr/>
        </p:nvSpPr>
        <p:spPr>
          <a:xfrm>
            <a:off x="4516601"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Partnership for Growth</a:t>
            </a:r>
          </a:p>
        </p:txBody>
      </p:sp>
      <p:cxnSp>
        <p:nvCxnSpPr>
          <p:cNvPr id="23" name="Straight Connector 22">
            <a:extLst>
              <a:ext uri="{FF2B5EF4-FFF2-40B4-BE49-F238E27FC236}">
                <a16:creationId xmlns:a16="http://schemas.microsoft.com/office/drawing/2014/main" id="{9AEA1823-D662-4583-BC7D-3387307A115C}"/>
              </a:ext>
            </a:extLst>
          </p:cNvPr>
          <p:cNvCxnSpPr>
            <a:cxnSpLocks/>
          </p:cNvCxnSpPr>
          <p:nvPr/>
        </p:nvCxnSpPr>
        <p:spPr>
          <a:xfrm>
            <a:off x="4474293" y="2570160"/>
            <a:ext cx="4046839" cy="888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EDE4FCF-B3D2-4FA1-89D8-93EC6E8392CE}"/>
              </a:ext>
            </a:extLst>
          </p:cNvPr>
          <p:cNvSpPr/>
          <p:nvPr/>
        </p:nvSpPr>
        <p:spPr>
          <a:xfrm>
            <a:off x="961390"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Our Thesis</a:t>
            </a:r>
          </a:p>
        </p:txBody>
      </p:sp>
      <p:cxnSp>
        <p:nvCxnSpPr>
          <p:cNvPr id="25" name="Straight Connector 24">
            <a:extLst>
              <a:ext uri="{FF2B5EF4-FFF2-40B4-BE49-F238E27FC236}">
                <a16:creationId xmlns:a16="http://schemas.microsoft.com/office/drawing/2014/main" id="{8CE4C1E3-F2A7-491E-A285-E079C988AF9B}"/>
              </a:ext>
            </a:extLst>
          </p:cNvPr>
          <p:cNvCxnSpPr/>
          <p:nvPr/>
        </p:nvCxnSpPr>
        <p:spPr>
          <a:xfrm>
            <a:off x="968535" y="2570160"/>
            <a:ext cx="29752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44699DF-7636-422E-8AAF-9F5654C91527}"/>
              </a:ext>
            </a:extLst>
          </p:cNvPr>
          <p:cNvSpPr txBox="1"/>
          <p:nvPr/>
        </p:nvSpPr>
        <p:spPr>
          <a:xfrm>
            <a:off x="597690" y="5478100"/>
            <a:ext cx="7947310" cy="584775"/>
          </a:xfrm>
          <a:prstGeom prst="rect">
            <a:avLst/>
          </a:prstGeom>
          <a:noFill/>
        </p:spPr>
        <p:txBody>
          <a:bodyPr wrap="square" rtlCol="0">
            <a:spAutoFit/>
          </a:bodyPr>
          <a:lstStyle/>
          <a:p>
            <a:pPr algn="ctr"/>
            <a:r>
              <a:rPr lang="en-IN" sz="1600" b="1" i="1">
                <a:solidFill>
                  <a:schemeClr val="accent5"/>
                </a:solidFill>
                <a:ea typeface="Roboto Black" panose="02000000000000000000" pitchFamily="2" charset="0"/>
              </a:rPr>
              <a:t>We have operationally supported Turing’s growth journey by leveraging our domain expertise</a:t>
            </a:r>
          </a:p>
          <a:p>
            <a:pPr algn="ctr"/>
            <a:r>
              <a:rPr lang="en-IN" sz="1600" b="1" i="1">
                <a:solidFill>
                  <a:schemeClr val="accent5"/>
                </a:solidFill>
                <a:ea typeface="Roboto Black" panose="02000000000000000000" pitchFamily="2" charset="0"/>
              </a:rPr>
              <a:t> from previous lead investments in Cognizant, GlobalLogic and </a:t>
            </a:r>
            <a:r>
              <a:rPr lang="en-IN" sz="1600" b="1" i="1" err="1">
                <a:solidFill>
                  <a:schemeClr val="accent5"/>
                </a:solidFill>
                <a:ea typeface="Roboto Black" panose="02000000000000000000" pitchFamily="2" charset="0"/>
              </a:rPr>
              <a:t>marketRx</a:t>
            </a:r>
            <a:endParaRPr lang="en-IN" sz="1600" b="1" i="1">
              <a:solidFill>
                <a:schemeClr val="accent5"/>
              </a:solidFill>
              <a:ea typeface="Roboto Black" panose="02000000000000000000" pitchFamily="2" charset="0"/>
            </a:endParaRPr>
          </a:p>
        </p:txBody>
      </p:sp>
      <p:pic>
        <p:nvPicPr>
          <p:cNvPr id="1026" name="Picture 2" descr="Turing Launches New Tech Consulting &amp; Services Model Powered by AI |  PressRelease.com">
            <a:extLst>
              <a:ext uri="{FF2B5EF4-FFF2-40B4-BE49-F238E27FC236}">
                <a16:creationId xmlns:a16="http://schemas.microsoft.com/office/drawing/2014/main" id="{3E743844-C182-6950-110A-8C347A746C3A}"/>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9000" y="1300058"/>
            <a:ext cx="3054741" cy="633734"/>
          </a:xfrm>
          <a:prstGeom prst="rect">
            <a:avLst/>
          </a:prstGeom>
          <a:noFill/>
          <a:extLst>
            <a:ext uri="{909E8E84-426E-40DD-AFC4-6F175D3DCCD1}">
              <a14:hiddenFill xmlns:a14="http://schemas.microsoft.com/office/drawing/2010/main">
                <a:solidFill>
                  <a:srgbClr val="FFFFFF"/>
                </a:solidFill>
              </a14:hiddenFill>
            </a:ext>
          </a:extLst>
        </p:spPr>
      </p:pic>
      <p:cxnSp>
        <p:nvCxnSpPr>
          <p:cNvPr id="1045" name="Straight Arrow Connector 1044">
            <a:extLst>
              <a:ext uri="{FF2B5EF4-FFF2-40B4-BE49-F238E27FC236}">
                <a16:creationId xmlns:a16="http://schemas.microsoft.com/office/drawing/2014/main" id="{7E6B8FA3-7712-E13D-8C53-6D91620DC5B9}"/>
              </a:ext>
            </a:extLst>
          </p:cNvPr>
          <p:cNvCxnSpPr>
            <a:cxnSpLocks/>
          </p:cNvCxnSpPr>
          <p:nvPr/>
        </p:nvCxnSpPr>
        <p:spPr>
          <a:xfrm>
            <a:off x="4474293" y="3800062"/>
            <a:ext cx="4019358" cy="65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1046" name="Group 1045">
            <a:extLst>
              <a:ext uri="{FF2B5EF4-FFF2-40B4-BE49-F238E27FC236}">
                <a16:creationId xmlns:a16="http://schemas.microsoft.com/office/drawing/2014/main" id="{865F3FC2-9F0A-6812-9D60-BF6429711F15}"/>
              </a:ext>
            </a:extLst>
          </p:cNvPr>
          <p:cNvGrpSpPr/>
          <p:nvPr/>
        </p:nvGrpSpPr>
        <p:grpSpPr>
          <a:xfrm>
            <a:off x="4430037" y="3733707"/>
            <a:ext cx="909998" cy="502006"/>
            <a:chOff x="657651" y="2747216"/>
            <a:chExt cx="909998" cy="502006"/>
          </a:xfrm>
        </p:grpSpPr>
        <p:sp>
          <p:nvSpPr>
            <p:cNvPr id="1047" name="Oval 1046">
              <a:extLst>
                <a:ext uri="{FF2B5EF4-FFF2-40B4-BE49-F238E27FC236}">
                  <a16:creationId xmlns:a16="http://schemas.microsoft.com/office/drawing/2014/main" id="{37C0B3E3-A3DB-3DD3-B751-9BA4569E9F75}"/>
                </a:ext>
              </a:extLst>
            </p:cNvPr>
            <p:cNvSpPr/>
            <p:nvPr/>
          </p:nvSpPr>
          <p:spPr>
            <a:xfrm>
              <a:off x="657651" y="2747216"/>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8" name="Straight Connector 1047">
              <a:extLst>
                <a:ext uri="{FF2B5EF4-FFF2-40B4-BE49-F238E27FC236}">
                  <a16:creationId xmlns:a16="http://schemas.microsoft.com/office/drawing/2014/main" id="{CD20858E-F556-FDEC-9983-3FB609D4EA43}"/>
                </a:ext>
              </a:extLst>
            </p:cNvPr>
            <p:cNvCxnSpPr>
              <a:cxnSpLocks/>
            </p:cNvCxnSpPr>
            <p:nvPr/>
          </p:nvCxnSpPr>
          <p:spPr>
            <a:xfrm>
              <a:off x="729213" y="2894132"/>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9" name="TextBox 1048">
              <a:extLst>
                <a:ext uri="{FF2B5EF4-FFF2-40B4-BE49-F238E27FC236}">
                  <a16:creationId xmlns:a16="http://schemas.microsoft.com/office/drawing/2014/main" id="{E41EA152-F6D7-D0F6-9037-D6DD5CBBD6EA}"/>
                </a:ext>
              </a:extLst>
            </p:cNvPr>
            <p:cNvSpPr txBox="1"/>
            <p:nvPr/>
          </p:nvSpPr>
          <p:spPr>
            <a:xfrm>
              <a:off x="862799" y="2818335"/>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2020</a:t>
              </a:r>
            </a:p>
          </p:txBody>
        </p:sp>
      </p:grpSp>
      <p:grpSp>
        <p:nvGrpSpPr>
          <p:cNvPr id="1050" name="Group 1049">
            <a:extLst>
              <a:ext uri="{FF2B5EF4-FFF2-40B4-BE49-F238E27FC236}">
                <a16:creationId xmlns:a16="http://schemas.microsoft.com/office/drawing/2014/main" id="{22FABE8D-D287-954C-976C-92E26297B58C}"/>
              </a:ext>
            </a:extLst>
          </p:cNvPr>
          <p:cNvGrpSpPr/>
          <p:nvPr/>
        </p:nvGrpSpPr>
        <p:grpSpPr>
          <a:xfrm>
            <a:off x="5231075" y="3336471"/>
            <a:ext cx="851635" cy="738775"/>
            <a:chOff x="2500975" y="2343683"/>
            <a:chExt cx="851635" cy="738775"/>
          </a:xfrm>
        </p:grpSpPr>
        <p:sp>
          <p:nvSpPr>
            <p:cNvPr id="1051" name="Oval 1050">
              <a:extLst>
                <a:ext uri="{FF2B5EF4-FFF2-40B4-BE49-F238E27FC236}">
                  <a16:creationId xmlns:a16="http://schemas.microsoft.com/office/drawing/2014/main" id="{D5F1F9FB-BB51-5023-2E94-1C8E5339C86A}"/>
                </a:ext>
              </a:extLst>
            </p:cNvPr>
            <p:cNvSpPr/>
            <p:nvPr/>
          </p:nvSpPr>
          <p:spPr>
            <a:xfrm>
              <a:off x="2500975"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2" name="Straight Connector 1051">
              <a:extLst>
                <a:ext uri="{FF2B5EF4-FFF2-40B4-BE49-F238E27FC236}">
                  <a16:creationId xmlns:a16="http://schemas.microsoft.com/office/drawing/2014/main" id="{ACDEDC6A-8FAC-1644-83DB-D15EF4BE2398}"/>
                </a:ext>
              </a:extLst>
            </p:cNvPr>
            <p:cNvCxnSpPr>
              <a:cxnSpLocks/>
            </p:cNvCxnSpPr>
            <p:nvPr/>
          </p:nvCxnSpPr>
          <p:spPr>
            <a:xfrm>
              <a:off x="2572537" y="2343683"/>
              <a:ext cx="0" cy="38392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3" name="TextBox 1052">
              <a:extLst>
                <a:ext uri="{FF2B5EF4-FFF2-40B4-BE49-F238E27FC236}">
                  <a16:creationId xmlns:a16="http://schemas.microsoft.com/office/drawing/2014/main" id="{8577A508-5D08-9C65-F791-3DBA2C68DB20}"/>
                </a:ext>
              </a:extLst>
            </p:cNvPr>
            <p:cNvSpPr txBox="1"/>
            <p:nvPr/>
          </p:nvSpPr>
          <p:spPr>
            <a:xfrm>
              <a:off x="2647760" y="2820848"/>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2021</a:t>
              </a:r>
            </a:p>
          </p:txBody>
        </p:sp>
      </p:grpSp>
      <p:grpSp>
        <p:nvGrpSpPr>
          <p:cNvPr id="1054" name="Group 1053">
            <a:extLst>
              <a:ext uri="{FF2B5EF4-FFF2-40B4-BE49-F238E27FC236}">
                <a16:creationId xmlns:a16="http://schemas.microsoft.com/office/drawing/2014/main" id="{EEA73FCC-E526-0E4B-4D04-94A8A04FA7CB}"/>
              </a:ext>
            </a:extLst>
          </p:cNvPr>
          <p:cNvGrpSpPr/>
          <p:nvPr/>
        </p:nvGrpSpPr>
        <p:grpSpPr>
          <a:xfrm>
            <a:off x="5923970" y="3744296"/>
            <a:ext cx="865040" cy="494133"/>
            <a:chOff x="4205951" y="2757805"/>
            <a:chExt cx="865040" cy="494133"/>
          </a:xfrm>
        </p:grpSpPr>
        <p:sp>
          <p:nvSpPr>
            <p:cNvPr id="1055" name="Oval 1054">
              <a:extLst>
                <a:ext uri="{FF2B5EF4-FFF2-40B4-BE49-F238E27FC236}">
                  <a16:creationId xmlns:a16="http://schemas.microsoft.com/office/drawing/2014/main" id="{ED6B47BB-81C0-5136-2C2F-AD1AA5580A7B}"/>
                </a:ext>
              </a:extLst>
            </p:cNvPr>
            <p:cNvSpPr/>
            <p:nvPr/>
          </p:nvSpPr>
          <p:spPr>
            <a:xfrm>
              <a:off x="4205951" y="275780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6" name="Straight Connector 1055">
              <a:extLst>
                <a:ext uri="{FF2B5EF4-FFF2-40B4-BE49-F238E27FC236}">
                  <a16:creationId xmlns:a16="http://schemas.microsoft.com/office/drawing/2014/main" id="{5B7C96EB-2BF1-67EF-87FF-D2CAE31E0C20}"/>
                </a:ext>
              </a:extLst>
            </p:cNvPr>
            <p:cNvCxnSpPr>
              <a:cxnSpLocks/>
            </p:cNvCxnSpPr>
            <p:nvPr/>
          </p:nvCxnSpPr>
          <p:spPr>
            <a:xfrm>
              <a:off x="4277513" y="289684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7" name="TextBox 1056">
              <a:extLst>
                <a:ext uri="{FF2B5EF4-FFF2-40B4-BE49-F238E27FC236}">
                  <a16:creationId xmlns:a16="http://schemas.microsoft.com/office/drawing/2014/main" id="{7C17668D-1CF3-7FA5-87B1-8AFBC098C58F}"/>
                </a:ext>
              </a:extLst>
            </p:cNvPr>
            <p:cNvSpPr txBox="1"/>
            <p:nvPr/>
          </p:nvSpPr>
          <p:spPr>
            <a:xfrm>
              <a:off x="4339424" y="2818335"/>
              <a:ext cx="731567"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2022</a:t>
              </a:r>
            </a:p>
          </p:txBody>
        </p:sp>
      </p:grpSp>
      <p:grpSp>
        <p:nvGrpSpPr>
          <p:cNvPr id="1058" name="Group 1057">
            <a:extLst>
              <a:ext uri="{FF2B5EF4-FFF2-40B4-BE49-F238E27FC236}">
                <a16:creationId xmlns:a16="http://schemas.microsoft.com/office/drawing/2014/main" id="{55480926-F960-EEA8-3404-F970B6CBBF82}"/>
              </a:ext>
            </a:extLst>
          </p:cNvPr>
          <p:cNvGrpSpPr/>
          <p:nvPr/>
        </p:nvGrpSpPr>
        <p:grpSpPr>
          <a:xfrm>
            <a:off x="6626780" y="3345288"/>
            <a:ext cx="839370" cy="721031"/>
            <a:chOff x="5920453" y="2341481"/>
            <a:chExt cx="839370" cy="721031"/>
          </a:xfrm>
        </p:grpSpPr>
        <p:sp>
          <p:nvSpPr>
            <p:cNvPr id="1059" name="Oval 1058">
              <a:extLst>
                <a:ext uri="{FF2B5EF4-FFF2-40B4-BE49-F238E27FC236}">
                  <a16:creationId xmlns:a16="http://schemas.microsoft.com/office/drawing/2014/main" id="{57F7ACE9-EBB2-CDA2-BC64-70595137C20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0" name="Straight Connector 1059">
              <a:extLst>
                <a:ext uri="{FF2B5EF4-FFF2-40B4-BE49-F238E27FC236}">
                  <a16:creationId xmlns:a16="http://schemas.microsoft.com/office/drawing/2014/main" id="{15BC1916-A4A2-57B6-A85C-F38EC9A9B9F9}"/>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1" name="TextBox 1060">
              <a:extLst>
                <a:ext uri="{FF2B5EF4-FFF2-40B4-BE49-F238E27FC236}">
                  <a16:creationId xmlns:a16="http://schemas.microsoft.com/office/drawing/2014/main" id="{7FAD699F-F96A-6BD6-9F67-BA10D23740D4}"/>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2023</a:t>
              </a:r>
            </a:p>
          </p:txBody>
        </p:sp>
      </p:grpSp>
      <p:grpSp>
        <p:nvGrpSpPr>
          <p:cNvPr id="1062" name="Group 1061">
            <a:extLst>
              <a:ext uri="{FF2B5EF4-FFF2-40B4-BE49-F238E27FC236}">
                <a16:creationId xmlns:a16="http://schemas.microsoft.com/office/drawing/2014/main" id="{1E0B717C-6181-282C-A24C-BA6D78C644A0}"/>
              </a:ext>
            </a:extLst>
          </p:cNvPr>
          <p:cNvGrpSpPr/>
          <p:nvPr/>
        </p:nvGrpSpPr>
        <p:grpSpPr>
          <a:xfrm>
            <a:off x="7433855" y="3725246"/>
            <a:ext cx="867423" cy="504793"/>
            <a:chOff x="7506378" y="2738755"/>
            <a:chExt cx="867423" cy="504793"/>
          </a:xfrm>
        </p:grpSpPr>
        <p:sp>
          <p:nvSpPr>
            <p:cNvPr id="1063" name="Oval 1062">
              <a:extLst>
                <a:ext uri="{FF2B5EF4-FFF2-40B4-BE49-F238E27FC236}">
                  <a16:creationId xmlns:a16="http://schemas.microsoft.com/office/drawing/2014/main" id="{8FFC2BC5-9FBF-8A2F-0F6A-897F28FE2581}"/>
                </a:ext>
              </a:extLst>
            </p:cNvPr>
            <p:cNvSpPr/>
            <p:nvPr/>
          </p:nvSpPr>
          <p:spPr>
            <a:xfrm>
              <a:off x="7506378"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4" name="Straight Connector 1063">
              <a:extLst>
                <a:ext uri="{FF2B5EF4-FFF2-40B4-BE49-F238E27FC236}">
                  <a16:creationId xmlns:a16="http://schemas.microsoft.com/office/drawing/2014/main" id="{7562DECD-E240-1417-48ED-A4A57AA9F600}"/>
                </a:ext>
              </a:extLst>
            </p:cNvPr>
            <p:cNvCxnSpPr>
              <a:cxnSpLocks/>
            </p:cNvCxnSpPr>
            <p:nvPr/>
          </p:nvCxnSpPr>
          <p:spPr>
            <a:xfrm>
              <a:off x="7580330" y="288845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5" name="TextBox 1064">
              <a:extLst>
                <a:ext uri="{FF2B5EF4-FFF2-40B4-BE49-F238E27FC236}">
                  <a16:creationId xmlns:a16="http://schemas.microsoft.com/office/drawing/2014/main" id="{CA5FA995-46FC-F52E-8CB9-7886B6B9C3D9}"/>
                </a:ext>
              </a:extLst>
            </p:cNvPr>
            <p:cNvSpPr txBox="1"/>
            <p:nvPr/>
          </p:nvSpPr>
          <p:spPr>
            <a:xfrm>
              <a:off x="7582702" y="2818335"/>
              <a:ext cx="791099"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2024-25</a:t>
              </a:r>
            </a:p>
          </p:txBody>
        </p:sp>
      </p:grpSp>
      <p:sp>
        <p:nvSpPr>
          <p:cNvPr id="1066" name="TextBox 1065">
            <a:extLst>
              <a:ext uri="{FF2B5EF4-FFF2-40B4-BE49-F238E27FC236}">
                <a16:creationId xmlns:a16="http://schemas.microsoft.com/office/drawing/2014/main" id="{67530AAE-A456-AF9D-28C1-F080FA51698C}"/>
              </a:ext>
            </a:extLst>
          </p:cNvPr>
          <p:cNvSpPr txBox="1"/>
          <p:nvPr/>
        </p:nvSpPr>
        <p:spPr>
          <a:xfrm>
            <a:off x="4453088" y="2647646"/>
            <a:ext cx="1693604" cy="1446550"/>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$10M to $50M ARR</a:t>
            </a:r>
          </a:p>
          <a:p>
            <a:r>
              <a:rPr lang="en-US" sz="1100">
                <a:solidFill>
                  <a:schemeClr val="tx1">
                    <a:lumMod val="65000"/>
                    <a:lumOff val="35000"/>
                  </a:schemeClr>
                </a:solidFill>
                <a:ea typeface="Roboto Medium" panose="02000000000000000000" pitchFamily="2" charset="0"/>
              </a:rPr>
              <a:t>Strategically shifted customer mix from SMB to Enterprises; Built channel partnerships</a:t>
            </a:r>
          </a:p>
          <a:p>
            <a:endParaRPr lang="en-US" sz="1100">
              <a:solidFill>
                <a:schemeClr val="accent5"/>
              </a:solidFill>
              <a:ea typeface="Roboto Medium" panose="02000000000000000000" pitchFamily="2" charset="0"/>
            </a:endParaRPr>
          </a:p>
          <a:p>
            <a:endParaRPr lang="en-US" sz="1100">
              <a:solidFill>
                <a:schemeClr val="tx1">
                  <a:lumMod val="65000"/>
                  <a:lumOff val="35000"/>
                </a:schemeClr>
              </a:solidFill>
            </a:endParaRPr>
          </a:p>
          <a:p>
            <a:endParaRPr lang="en-US" sz="1100">
              <a:solidFill>
                <a:schemeClr val="accent5"/>
              </a:solidFill>
              <a:ea typeface="Roboto Medium" panose="02000000000000000000" pitchFamily="2" charset="0"/>
            </a:endParaRPr>
          </a:p>
        </p:txBody>
      </p:sp>
      <p:sp>
        <p:nvSpPr>
          <p:cNvPr id="1067" name="TextBox 1066">
            <a:extLst>
              <a:ext uri="{FF2B5EF4-FFF2-40B4-BE49-F238E27FC236}">
                <a16:creationId xmlns:a16="http://schemas.microsoft.com/office/drawing/2014/main" id="{444E6331-C708-54FA-790A-A9E9362BBDAB}"/>
              </a:ext>
            </a:extLst>
          </p:cNvPr>
          <p:cNvSpPr txBox="1"/>
          <p:nvPr/>
        </p:nvSpPr>
        <p:spPr>
          <a:xfrm>
            <a:off x="5479054" y="4224082"/>
            <a:ext cx="1670160"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C</a:t>
            </a:r>
          </a:p>
          <a:p>
            <a:r>
              <a:rPr lang="en-US" sz="1100">
                <a:solidFill>
                  <a:schemeClr val="accent5"/>
                </a:solidFill>
                <a:ea typeface="Roboto Medium" panose="02000000000000000000" pitchFamily="2" charset="0"/>
              </a:rPr>
              <a:t>Invested $72M</a:t>
            </a:r>
          </a:p>
          <a:p>
            <a:r>
              <a:rPr lang="en-US" sz="1100">
                <a:solidFill>
                  <a:schemeClr val="accent5"/>
                </a:solidFill>
                <a:ea typeface="Roboto Medium" panose="02000000000000000000" pitchFamily="2" charset="0"/>
              </a:rPr>
              <a:t>Lead investor</a:t>
            </a:r>
          </a:p>
        </p:txBody>
      </p:sp>
      <p:sp>
        <p:nvSpPr>
          <p:cNvPr id="1068" name="TextBox 1067">
            <a:extLst>
              <a:ext uri="{FF2B5EF4-FFF2-40B4-BE49-F238E27FC236}">
                <a16:creationId xmlns:a16="http://schemas.microsoft.com/office/drawing/2014/main" id="{A10671BE-3AAD-B8AD-D2B8-E3F3CFDE213F}"/>
              </a:ext>
            </a:extLst>
          </p:cNvPr>
          <p:cNvSpPr txBox="1"/>
          <p:nvPr/>
        </p:nvSpPr>
        <p:spPr>
          <a:xfrm>
            <a:off x="6994145" y="4240565"/>
            <a:ext cx="1848103"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$100M to $300M ARR</a:t>
            </a:r>
          </a:p>
          <a:p>
            <a:r>
              <a:rPr lang="en-US" sz="1100">
                <a:solidFill>
                  <a:schemeClr val="accent5"/>
                </a:solidFill>
                <a:ea typeface="Roboto Medium" panose="02000000000000000000" pitchFamily="2" charset="0"/>
              </a:rPr>
              <a:t>Expanded focus to LLM data services</a:t>
            </a:r>
          </a:p>
        </p:txBody>
      </p:sp>
      <p:sp>
        <p:nvSpPr>
          <p:cNvPr id="1069" name="TextBox 1068">
            <a:extLst>
              <a:ext uri="{FF2B5EF4-FFF2-40B4-BE49-F238E27FC236}">
                <a16:creationId xmlns:a16="http://schemas.microsoft.com/office/drawing/2014/main" id="{3A23E3D3-7AA5-140C-9B9B-A4A52BD2EE55}"/>
              </a:ext>
            </a:extLst>
          </p:cNvPr>
          <p:cNvSpPr txBox="1"/>
          <p:nvPr/>
        </p:nvSpPr>
        <p:spPr>
          <a:xfrm>
            <a:off x="6147342" y="2711654"/>
            <a:ext cx="1693605"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$50M to $100M ARR</a:t>
            </a:r>
          </a:p>
          <a:p>
            <a:r>
              <a:rPr lang="en-US" sz="1100">
                <a:solidFill>
                  <a:schemeClr val="accent5"/>
                </a:solidFill>
                <a:ea typeface="Roboto Medium" panose="02000000000000000000" pitchFamily="2" charset="0"/>
              </a:rPr>
              <a:t>Restructured GTM to win </a:t>
            </a:r>
          </a:p>
          <a:p>
            <a:r>
              <a:rPr lang="en-US" sz="1100">
                <a:solidFill>
                  <a:schemeClr val="accent5"/>
                </a:solidFill>
                <a:ea typeface="Roboto Medium" panose="02000000000000000000" pitchFamily="2" charset="0"/>
              </a:rPr>
              <a:t>$10M+ contracts</a:t>
            </a:r>
          </a:p>
        </p:txBody>
      </p:sp>
      <p:sp>
        <p:nvSpPr>
          <p:cNvPr id="1072" name="TextBox 1071">
            <a:extLst>
              <a:ext uri="{FF2B5EF4-FFF2-40B4-BE49-F238E27FC236}">
                <a16:creationId xmlns:a16="http://schemas.microsoft.com/office/drawing/2014/main" id="{4FF8F296-B843-CE57-30AC-FF88B7D2BB2B}"/>
              </a:ext>
            </a:extLst>
          </p:cNvPr>
          <p:cNvSpPr txBox="1"/>
          <p:nvPr/>
        </p:nvSpPr>
        <p:spPr>
          <a:xfrm>
            <a:off x="4107137" y="4245285"/>
            <a:ext cx="1431649" cy="938719"/>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B</a:t>
            </a:r>
          </a:p>
          <a:p>
            <a:r>
              <a:rPr lang="en-US" sz="1100">
                <a:solidFill>
                  <a:schemeClr val="accent5"/>
                </a:solidFill>
                <a:ea typeface="Roboto Medium" panose="02000000000000000000" pitchFamily="2" charset="0"/>
              </a:rPr>
              <a:t>Invested $28M</a:t>
            </a:r>
          </a:p>
          <a:p>
            <a:r>
              <a:rPr lang="en-US" sz="1100">
                <a:solidFill>
                  <a:schemeClr val="accent5"/>
                </a:solidFill>
                <a:ea typeface="Roboto Medium" panose="02000000000000000000" pitchFamily="2" charset="0"/>
              </a:rPr>
              <a:t>Added intelligence across vetting and matching process</a:t>
            </a:r>
          </a:p>
        </p:txBody>
      </p:sp>
      <p:grpSp>
        <p:nvGrpSpPr>
          <p:cNvPr id="3" name="Group 2">
            <a:extLst>
              <a:ext uri="{FF2B5EF4-FFF2-40B4-BE49-F238E27FC236}">
                <a16:creationId xmlns:a16="http://schemas.microsoft.com/office/drawing/2014/main" id="{27D9860F-3012-63F4-0614-E8F3E32C7518}"/>
              </a:ext>
            </a:extLst>
          </p:cNvPr>
          <p:cNvGrpSpPr/>
          <p:nvPr/>
        </p:nvGrpSpPr>
        <p:grpSpPr>
          <a:xfrm>
            <a:off x="8166085" y="3341430"/>
            <a:ext cx="839370" cy="721031"/>
            <a:chOff x="5920453" y="2341481"/>
            <a:chExt cx="839370" cy="721031"/>
          </a:xfrm>
        </p:grpSpPr>
        <p:sp>
          <p:nvSpPr>
            <p:cNvPr id="6" name="Oval 5">
              <a:extLst>
                <a:ext uri="{FF2B5EF4-FFF2-40B4-BE49-F238E27FC236}">
                  <a16:creationId xmlns:a16="http://schemas.microsoft.com/office/drawing/2014/main" id="{8E9CAA57-409D-C28B-A1FA-B2648728209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61EB0FF-3329-2525-9AD1-DA4E7FC1A126}"/>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E9D151-58DF-E701-C8FD-C5F8F22A6456}"/>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2026</a:t>
              </a:r>
            </a:p>
          </p:txBody>
        </p:sp>
      </p:grpSp>
      <p:sp>
        <p:nvSpPr>
          <p:cNvPr id="10" name="TextBox 9">
            <a:extLst>
              <a:ext uri="{FF2B5EF4-FFF2-40B4-BE49-F238E27FC236}">
                <a16:creationId xmlns:a16="http://schemas.microsoft.com/office/drawing/2014/main" id="{90D7345F-EB7C-394D-C4CD-9A295D73AF06}"/>
              </a:ext>
            </a:extLst>
          </p:cNvPr>
          <p:cNvSpPr txBox="1"/>
          <p:nvPr/>
        </p:nvSpPr>
        <p:spPr>
          <a:xfrm>
            <a:off x="7750656" y="2680364"/>
            <a:ext cx="1457352" cy="769441"/>
          </a:xfrm>
          <a:prstGeom prst="rect">
            <a:avLst/>
          </a:prstGeom>
          <a:noFill/>
        </p:spPr>
        <p:txBody>
          <a:bodyPr wrap="square" rtlCol="0">
            <a:spAutoFit/>
          </a:bodyPr>
          <a:lstStyle/>
          <a:p>
            <a:r>
              <a:rPr lang="en-US" sz="1100" b="1">
                <a:solidFill>
                  <a:schemeClr val="accent5"/>
                </a:solidFill>
                <a:ea typeface="Roboto Black" panose="02000000000000000000" pitchFamily="2" charset="0"/>
              </a:rPr>
              <a:t>IPO ready</a:t>
            </a:r>
          </a:p>
          <a:p>
            <a:r>
              <a:rPr lang="en-US" sz="1100">
                <a:solidFill>
                  <a:schemeClr val="accent5"/>
                </a:solidFill>
                <a:ea typeface="Roboto Medium" panose="02000000000000000000" pitchFamily="2" charset="0"/>
              </a:rPr>
              <a:t>Helped turn company profitable and ready for IPO</a:t>
            </a:r>
          </a:p>
        </p:txBody>
      </p:sp>
    </p:spTree>
    <p:extLst>
      <p:ext uri="{BB962C8B-B14F-4D97-AF65-F5344CB8AC3E}">
        <p14:creationId xmlns:p14="http://schemas.microsoft.com/office/powerpoint/2010/main" val="159746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noAutofit/>
          </a:bodyPr>
          <a:lstStyle/>
          <a:p>
            <a:r>
              <a:rPr lang="en-US" sz="3200" cap="none">
                <a:solidFill>
                  <a:schemeClr val="accent5"/>
                </a:solidFill>
              </a:rPr>
              <a:t>Disclaimer</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667206" y="1108038"/>
            <a:ext cx="7886700" cy="4896521"/>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nSpc>
                <a:spcPct val="100000"/>
              </a:lnSpc>
              <a:spcBef>
                <a:spcPts val="0"/>
              </a:spcBef>
              <a:buClr>
                <a:srgbClr val="919191">
                  <a:lumMod val="50000"/>
                </a:srgbClr>
              </a:buClr>
              <a:buNone/>
            </a:pPr>
            <a:r>
              <a:rPr lang="en-US" sz="900">
                <a:solidFill>
                  <a:schemeClr val="tx1">
                    <a:lumMod val="65000"/>
                    <a:lumOff val="35000"/>
                  </a:schemeClr>
                </a:solidFill>
                <a:latin typeface="+mn-lt"/>
                <a:ea typeface="Roboto Condensed Light" panose="02000000000000000000" pitchFamily="2" charset="0"/>
                <a:cs typeface="Helvetica"/>
              </a:rPr>
              <a:t>QUALIFICATIONS: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This presentation contains information about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Crossover Fund, LLC and its subsidiaries as determined for purposes of US GAAP (the “Fund”) and some of its select portfolio companies and has been prepared solely for your information purposes only. This is not a solicitation or an offer to buy any security or instrument or to participate in any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contents of this presentation shall be maintained in strict confidence by all recipients. Any reproduction or distribution of this presentation, in whole or in part, or the disclosure of its contents, without the prior written consent of the Fund is strictly prohibited. Any reproduction or distribution of this presentation, in whole or in part, or the disclosure of its contents, without the prior written consent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is strictly prohibited.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information set forth herein does not purport to be complete and no obligation to update or otherwise revise such information is being assumed. Moreover, certain information contained herein has been obtained from published and non-published sources prepared by other parties and intermediaries, which in certain cases has not been updated through the date hereof. While such sources are believed to be reliable for the purposes used herein,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does not assume any responsibility for the accuracy or completeness of such information.  Further, no third party has assumed responsibility for independently verifying the information contained herein and accordingly, no such persons make any representation with respect to the accuracy, completeness or reasonableness of the information provided herein.  Unless otherwise indicated, market analyses and conclusions are based upon opinions or assumptions that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considers to be reasonable.</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Multiple slides show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investment thesis, opinions and beliefs as of the date of this presentation. Any use of adjectives such as “best in class”, “massive”, “robust”, “superior”, “strong”, “dominant” etc. only reflect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belief and view of a particular aspect of the portfolio company as shown in such slides.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There is no guarantee that any investment will perform as projected. Further, the information contained herein does not take into account the particular investment objectives or financial circumstances of any particular investor.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Certain statements, projections or other estimates herein (including estimates of value, returns or performance) are forward looking statements and are based upon certain assumptions. Other events that were not taken into account may occur and may significantly affect the analysis. Any assumptions should not be construed to be indicative of the actual events that will occur. Past performance is not indicative of future performance or results.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No person may treat this presentation as constituting either an offer to sell, or as solicitation of an offer to buy, any interest in the Fund nor does this constitute investment advice or as an offer to participate in the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Please note that the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are high-risk investment vehicles and investments therein are available only to qualified individuals or entities that are willing to assume above-average risk and have limited liquidity with a portion of their net-worth. There can be no guarantee that the investment objectives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 will be achieved, and an entire loss of principal may occur. Please do refer to the relevant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final confidential offering memorandum, shareholders’ agreement, Form ADV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Capital and other related documents for additional information regarding risks and conflicts of interests. No guarantee of investment performance is being provided and no inference to the contrary should be made.</a:t>
            </a:r>
          </a:p>
        </p:txBody>
      </p:sp>
    </p:spTree>
    <p:extLst>
      <p:ext uri="{BB962C8B-B14F-4D97-AF65-F5344CB8AC3E}">
        <p14:creationId xmlns:p14="http://schemas.microsoft.com/office/powerpoint/2010/main" val="106072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1d665b89-7fc5-40a7-a5b1-3a52b3ba010e"/>
  <p:tag name="EE4P_LANGUAGE_ID" val="1033"/>
  <p:tag name="THINKCELLPRESENTATIONDONOTDELETE" val="&lt;?xml version=&quot;1.0&quot; encoding=&quot;UTF-16&quot; standalone=&quot;yes&quot;?&gt;&lt;root reqver=&quot;28224&quot;&gt;&lt;version val=&quot;3554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3.98157852063961037459E+00&quot;&gt;&lt;m_msothmcolidx val=&quot;0&quot;/&gt;&lt;m_rgb r=&quot;40&quot; g=&quot;A3&quot; b=&quot;1F&quot;/&gt;&lt;/elem&gt;&lt;elem m_fUsage=&quot;2.23126962719908483734E+00&quot;&gt;&lt;m_msothmcolidx val=&quot;0&quot;/&gt;&lt;m_rgb r=&quot;0C&quot; g=&quot;03&quot; b=&quot;A9&quot;/&gt;&lt;/elem&gt;&lt;elem m_fUsage=&quot;1.28142705909131526809E+00&quot;&gt;&lt;m_msothmcolidx val=&quot;0&quot;/&gt;&lt;m_rgb r=&quot;E6&quot; g=&quot;AC&quot; b=&quot;00&quot;/&gt;&lt;/elem&gt;&lt;elem m_fUsage=&quot;1.18764294576409978887E+00&quot;&gt;&lt;m_msothmcolidx val=&quot;0&quot;/&gt;&lt;m_rgb r=&quot;EF&quot; g=&quot;EF&quot; b=&quot;EF&quot;/&gt;&lt;/elem&gt;&lt;elem m_fUsage=&quot;1.03831641805279994983E+00&quot;&gt;&lt;m_msothmcolidx val=&quot;0&quot;/&gt;&lt;m_rgb r=&quot;BF&quot; g=&quot;BF&quot; b=&quot;BF&quot;/&gt;&lt;/elem&gt;&lt;elem m_fUsage=&quot;1.92485793572215374558E-01&quot;&gt;&lt;m_msothmcolidx val=&quot;0&quot;/&gt;&lt;m_rgb r=&quot;E0&quot; g=&quot;6F&quot; b=&quot;1B&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hZmMttlSk22OTNkIpKBP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VBzAtG7RIyo.o9mj6q4B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3"/>
</p:tagLst>
</file>

<file path=ppt/tags/tag8.xml><?xml version="1.0" encoding="utf-8"?>
<p:tagLst xmlns:a="http://schemas.openxmlformats.org/drawingml/2006/main" xmlns:r="http://schemas.openxmlformats.org/officeDocument/2006/relationships" xmlns:p="http://schemas.openxmlformats.org/presentationml/2006/main">
  <p:tag name="EE4P_TEMPLATESTYLE" val="3"/>
</p:tagLst>
</file>

<file path=ppt/tags/tag9.xml><?xml version="1.0" encoding="utf-8"?>
<p:tagLst xmlns:a="http://schemas.openxmlformats.org/drawingml/2006/main" xmlns:r="http://schemas.openxmlformats.org/officeDocument/2006/relationships" xmlns:p="http://schemas.openxmlformats.org/presentationml/2006/main">
  <p:tag name="EE4P_TEMPLATESTYLE" val="3"/>
</p:tagLst>
</file>

<file path=ppt/tags/tag10.xml><?xml version="1.0" encoding="utf-8"?>
<p:tagLst xmlns:a="http://schemas.openxmlformats.org/drawingml/2006/main" xmlns:r="http://schemas.openxmlformats.org/officeDocument/2006/relationships" xmlns:p="http://schemas.openxmlformats.org/presentationml/2006/main">
  <p:tag name="EE4P_TEMPLATESTYLE" val="3"/>
</p:tagLst>
</file>

<file path=ppt/tags/tag11.xml><?xml version="1.0" encoding="utf-8"?>
<p:tagLst xmlns:a="http://schemas.openxmlformats.org/drawingml/2006/main" xmlns:r="http://schemas.openxmlformats.org/officeDocument/2006/relationships" xmlns:p="http://schemas.openxmlformats.org/presentationml/2006/main">
  <p:tag name="EE4P_TEMPLATESTYLE" val="5"/>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EE4P_TEMPLATESTYLE" val="3"/>
</p:tagLst>
</file>

<file path=ppt/tags/tag14.xml><?xml version="1.0" encoding="utf-8"?>
<p:tagLst xmlns:a="http://schemas.openxmlformats.org/drawingml/2006/main" xmlns:r="http://schemas.openxmlformats.org/officeDocument/2006/relationships" xmlns:p="http://schemas.openxmlformats.org/presentationml/2006/main">
  <p:tag name="EE4P_TEMPLATESTYLE" val="3"/>
</p:tagLst>
</file>

<file path=ppt/tags/tag15.xml><?xml version="1.0" encoding="utf-8"?>
<p:tagLst xmlns:a="http://schemas.openxmlformats.org/drawingml/2006/main" xmlns:r="http://schemas.openxmlformats.org/officeDocument/2006/relationships" xmlns:p="http://schemas.openxmlformats.org/presentationml/2006/main">
  <p:tag name="EE4P_TEMPLATESTYLE" val="3"/>
</p:tagLst>
</file>

<file path=ppt/tags/tag16.xml><?xml version="1.0" encoding="utf-8"?>
<p:tagLst xmlns:a="http://schemas.openxmlformats.org/drawingml/2006/main" xmlns:r="http://schemas.openxmlformats.org/officeDocument/2006/relationships" xmlns:p="http://schemas.openxmlformats.org/presentationml/2006/main">
  <p:tag name="EE4P_TEMPLATESTYLE" val="3"/>
</p:tagLst>
</file>

<file path=ppt/tags/tag17.xml><?xml version="1.0" encoding="utf-8"?>
<p:tagLst xmlns:a="http://schemas.openxmlformats.org/drawingml/2006/main" xmlns:r="http://schemas.openxmlformats.org/officeDocument/2006/relationships" xmlns:p="http://schemas.openxmlformats.org/presentationml/2006/main">
  <p:tag name="EE4P_TEMPLATESTYLE" val="3"/>
</p:tagLst>
</file>

<file path=ppt/tags/tag18.xml><?xml version="1.0" encoding="utf-8"?>
<p:tagLst xmlns:a="http://schemas.openxmlformats.org/drawingml/2006/main" xmlns:r="http://schemas.openxmlformats.org/officeDocument/2006/relationships" xmlns:p="http://schemas.openxmlformats.org/presentationml/2006/main">
  <p:tag name="EE4P_TEMPLATESTYLE" val="3"/>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_.9kJ9n.Rm.MUQmO39ETI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k1nXcaziSWqH0V8UAUzTL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heme/theme1.xml><?xml version="1.0" encoding="utf-8"?>
<a:theme xmlns:a="http://schemas.openxmlformats.org/drawingml/2006/main" name="Custom Design">
  <a:themeElements>
    <a:clrScheme name="west">
      <a:dk1>
        <a:srgbClr val="515151"/>
      </a:dk1>
      <a:lt1>
        <a:sysClr val="window" lastClr="FFFFFF"/>
      </a:lt1>
      <a:dk2>
        <a:srgbClr val="8EC6DF"/>
      </a:dk2>
      <a:lt2>
        <a:srgbClr val="CDD9D9"/>
      </a:lt2>
      <a:accent1>
        <a:srgbClr val="005A82"/>
      </a:accent1>
      <a:accent2>
        <a:srgbClr val="008AC6"/>
      </a:accent2>
      <a:accent3>
        <a:srgbClr val="146161"/>
      </a:accent3>
      <a:accent4>
        <a:srgbClr val="239191"/>
      </a:accent4>
      <a:accent5>
        <a:srgbClr val="515151"/>
      </a:accent5>
      <a:accent6>
        <a:srgbClr val="919191"/>
      </a:accent6>
      <a:hlink>
        <a:srgbClr val="000000"/>
      </a:hlink>
      <a:folHlink>
        <a:srgbClr val="000000"/>
      </a:folHlink>
    </a:clrScheme>
    <a:fontScheme name="west">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ea typeface="Roboto Medium" panose="02000000000000000000" pitchFamily="2" charset="0"/>
          </a:defRPr>
        </a:defPPr>
      </a:lstStyle>
    </a:txDef>
  </a:objectDefaults>
  <a:extraClrSchemeLst/>
  <a:extLst>
    <a:ext uri="{05A4C25C-085E-4340-85A3-A5531E510DB2}">
      <thm15:themeFamily xmlns:thm15="http://schemas.microsoft.com/office/thememl/2012/main" name="WB INS TEMPLATE" id="{19730783-9B6F-3745-95BD-00CFDF95FC15}" vid="{768C050D-38FE-5245-8724-C79D5AFEB588}"/>
    </a:ext>
  </a:extLst>
</a:theme>
</file>

<file path=ppt/theme/theme2.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Duarte_2013">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584B74D8D3284A8859CF69685A39F9" ma:contentTypeVersion="13" ma:contentTypeDescription="Create a new document." ma:contentTypeScope="" ma:versionID="7e058a4dee60644b5ff110de1125faab">
  <xsd:schema xmlns:xsd="http://www.w3.org/2001/XMLSchema" xmlns:xs="http://www.w3.org/2001/XMLSchema" xmlns:p="http://schemas.microsoft.com/office/2006/metadata/properties" xmlns:ns3="899c3dcb-f1a2-4d1c-9555-9f09905f7f06" xmlns:ns4="ab2d9e19-639f-4242-a2de-d48289263f32" targetNamespace="http://schemas.microsoft.com/office/2006/metadata/properties" ma:root="true" ma:fieldsID="6682b7df411ef49e0f878686dd7d04bd" ns3:_="" ns4:_="">
    <xsd:import namespace="899c3dcb-f1a2-4d1c-9555-9f09905f7f06"/>
    <xsd:import namespace="ab2d9e19-639f-4242-a2de-d48289263f32"/>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9c3dcb-f1a2-4d1c-9555-9f09905f7f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2d9e19-639f-4242-a2de-d48289263f3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BBSettings xmlns="http://schemas.bloomberg.com/settings/1.0">
  <Item name="DocumentId_Charts">{211C3E39-9458-4560-BDCD-4F1A9E9DF90F}</Item>
  <Item xmlns="" name="ShapesMap_Charts">{"{211C3E39-9458-4560-BDCD-4F1A9E9DF90F}":{"392":{},"6551":{},"8020":{},"8031":{},"8032":{},"8077":{},"8132":{},"8150":{},"8156":{},"8158":{},"8161":{},"8164":{},"8165":{},"8166":{},"8167":{},"8169":{},"8170":{},"8171":{},"8172":{},"8174":{},"8175":{},"8176":{},"8177":{}}}</Item>
</BBSettings>
</file>

<file path=customXml/item4.xml><?xml version="1.0" encoding="utf-8"?>
<p:properties xmlns:p="http://schemas.microsoft.com/office/2006/metadata/properties" xmlns:xsi="http://www.w3.org/2001/XMLSchema-instance" xmlns:pc="http://schemas.microsoft.com/office/infopath/2007/PartnerControls">
  <documentManagement>
    <_activity xmlns="899c3dcb-f1a2-4d1c-9555-9f09905f7f06" xsi:nil="true"/>
  </documentManagement>
</p:properties>
</file>

<file path=customXml/itemProps1.xml><?xml version="1.0" encoding="utf-8"?>
<ds:datastoreItem xmlns:ds="http://schemas.openxmlformats.org/officeDocument/2006/customXml" ds:itemID="{B1FF898D-0FB6-4376-B75C-D27E772488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9c3dcb-f1a2-4d1c-9555-9f09905f7f06"/>
    <ds:schemaRef ds:uri="ab2d9e19-639f-4242-a2de-d48289263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18E6967-5B5D-4C13-85F0-5D12E20932C3}">
  <ds:schemaRefs>
    <ds:schemaRef ds:uri="http://schemas.microsoft.com/sharepoint/v3/contenttype/forms"/>
  </ds:schemaRefs>
</ds:datastoreItem>
</file>

<file path=customXml/itemProps3.xml><?xml version="1.0" encoding="utf-8"?>
<ds:datastoreItem xmlns:ds="http://schemas.openxmlformats.org/officeDocument/2006/customXml" ds:itemID="{0F9F96BE-18A8-49A2-94BB-7FE139601F9F}">
  <ds:schemaRefs>
    <ds:schemaRef ds:uri="http://schemas.bloomberg.com/settings/1.0"/>
    <ds:schemaRef ds:uri=""/>
  </ds:schemaRefs>
</ds:datastoreItem>
</file>

<file path=customXml/itemProps4.xml><?xml version="1.0" encoding="utf-8"?>
<ds:datastoreItem xmlns:ds="http://schemas.openxmlformats.org/officeDocument/2006/customXml" ds:itemID="{3B43DD18-ECAF-4DA7-B533-5067A604271A}">
  <ds:schemaRef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purl.org/dc/terms/"/>
    <ds:schemaRef ds:uri="ab2d9e19-639f-4242-a2de-d48289263f32"/>
    <ds:schemaRef ds:uri="899c3dcb-f1a2-4d1c-9555-9f09905f7f0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Custom Design</Template>
  <TotalTime>1273</TotalTime>
  <Words>1586</Words>
  <Application>Microsoft Macintosh PowerPoint</Application>
  <PresentationFormat>On-screen Show (4:3)</PresentationFormat>
  <Paragraphs>147</Paragraphs>
  <Slides>12</Slides>
  <Notes>10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4" baseType="lpstr">
      <vt:lpstr>Arial</vt:lpstr>
      <vt:lpstr>Calibri</vt:lpstr>
      <vt:lpstr>Franklin Gothic Book</vt:lpstr>
      <vt:lpstr>Helvetica</vt:lpstr>
      <vt:lpstr>Roboto </vt:lpstr>
      <vt:lpstr>Roboto Black</vt:lpstr>
      <vt:lpstr>Roboto Condensed</vt:lpstr>
      <vt:lpstr>Roboto Condensed Light</vt:lpstr>
      <vt:lpstr>Roboto Medium</vt:lpstr>
      <vt:lpstr>Wingdings</vt:lpstr>
      <vt:lpstr>Custom Design</vt:lpstr>
      <vt:lpstr>think-cell Slide</vt:lpstr>
      <vt:lpstr>Rhizome Data and Westbridge Capital</vt:lpstr>
      <vt:lpstr>About Time Someone Built Intelligence into Grid Resilience</vt:lpstr>
      <vt:lpstr>Rhizome's Intelligence Layer</vt:lpstr>
      <vt:lpstr>Some Key Observations about Market Structure </vt:lpstr>
      <vt:lpstr>Sub-Verticals Market Maps</vt:lpstr>
      <vt:lpstr>WestBridge Partnership</vt:lpstr>
      <vt:lpstr>WestBridge Capital At-a-Glance</vt:lpstr>
      <vt:lpstr>Best-in-class Cross-Border Team</vt:lpstr>
      <vt:lpstr>  Investments across Sectors and Stages</vt:lpstr>
      <vt:lpstr>Portfolio Acceleration Services</vt:lpstr>
      <vt:lpstr>Investment Case Study: Turing</vt:lpstr>
      <vt:lpstr>Disclaimer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Seth, Purab</dc:creator>
  <cp:keywords/>
  <dc:description/>
  <cp:lastModifiedBy>Seth, Purab</cp:lastModifiedBy>
  <cp:revision>22</cp:revision>
  <cp:lastPrinted>2020-03-06T17:51:46Z</cp:lastPrinted>
  <dcterms:created xsi:type="dcterms:W3CDTF">2025-06-25T18:39:46Z</dcterms:created>
  <dcterms:modified xsi:type="dcterms:W3CDTF">2025-07-30T23:06:09Z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0x010100AA584B74D8D3284A8859CF69685A39F9</vt:lpwstr>
  </property>
</Properties>
</file>